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2" r:id="rId15"/>
    <p:sldId id="269" r:id="rId16"/>
    <p:sldId id="270" r:id="rId17"/>
    <p:sldId id="271" r:id="rId18"/>
  </p:sldIdLst>
  <p:sldSz cx="14630400" cy="8229600"/>
  <p:notesSz cx="8229600" cy="14630400"/>
  <p:embeddedFontLst>
    <p:embeddedFont>
      <p:font typeface="Consolas" panose="020B0609020204030204" pitchFamily="49" charset="0"/>
      <p:regular r:id="rId20"/>
      <p:bold r:id="rId21"/>
      <p:italic r:id="rId22"/>
      <p:boldItalic r:id="rId23"/>
    </p:embeddedFont>
    <p:embeddedFont>
      <p:font typeface="Roboto" panose="02000000000000000000" pitchFamily="2" charset="0"/>
      <p:regular r:id="rId24"/>
      <p:bold r:id="rId25"/>
      <p:italic r:id="rId26"/>
    </p:embeddedFont>
    <p:embeddedFont>
      <p:font typeface="Roboto Slab" pitchFamily="2" charset="0"/>
      <p:regular r:id="rId27"/>
      <p:bold r:id="rId28"/>
    </p:embeddedFont>
    <p:embeddedFont>
      <p:font typeface="Roboto Slab Light" pitchFamily="2"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6" d="100"/>
          <a:sy n="66" d="100"/>
        </p:scale>
        <p:origin x="1770" y="12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59114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A1C471B-87A9-5165-C7EF-4438851588BA}"/>
              </a:ext>
            </a:extLst>
          </p:cNvPr>
          <p:cNvSpPr>
            <a:spLocks noGrp="1"/>
          </p:cNvSpPr>
          <p:nvPr>
            <p:ph type="sldNum" sz="quarter" idx="4"/>
          </p:nvPr>
        </p:nvSpPr>
        <p:spPr>
          <a:xfrm>
            <a:off x="0" y="7791450"/>
            <a:ext cx="3290887" cy="438150"/>
          </a:xfrm>
          <a:prstGeom prst="rect">
            <a:avLst/>
          </a:prstGeom>
        </p:spPr>
        <p:txBody>
          <a:bodyPr vert="horz" lIns="91440" tIns="45720" rIns="91440" bIns="45720" rtlCol="0" anchor="ctr"/>
          <a:lstStyle>
            <a:lvl1pPr algn="r">
              <a:defRPr sz="1200">
                <a:solidFill>
                  <a:schemeClr val="tx1">
                    <a:tint val="75000"/>
                  </a:schemeClr>
                </a:solidFill>
              </a:defRPr>
            </a:lvl1pPr>
          </a:lstStyle>
          <a:p>
            <a:fld id="{0C26C892-6322-4582-89B1-2A742A176633}" type="slidenum">
              <a:rPr lang="en-IN" smtClean="0"/>
              <a:t>‹#›</a:t>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5.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5.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8.sv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5.png"/><Relationship Id="rId1" Type="http://schemas.openxmlformats.org/officeDocument/2006/relationships/slideLayout" Target="../slideLayouts/slideLayout13.xml"/><Relationship Id="rId5" Type="http://schemas.openxmlformats.org/officeDocument/2006/relationships/image" Target="../media/image18.jpeg"/><Relationship Id="rId4" Type="http://schemas.openxmlformats.org/officeDocument/2006/relationships/image" Target="../media/image17.jpe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546146"/>
            <a:ext cx="7556421" cy="2835116"/>
          </a:xfrm>
          <a:prstGeom prst="rect">
            <a:avLst/>
          </a:prstGeom>
          <a:noFill/>
          <a:ln/>
        </p:spPr>
        <p:txBody>
          <a:bodyPr wrap="squar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EduHinglish: An AI-Powered Learning Companion for Hinglish-Speaking Students</a:t>
            </a:r>
            <a:endParaRPr lang="en-US" sz="4450" dirty="0"/>
          </a:p>
        </p:txBody>
      </p:sp>
      <p:sp>
        <p:nvSpPr>
          <p:cNvPr id="4" name="Text 1"/>
          <p:cNvSpPr/>
          <p:nvPr/>
        </p:nvSpPr>
        <p:spPr>
          <a:xfrm>
            <a:off x="793790" y="4721423"/>
            <a:ext cx="7556421" cy="362903"/>
          </a:xfrm>
          <a:prstGeom prst="rect">
            <a:avLst/>
          </a:prstGeom>
          <a:noFill/>
          <a:ln/>
        </p:spPr>
        <p:txBody>
          <a:bodyPr wrap="none" lIns="0" tIns="0" rIns="0" bIns="0" rtlCol="0" anchor="t"/>
          <a:lstStyle/>
          <a:p>
            <a:pPr marL="0" indent="0" algn="l">
              <a:lnSpc>
                <a:spcPts val="2850"/>
              </a:lnSpc>
              <a:buNone/>
            </a:pPr>
            <a:r>
              <a:rPr lang="en-US" sz="1750" b="1" dirty="0">
                <a:solidFill>
                  <a:srgbClr val="15213F"/>
                </a:solidFill>
                <a:latin typeface="Roboto" pitchFamily="34" charset="0"/>
                <a:ea typeface="Roboto" pitchFamily="34" charset="-122"/>
                <a:cs typeface="Roboto" pitchFamily="34" charset="-120"/>
              </a:rPr>
              <a:t>NCERT-Aligned | Code-Mix Aware | Script Agnostic</a:t>
            </a:r>
            <a:endParaRPr lang="en-US" sz="1750" dirty="0"/>
          </a:p>
        </p:txBody>
      </p:sp>
      <p:sp>
        <p:nvSpPr>
          <p:cNvPr id="5" name="Text 2"/>
          <p:cNvSpPr/>
          <p:nvPr/>
        </p:nvSpPr>
        <p:spPr>
          <a:xfrm>
            <a:off x="793790" y="5339477"/>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Team: Ashvatth &amp; Jatin | Final Year Engineering Project | KJSCE </a:t>
            </a:r>
            <a:endParaRPr lang="en-US" sz="1750" dirty="0"/>
          </a:p>
        </p:txBody>
      </p:sp>
      <p:sp>
        <p:nvSpPr>
          <p:cNvPr id="6" name="Text 3"/>
          <p:cNvSpPr/>
          <p:nvPr/>
        </p:nvSpPr>
        <p:spPr>
          <a:xfrm>
            <a:off x="793790" y="5957530"/>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Mentor: Dr. Grishma Sharma </a:t>
            </a:r>
            <a:endParaRPr lang="en-US" sz="1750" dirty="0"/>
          </a:p>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Co-Mentor: Mr. Kaustubh Kulkarni</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817126"/>
            <a:ext cx="3685937" cy="460772"/>
          </a:xfrm>
          <a:prstGeom prst="rect">
            <a:avLst/>
          </a:prstGeom>
          <a:noFill/>
          <a:ln/>
        </p:spPr>
        <p:txBody>
          <a:bodyPr wrap="none" lIns="0" tIns="0" rIns="0" bIns="0" rtlCol="0" anchor="t"/>
          <a:lstStyle/>
          <a:p>
            <a:pPr marL="0" indent="0" algn="l">
              <a:lnSpc>
                <a:spcPts val="3600"/>
              </a:lnSpc>
              <a:buNone/>
            </a:pPr>
            <a:r>
              <a:rPr lang="en-US" sz="2900" dirty="0">
                <a:solidFill>
                  <a:srgbClr val="3257B8"/>
                </a:solidFill>
                <a:latin typeface="Roboto Slab" pitchFamily="34" charset="0"/>
                <a:ea typeface="Roboto Slab" pitchFamily="34" charset="-122"/>
                <a:cs typeface="Roboto Slab" pitchFamily="34" charset="-120"/>
              </a:rPr>
              <a:t>Problem &amp; Solution</a:t>
            </a:r>
            <a:endParaRPr lang="en-US" sz="2900" dirty="0"/>
          </a:p>
        </p:txBody>
      </p:sp>
      <p:sp>
        <p:nvSpPr>
          <p:cNvPr id="3" name="Shape 1"/>
          <p:cNvSpPr/>
          <p:nvPr/>
        </p:nvSpPr>
        <p:spPr>
          <a:xfrm>
            <a:off x="793790" y="1440537"/>
            <a:ext cx="1673185" cy="215504"/>
          </a:xfrm>
          <a:prstGeom prst="roundRect">
            <a:avLst>
              <a:gd name="adj" fmla="val 7249"/>
            </a:avLst>
          </a:prstGeom>
          <a:solidFill>
            <a:srgbClr val="D7DFF4"/>
          </a:solidFill>
          <a:ln/>
        </p:spPr>
      </p:sp>
      <p:sp>
        <p:nvSpPr>
          <p:cNvPr id="4" name="Text 2"/>
          <p:cNvSpPr/>
          <p:nvPr/>
        </p:nvSpPr>
        <p:spPr>
          <a:xfrm>
            <a:off x="882134" y="1513642"/>
            <a:ext cx="785574" cy="155734"/>
          </a:xfrm>
          <a:prstGeom prst="rect">
            <a:avLst/>
          </a:prstGeom>
          <a:noFill/>
          <a:ln/>
        </p:spPr>
        <p:txBody>
          <a:bodyPr wrap="none" lIns="0" tIns="0" rIns="0" bIns="0" rtlCol="0" anchor="t"/>
          <a:lstStyle/>
          <a:p>
            <a:pPr marL="0" indent="0" algn="l">
              <a:lnSpc>
                <a:spcPts val="1200"/>
              </a:lnSpc>
              <a:buNone/>
            </a:pPr>
            <a:r>
              <a:rPr lang="en-US" dirty="0">
                <a:solidFill>
                  <a:srgbClr val="15213F"/>
                </a:solidFill>
                <a:latin typeface="Roboto" pitchFamily="34" charset="0"/>
                <a:ea typeface="Roboto" pitchFamily="34" charset="-122"/>
                <a:cs typeface="Roboto" pitchFamily="34" charset="-120"/>
              </a:rPr>
              <a:t>THE PROBLEM</a:t>
            </a:r>
            <a:endParaRPr lang="en-US" dirty="0"/>
          </a:p>
        </p:txBody>
      </p:sp>
      <p:sp>
        <p:nvSpPr>
          <p:cNvPr id="5" name="Text 3"/>
          <p:cNvSpPr/>
          <p:nvPr/>
        </p:nvSpPr>
        <p:spPr>
          <a:xfrm>
            <a:off x="793790" y="1751767"/>
            <a:ext cx="4801672" cy="368618"/>
          </a:xfrm>
          <a:prstGeom prst="rect">
            <a:avLst/>
          </a:prstGeom>
          <a:noFill/>
          <a:ln/>
        </p:spPr>
        <p:txBody>
          <a:bodyPr wrap="none" lIns="0" tIns="0" rIns="0" bIns="0" rtlCol="0" anchor="t"/>
          <a:lstStyle/>
          <a:p>
            <a:pPr marL="0" indent="0" algn="l">
              <a:lnSpc>
                <a:spcPts val="2900"/>
              </a:lnSpc>
              <a:buNone/>
            </a:pPr>
            <a:r>
              <a:rPr lang="en-US" sz="2300" dirty="0">
                <a:solidFill>
                  <a:srgbClr val="3257B8"/>
                </a:solidFill>
                <a:latin typeface="Roboto Slab" pitchFamily="34" charset="0"/>
                <a:ea typeface="Roboto Slab" pitchFamily="34" charset="-122"/>
                <a:cs typeface="Roboto Slab" pitchFamily="34" charset="-120"/>
              </a:rPr>
              <a:t>Language Gap in Indian Education</a:t>
            </a:r>
            <a:endParaRPr lang="en-US" sz="2300" dirty="0"/>
          </a:p>
        </p:txBody>
      </p:sp>
      <p:sp>
        <p:nvSpPr>
          <p:cNvPr id="6" name="Shape 4"/>
          <p:cNvSpPr/>
          <p:nvPr/>
        </p:nvSpPr>
        <p:spPr>
          <a:xfrm>
            <a:off x="793790" y="2264093"/>
            <a:ext cx="6473547" cy="807601"/>
          </a:xfrm>
          <a:prstGeom prst="roundRect">
            <a:avLst>
              <a:gd name="adj" fmla="val 9058"/>
            </a:avLst>
          </a:prstGeom>
          <a:solidFill>
            <a:srgbClr val="FBFCFE"/>
          </a:solidFill>
          <a:ln w="15240">
            <a:solidFill>
              <a:srgbClr val="CFD2D8"/>
            </a:solidFill>
            <a:prstDash val="solid"/>
          </a:ln>
        </p:spPr>
      </p:sp>
      <p:pic>
        <p:nvPicPr>
          <p:cNvPr id="7" name="Image 0" descr="preencoded.png"/>
          <p:cNvPicPr>
            <a:picLocks noChangeAspect="1"/>
          </p:cNvPicPr>
          <p:nvPr/>
        </p:nvPicPr>
        <p:blipFill>
          <a:blip r:embed="rId3"/>
          <a:stretch>
            <a:fillRect/>
          </a:stretch>
        </p:blipFill>
        <p:spPr>
          <a:xfrm>
            <a:off x="778550" y="2264093"/>
            <a:ext cx="60960" cy="807601"/>
          </a:xfrm>
          <a:prstGeom prst="rect">
            <a:avLst/>
          </a:prstGeom>
        </p:spPr>
      </p:pic>
      <p:sp>
        <p:nvSpPr>
          <p:cNvPr id="8" name="Text 5"/>
          <p:cNvSpPr/>
          <p:nvPr/>
        </p:nvSpPr>
        <p:spPr>
          <a:xfrm>
            <a:off x="1002149" y="2426732"/>
            <a:ext cx="4404836" cy="230386"/>
          </a:xfrm>
          <a:prstGeom prst="rect">
            <a:avLst/>
          </a:prstGeom>
          <a:noFill/>
          <a:ln/>
        </p:spPr>
        <p:txBody>
          <a:bodyPr wrap="none" lIns="0" tIns="0" rIns="0" bIns="0" rtlCol="0" anchor="t"/>
          <a:lstStyle/>
          <a:p>
            <a:pPr marL="0" indent="0" algn="l">
              <a:lnSpc>
                <a:spcPts val="1800"/>
              </a:lnSpc>
              <a:buNone/>
            </a:pPr>
            <a:r>
              <a:rPr lang="en-US" sz="1450" dirty="0">
                <a:solidFill>
                  <a:srgbClr val="15213F"/>
                </a:solidFill>
                <a:latin typeface="Roboto Slab" pitchFamily="34" charset="0"/>
                <a:ea typeface="Roboto Slab" pitchFamily="34" charset="-122"/>
                <a:cs typeface="Roboto Slab" pitchFamily="34" charset="-120"/>
              </a:rPr>
              <a:t>350–400 million Indians communicate in Hinglish</a:t>
            </a:r>
            <a:endParaRPr lang="en-US" sz="1450" dirty="0"/>
          </a:p>
        </p:txBody>
      </p:sp>
      <p:sp>
        <p:nvSpPr>
          <p:cNvPr id="9" name="Shape 6"/>
          <p:cNvSpPr/>
          <p:nvPr/>
        </p:nvSpPr>
        <p:spPr>
          <a:xfrm>
            <a:off x="7363063" y="2264093"/>
            <a:ext cx="6473547" cy="807601"/>
          </a:xfrm>
          <a:prstGeom prst="roundRect">
            <a:avLst>
              <a:gd name="adj" fmla="val 9058"/>
            </a:avLst>
          </a:prstGeom>
          <a:solidFill>
            <a:srgbClr val="FBFCFE"/>
          </a:solidFill>
          <a:ln w="15240">
            <a:solidFill>
              <a:srgbClr val="CFD2D8"/>
            </a:solidFill>
            <a:prstDash val="solid"/>
          </a:ln>
        </p:spPr>
      </p:sp>
      <p:pic>
        <p:nvPicPr>
          <p:cNvPr id="10" name="Image 1" descr="preencoded.png"/>
          <p:cNvPicPr>
            <a:picLocks noChangeAspect="1"/>
          </p:cNvPicPr>
          <p:nvPr/>
        </p:nvPicPr>
        <p:blipFill>
          <a:blip r:embed="rId3"/>
          <a:stretch>
            <a:fillRect/>
          </a:stretch>
        </p:blipFill>
        <p:spPr>
          <a:xfrm>
            <a:off x="7347823" y="2264093"/>
            <a:ext cx="60960" cy="807601"/>
          </a:xfrm>
          <a:prstGeom prst="rect">
            <a:avLst/>
          </a:prstGeom>
        </p:spPr>
      </p:pic>
      <p:sp>
        <p:nvSpPr>
          <p:cNvPr id="11" name="Text 7"/>
          <p:cNvSpPr/>
          <p:nvPr/>
        </p:nvSpPr>
        <p:spPr>
          <a:xfrm>
            <a:off x="7571423" y="2426732"/>
            <a:ext cx="2843808" cy="230386"/>
          </a:xfrm>
          <a:prstGeom prst="rect">
            <a:avLst/>
          </a:prstGeom>
          <a:noFill/>
          <a:ln/>
        </p:spPr>
        <p:txBody>
          <a:bodyPr wrap="none" lIns="0" tIns="0" rIns="0" bIns="0" rtlCol="0" anchor="t"/>
          <a:lstStyle/>
          <a:p>
            <a:pPr marL="0" indent="0" algn="l">
              <a:lnSpc>
                <a:spcPts val="1800"/>
              </a:lnSpc>
              <a:buNone/>
            </a:pPr>
            <a:r>
              <a:rPr lang="en-US" sz="1450" dirty="0">
                <a:solidFill>
                  <a:srgbClr val="15213F"/>
                </a:solidFill>
                <a:latin typeface="Roboto Slab" pitchFamily="34" charset="0"/>
                <a:ea typeface="Roboto Slab" pitchFamily="34" charset="-122"/>
                <a:cs typeface="Roboto Slab" pitchFamily="34" charset="-120"/>
              </a:rPr>
              <a:t>Students ASK doubts in Hinglish</a:t>
            </a:r>
            <a:endParaRPr lang="en-US" sz="1450" dirty="0"/>
          </a:p>
        </p:txBody>
      </p:sp>
      <p:sp>
        <p:nvSpPr>
          <p:cNvPr id="12" name="Text 8"/>
          <p:cNvSpPr/>
          <p:nvPr/>
        </p:nvSpPr>
        <p:spPr>
          <a:xfrm>
            <a:off x="7571423" y="2714506"/>
            <a:ext cx="6102548" cy="194548"/>
          </a:xfrm>
          <a:prstGeom prst="rect">
            <a:avLst/>
          </a:prstGeom>
          <a:noFill/>
          <a:ln/>
        </p:spPr>
        <p:txBody>
          <a:bodyPr wrap="none" lIns="0" tIns="0" rIns="0" bIns="0" rtlCol="0" anchor="t"/>
          <a:lstStyle/>
          <a:p>
            <a:pPr marL="0" indent="0" algn="l">
              <a:lnSpc>
                <a:spcPts val="1500"/>
              </a:lnSpc>
              <a:buNone/>
            </a:pPr>
            <a:r>
              <a:rPr lang="en-US" sz="1150" dirty="0">
                <a:solidFill>
                  <a:srgbClr val="15213F"/>
                </a:solidFill>
                <a:latin typeface="Roboto" pitchFamily="34" charset="0"/>
                <a:ea typeface="Roboto" pitchFamily="34" charset="-122"/>
                <a:cs typeface="Roboto" pitchFamily="34" charset="-120"/>
              </a:rPr>
              <a:t>"Sir, cell membrane ka function kya hota hai?"</a:t>
            </a:r>
            <a:endParaRPr lang="en-US" sz="1150" dirty="0"/>
          </a:p>
        </p:txBody>
      </p:sp>
      <p:sp>
        <p:nvSpPr>
          <p:cNvPr id="13" name="Shape 9"/>
          <p:cNvSpPr/>
          <p:nvPr/>
        </p:nvSpPr>
        <p:spPr>
          <a:xfrm>
            <a:off x="793790" y="3167420"/>
            <a:ext cx="6473547" cy="807601"/>
          </a:xfrm>
          <a:prstGeom prst="roundRect">
            <a:avLst>
              <a:gd name="adj" fmla="val 9058"/>
            </a:avLst>
          </a:prstGeom>
          <a:solidFill>
            <a:srgbClr val="FBFCFE"/>
          </a:solidFill>
          <a:ln w="15240">
            <a:solidFill>
              <a:srgbClr val="CFD2D8"/>
            </a:solidFill>
            <a:prstDash val="solid"/>
          </a:ln>
        </p:spPr>
      </p:sp>
      <p:pic>
        <p:nvPicPr>
          <p:cNvPr id="14" name="Image 2" descr="preencoded.png"/>
          <p:cNvPicPr>
            <a:picLocks noChangeAspect="1"/>
          </p:cNvPicPr>
          <p:nvPr/>
        </p:nvPicPr>
        <p:blipFill>
          <a:blip r:embed="rId3"/>
          <a:stretch>
            <a:fillRect/>
          </a:stretch>
        </p:blipFill>
        <p:spPr>
          <a:xfrm>
            <a:off x="778550" y="3167420"/>
            <a:ext cx="60960" cy="807601"/>
          </a:xfrm>
          <a:prstGeom prst="rect">
            <a:avLst/>
          </a:prstGeom>
        </p:spPr>
      </p:pic>
      <p:sp>
        <p:nvSpPr>
          <p:cNvPr id="15" name="Text 10"/>
          <p:cNvSpPr/>
          <p:nvPr/>
        </p:nvSpPr>
        <p:spPr>
          <a:xfrm>
            <a:off x="1002149" y="3330059"/>
            <a:ext cx="3338513" cy="230386"/>
          </a:xfrm>
          <a:prstGeom prst="rect">
            <a:avLst/>
          </a:prstGeom>
          <a:noFill/>
          <a:ln/>
        </p:spPr>
        <p:txBody>
          <a:bodyPr wrap="none" lIns="0" tIns="0" rIns="0" bIns="0" rtlCol="0" anchor="t"/>
          <a:lstStyle/>
          <a:p>
            <a:pPr marL="0" indent="0" algn="l">
              <a:lnSpc>
                <a:spcPts val="1800"/>
              </a:lnSpc>
              <a:buNone/>
            </a:pPr>
            <a:r>
              <a:rPr lang="en-US" sz="1450" dirty="0">
                <a:solidFill>
                  <a:srgbClr val="15213F"/>
                </a:solidFill>
                <a:latin typeface="Roboto Slab" pitchFamily="34" charset="0"/>
                <a:ea typeface="Roboto Slab" pitchFamily="34" charset="-122"/>
                <a:cs typeface="Roboto Slab" pitchFamily="34" charset="-120"/>
              </a:rPr>
              <a:t>Textbooks ANSWER in formal English</a:t>
            </a:r>
            <a:endParaRPr lang="en-US" sz="1450" dirty="0"/>
          </a:p>
        </p:txBody>
      </p:sp>
      <p:sp>
        <p:nvSpPr>
          <p:cNvPr id="16" name="Text 11"/>
          <p:cNvSpPr/>
          <p:nvPr/>
        </p:nvSpPr>
        <p:spPr>
          <a:xfrm>
            <a:off x="1002149" y="3617833"/>
            <a:ext cx="6102548" cy="194548"/>
          </a:xfrm>
          <a:prstGeom prst="rect">
            <a:avLst/>
          </a:prstGeom>
          <a:noFill/>
          <a:ln/>
        </p:spPr>
        <p:txBody>
          <a:bodyPr wrap="none" lIns="0" tIns="0" rIns="0" bIns="0" rtlCol="0" anchor="t"/>
          <a:lstStyle/>
          <a:p>
            <a:pPr marL="0" indent="0" algn="l">
              <a:lnSpc>
                <a:spcPts val="1500"/>
              </a:lnSpc>
              <a:buNone/>
            </a:pPr>
            <a:r>
              <a:rPr lang="en-US" sz="1150" dirty="0">
                <a:solidFill>
                  <a:srgbClr val="15213F"/>
                </a:solidFill>
                <a:latin typeface="Roboto" pitchFamily="34" charset="0"/>
                <a:ea typeface="Roboto" pitchFamily="34" charset="-122"/>
                <a:cs typeface="Roboto" pitchFamily="34" charset="-120"/>
              </a:rPr>
              <a:t>"The cell membrane is a selectively permeable membrane that controls..."</a:t>
            </a:r>
            <a:endParaRPr lang="en-US" sz="1150" dirty="0"/>
          </a:p>
        </p:txBody>
      </p:sp>
      <p:sp>
        <p:nvSpPr>
          <p:cNvPr id="17" name="Shape 12"/>
          <p:cNvSpPr/>
          <p:nvPr/>
        </p:nvSpPr>
        <p:spPr>
          <a:xfrm>
            <a:off x="7363063" y="3167420"/>
            <a:ext cx="6473547" cy="807601"/>
          </a:xfrm>
          <a:prstGeom prst="roundRect">
            <a:avLst>
              <a:gd name="adj" fmla="val 9058"/>
            </a:avLst>
          </a:prstGeom>
          <a:solidFill>
            <a:srgbClr val="FBFCFE"/>
          </a:solidFill>
          <a:ln w="15240">
            <a:solidFill>
              <a:srgbClr val="CFD2D8"/>
            </a:solidFill>
            <a:prstDash val="solid"/>
          </a:ln>
        </p:spPr>
      </p:sp>
      <p:pic>
        <p:nvPicPr>
          <p:cNvPr id="18" name="Image 3" descr="preencoded.png"/>
          <p:cNvPicPr>
            <a:picLocks noChangeAspect="1"/>
          </p:cNvPicPr>
          <p:nvPr/>
        </p:nvPicPr>
        <p:blipFill>
          <a:blip r:embed="rId3"/>
          <a:stretch>
            <a:fillRect/>
          </a:stretch>
        </p:blipFill>
        <p:spPr>
          <a:xfrm>
            <a:off x="7347823" y="3167420"/>
            <a:ext cx="60960" cy="807601"/>
          </a:xfrm>
          <a:prstGeom prst="rect">
            <a:avLst/>
          </a:prstGeom>
        </p:spPr>
      </p:pic>
      <p:sp>
        <p:nvSpPr>
          <p:cNvPr id="19" name="Text 13"/>
          <p:cNvSpPr/>
          <p:nvPr/>
        </p:nvSpPr>
        <p:spPr>
          <a:xfrm>
            <a:off x="7571423" y="3330059"/>
            <a:ext cx="2809161" cy="230386"/>
          </a:xfrm>
          <a:prstGeom prst="rect">
            <a:avLst/>
          </a:prstGeom>
          <a:noFill/>
          <a:ln/>
        </p:spPr>
        <p:txBody>
          <a:bodyPr wrap="none" lIns="0" tIns="0" rIns="0" bIns="0" rtlCol="0" anchor="t"/>
          <a:lstStyle/>
          <a:p>
            <a:pPr marL="0" indent="0" algn="l">
              <a:lnSpc>
                <a:spcPts val="1800"/>
              </a:lnSpc>
              <a:buNone/>
            </a:pPr>
            <a:r>
              <a:rPr lang="en-US" sz="1450" dirty="0">
                <a:solidFill>
                  <a:srgbClr val="15213F"/>
                </a:solidFill>
                <a:latin typeface="Roboto Slab" pitchFamily="34" charset="0"/>
                <a:ea typeface="Roboto Slab" pitchFamily="34" charset="-122"/>
                <a:cs typeface="Roboto Slab" pitchFamily="34" charset="-120"/>
              </a:rPr>
              <a:t>NO existing tool bridges this gap</a:t>
            </a:r>
            <a:endParaRPr lang="en-US" sz="1450" dirty="0"/>
          </a:p>
        </p:txBody>
      </p:sp>
      <p:sp>
        <p:nvSpPr>
          <p:cNvPr id="20" name="Shape 14"/>
          <p:cNvSpPr/>
          <p:nvPr/>
        </p:nvSpPr>
        <p:spPr>
          <a:xfrm>
            <a:off x="793790" y="4082772"/>
            <a:ext cx="13042821" cy="1638062"/>
          </a:xfrm>
          <a:prstGeom prst="roundRect">
            <a:avLst>
              <a:gd name="adj" fmla="val 1350"/>
            </a:avLst>
          </a:prstGeom>
          <a:noFill/>
          <a:ln w="7620">
            <a:solidFill>
              <a:srgbClr val="000000">
                <a:alpha val="8000"/>
              </a:srgbClr>
            </a:solidFill>
            <a:prstDash val="solid"/>
          </a:ln>
        </p:spPr>
      </p:sp>
      <p:sp>
        <p:nvSpPr>
          <p:cNvPr id="21" name="Shape 15"/>
          <p:cNvSpPr/>
          <p:nvPr/>
        </p:nvSpPr>
        <p:spPr>
          <a:xfrm>
            <a:off x="801410" y="4090392"/>
            <a:ext cx="13027581" cy="324564"/>
          </a:xfrm>
          <a:prstGeom prst="rect">
            <a:avLst/>
          </a:prstGeom>
          <a:solidFill>
            <a:srgbClr val="FFFFFF">
              <a:alpha val="4000"/>
            </a:srgbClr>
          </a:solidFill>
          <a:ln/>
        </p:spPr>
      </p:sp>
      <p:sp>
        <p:nvSpPr>
          <p:cNvPr id="22" name="Text 16"/>
          <p:cNvSpPr/>
          <p:nvPr/>
        </p:nvSpPr>
        <p:spPr>
          <a:xfrm>
            <a:off x="949166" y="4155400"/>
            <a:ext cx="2306836" cy="194548"/>
          </a:xfrm>
          <a:prstGeom prst="rect">
            <a:avLst/>
          </a:prstGeom>
          <a:noFill/>
          <a:ln/>
        </p:spPr>
        <p:txBody>
          <a:bodyPr wrap="none" lIns="0" tIns="0" rIns="0" bIns="0" rtlCol="0" anchor="t"/>
          <a:lstStyle/>
          <a:p>
            <a:pPr marL="0" indent="0" algn="l">
              <a:lnSpc>
                <a:spcPts val="1500"/>
              </a:lnSpc>
              <a:buNone/>
            </a:pPr>
            <a:r>
              <a:rPr lang="en-US" sz="1150" b="1" dirty="0">
                <a:solidFill>
                  <a:srgbClr val="15213F"/>
                </a:solidFill>
                <a:latin typeface="Roboto" pitchFamily="34" charset="0"/>
                <a:ea typeface="Roboto" pitchFamily="34" charset="-122"/>
                <a:cs typeface="Roboto" pitchFamily="34" charset="-120"/>
              </a:rPr>
              <a:t>Feature</a:t>
            </a:r>
            <a:endParaRPr lang="en-US" sz="1150" dirty="0"/>
          </a:p>
        </p:txBody>
      </p:sp>
      <p:sp>
        <p:nvSpPr>
          <p:cNvPr id="23" name="Text 17"/>
          <p:cNvSpPr/>
          <p:nvPr/>
        </p:nvSpPr>
        <p:spPr>
          <a:xfrm>
            <a:off x="3558421" y="4155400"/>
            <a:ext cx="2303026" cy="194548"/>
          </a:xfrm>
          <a:prstGeom prst="rect">
            <a:avLst/>
          </a:prstGeom>
          <a:noFill/>
          <a:ln/>
        </p:spPr>
        <p:txBody>
          <a:bodyPr wrap="none" lIns="0" tIns="0" rIns="0" bIns="0" rtlCol="0" anchor="t"/>
          <a:lstStyle/>
          <a:p>
            <a:pPr marL="0" indent="0" algn="l">
              <a:lnSpc>
                <a:spcPts val="1500"/>
              </a:lnSpc>
              <a:buNone/>
            </a:pPr>
            <a:r>
              <a:rPr lang="en-US" sz="1150" b="1" dirty="0">
                <a:solidFill>
                  <a:srgbClr val="15213F"/>
                </a:solidFill>
                <a:latin typeface="Roboto" pitchFamily="34" charset="0"/>
                <a:ea typeface="Roboto" pitchFamily="34" charset="-122"/>
                <a:cs typeface="Roboto" pitchFamily="34" charset="-120"/>
              </a:rPr>
              <a:t>BYJU'S</a:t>
            </a:r>
            <a:endParaRPr lang="en-US" sz="1150" dirty="0"/>
          </a:p>
        </p:txBody>
      </p:sp>
      <p:sp>
        <p:nvSpPr>
          <p:cNvPr id="24" name="Text 18"/>
          <p:cNvSpPr/>
          <p:nvPr/>
        </p:nvSpPr>
        <p:spPr>
          <a:xfrm>
            <a:off x="6163866" y="4155400"/>
            <a:ext cx="2303026" cy="194548"/>
          </a:xfrm>
          <a:prstGeom prst="rect">
            <a:avLst/>
          </a:prstGeom>
          <a:noFill/>
          <a:ln/>
        </p:spPr>
        <p:txBody>
          <a:bodyPr wrap="none" lIns="0" tIns="0" rIns="0" bIns="0" rtlCol="0" anchor="t"/>
          <a:lstStyle/>
          <a:p>
            <a:pPr marL="0" indent="0" algn="l">
              <a:lnSpc>
                <a:spcPts val="1500"/>
              </a:lnSpc>
              <a:buNone/>
            </a:pPr>
            <a:r>
              <a:rPr lang="en-US" sz="1150" b="1" dirty="0">
                <a:solidFill>
                  <a:srgbClr val="15213F"/>
                </a:solidFill>
                <a:latin typeface="Roboto" pitchFamily="34" charset="0"/>
                <a:ea typeface="Roboto" pitchFamily="34" charset="-122"/>
                <a:cs typeface="Roboto" pitchFamily="34" charset="-120"/>
              </a:rPr>
              <a:t>Doubtnut</a:t>
            </a:r>
            <a:endParaRPr lang="en-US" sz="1150" dirty="0"/>
          </a:p>
        </p:txBody>
      </p:sp>
      <p:sp>
        <p:nvSpPr>
          <p:cNvPr id="25" name="Text 19"/>
          <p:cNvSpPr/>
          <p:nvPr/>
        </p:nvSpPr>
        <p:spPr>
          <a:xfrm>
            <a:off x="8769310" y="4155400"/>
            <a:ext cx="2303026" cy="194548"/>
          </a:xfrm>
          <a:prstGeom prst="rect">
            <a:avLst/>
          </a:prstGeom>
          <a:noFill/>
          <a:ln/>
        </p:spPr>
        <p:txBody>
          <a:bodyPr wrap="none" lIns="0" tIns="0" rIns="0" bIns="0" rtlCol="0" anchor="t"/>
          <a:lstStyle/>
          <a:p>
            <a:pPr marL="0" indent="0" algn="l">
              <a:lnSpc>
                <a:spcPts val="1500"/>
              </a:lnSpc>
              <a:buNone/>
            </a:pPr>
            <a:r>
              <a:rPr lang="en-US" sz="1150" b="1" dirty="0">
                <a:solidFill>
                  <a:srgbClr val="15213F"/>
                </a:solidFill>
                <a:latin typeface="Roboto" pitchFamily="34" charset="0"/>
                <a:ea typeface="Roboto" pitchFamily="34" charset="-122"/>
                <a:cs typeface="Roboto" pitchFamily="34" charset="-120"/>
              </a:rPr>
              <a:t>ChatGPT</a:t>
            </a:r>
            <a:endParaRPr lang="en-US" sz="1150" dirty="0"/>
          </a:p>
        </p:txBody>
      </p:sp>
      <p:sp>
        <p:nvSpPr>
          <p:cNvPr id="26" name="Text 20"/>
          <p:cNvSpPr/>
          <p:nvPr/>
        </p:nvSpPr>
        <p:spPr>
          <a:xfrm>
            <a:off x="11374755" y="4155400"/>
            <a:ext cx="2306836" cy="194548"/>
          </a:xfrm>
          <a:prstGeom prst="rect">
            <a:avLst/>
          </a:prstGeom>
          <a:noFill/>
          <a:ln/>
        </p:spPr>
        <p:txBody>
          <a:bodyPr wrap="none" lIns="0" tIns="0" rIns="0" bIns="0" rtlCol="0" anchor="t"/>
          <a:lstStyle/>
          <a:p>
            <a:pPr marL="0" indent="0" algn="l">
              <a:lnSpc>
                <a:spcPts val="1500"/>
              </a:lnSpc>
              <a:buNone/>
            </a:pPr>
            <a:r>
              <a:rPr lang="en-US" sz="1150" b="1" dirty="0">
                <a:solidFill>
                  <a:srgbClr val="15213F"/>
                </a:solidFill>
                <a:latin typeface="Roboto" pitchFamily="34" charset="0"/>
                <a:ea typeface="Roboto" pitchFamily="34" charset="-122"/>
                <a:cs typeface="Roboto" pitchFamily="34" charset="-120"/>
              </a:rPr>
              <a:t>PW</a:t>
            </a:r>
            <a:endParaRPr lang="en-US" sz="1150" dirty="0"/>
          </a:p>
        </p:txBody>
      </p:sp>
      <p:sp>
        <p:nvSpPr>
          <p:cNvPr id="27" name="Shape 21"/>
          <p:cNvSpPr/>
          <p:nvPr/>
        </p:nvSpPr>
        <p:spPr>
          <a:xfrm>
            <a:off x="801410" y="4414957"/>
            <a:ext cx="13027581" cy="324564"/>
          </a:xfrm>
          <a:prstGeom prst="rect">
            <a:avLst/>
          </a:prstGeom>
          <a:solidFill>
            <a:srgbClr val="000000">
              <a:alpha val="4000"/>
            </a:srgbClr>
          </a:solidFill>
          <a:ln/>
        </p:spPr>
      </p:sp>
      <p:sp>
        <p:nvSpPr>
          <p:cNvPr id="28" name="Text 22"/>
          <p:cNvSpPr/>
          <p:nvPr/>
        </p:nvSpPr>
        <p:spPr>
          <a:xfrm>
            <a:off x="949166" y="4479965"/>
            <a:ext cx="2306836" cy="194548"/>
          </a:xfrm>
          <a:prstGeom prst="rect">
            <a:avLst/>
          </a:prstGeom>
          <a:noFill/>
          <a:ln/>
        </p:spPr>
        <p:txBody>
          <a:bodyPr wrap="none" lIns="0" tIns="0" rIns="0" bIns="0" rtlCol="0" anchor="t"/>
          <a:lstStyle/>
          <a:p>
            <a:pPr marL="0" indent="0" algn="l">
              <a:lnSpc>
                <a:spcPts val="1500"/>
              </a:lnSpc>
              <a:buNone/>
            </a:pPr>
            <a:r>
              <a:rPr lang="en-US" sz="1150" dirty="0">
                <a:solidFill>
                  <a:srgbClr val="15213F"/>
                </a:solidFill>
                <a:latin typeface="Roboto" pitchFamily="34" charset="0"/>
                <a:ea typeface="Roboto" pitchFamily="34" charset="-122"/>
                <a:cs typeface="Roboto" pitchFamily="34" charset="-120"/>
              </a:rPr>
              <a:t>Hinglish NLU</a:t>
            </a:r>
            <a:endParaRPr lang="en-US" sz="1150" dirty="0"/>
          </a:p>
        </p:txBody>
      </p:sp>
      <p:sp>
        <p:nvSpPr>
          <p:cNvPr id="29" name="Text 23"/>
          <p:cNvSpPr/>
          <p:nvPr/>
        </p:nvSpPr>
        <p:spPr>
          <a:xfrm>
            <a:off x="3558421" y="4479965"/>
            <a:ext cx="2303026" cy="194548"/>
          </a:xfrm>
          <a:prstGeom prst="rect">
            <a:avLst/>
          </a:prstGeom>
          <a:noFill/>
          <a:ln/>
        </p:spPr>
        <p:txBody>
          <a:bodyPr wrap="none" lIns="0" tIns="0" rIns="0" bIns="0" rtlCol="0" anchor="t"/>
          <a:lstStyle/>
          <a:p>
            <a:pPr marL="0" indent="0" algn="l">
              <a:lnSpc>
                <a:spcPts val="1500"/>
              </a:lnSpc>
              <a:buNone/>
            </a:pPr>
            <a:r>
              <a:rPr lang="en-US" sz="1150" dirty="0">
                <a:solidFill>
                  <a:srgbClr val="000000"/>
                </a:solidFill>
                <a:latin typeface="Roboto" pitchFamily="34" charset="0"/>
                <a:ea typeface="Roboto" pitchFamily="34" charset="-122"/>
                <a:cs typeface="Roboto" pitchFamily="34" charset="-120"/>
              </a:rPr>
              <a:t>❌</a:t>
            </a:r>
            <a:endParaRPr lang="en-US" sz="1150" dirty="0"/>
          </a:p>
        </p:txBody>
      </p:sp>
      <p:sp>
        <p:nvSpPr>
          <p:cNvPr id="30" name="Text 24"/>
          <p:cNvSpPr/>
          <p:nvPr/>
        </p:nvSpPr>
        <p:spPr>
          <a:xfrm>
            <a:off x="6163866" y="4479965"/>
            <a:ext cx="2303026" cy="194548"/>
          </a:xfrm>
          <a:prstGeom prst="rect">
            <a:avLst/>
          </a:prstGeom>
          <a:noFill/>
          <a:ln/>
        </p:spPr>
        <p:txBody>
          <a:bodyPr wrap="none" lIns="0" tIns="0" rIns="0" bIns="0" rtlCol="0" anchor="t"/>
          <a:lstStyle/>
          <a:p>
            <a:pPr marL="0" indent="0" algn="l">
              <a:lnSpc>
                <a:spcPts val="1500"/>
              </a:lnSpc>
              <a:buNone/>
            </a:pPr>
            <a:r>
              <a:rPr lang="en-US" sz="1150" dirty="0">
                <a:solidFill>
                  <a:srgbClr val="000000"/>
                </a:solidFill>
                <a:latin typeface="Roboto" pitchFamily="34" charset="0"/>
                <a:ea typeface="Roboto" pitchFamily="34" charset="-122"/>
                <a:cs typeface="Roboto" pitchFamily="34" charset="-120"/>
              </a:rPr>
              <a:t>❌</a:t>
            </a:r>
            <a:endParaRPr lang="en-US" sz="1150" dirty="0"/>
          </a:p>
        </p:txBody>
      </p:sp>
      <p:sp>
        <p:nvSpPr>
          <p:cNvPr id="31" name="Text 25"/>
          <p:cNvSpPr/>
          <p:nvPr/>
        </p:nvSpPr>
        <p:spPr>
          <a:xfrm>
            <a:off x="8769310" y="4479965"/>
            <a:ext cx="2303026" cy="194548"/>
          </a:xfrm>
          <a:prstGeom prst="rect">
            <a:avLst/>
          </a:prstGeom>
          <a:noFill/>
          <a:ln/>
        </p:spPr>
        <p:txBody>
          <a:bodyPr wrap="none" lIns="0" tIns="0" rIns="0" bIns="0" rtlCol="0" anchor="t"/>
          <a:lstStyle/>
          <a:p>
            <a:pPr marL="0" indent="0" algn="l">
              <a:lnSpc>
                <a:spcPts val="1500"/>
              </a:lnSpc>
              <a:buNone/>
            </a:pPr>
            <a:r>
              <a:rPr lang="en-US" sz="1150" dirty="0">
                <a:solidFill>
                  <a:srgbClr val="15213F"/>
                </a:solidFill>
                <a:latin typeface="Roboto" pitchFamily="34" charset="0"/>
                <a:ea typeface="Roboto" pitchFamily="34" charset="-122"/>
                <a:cs typeface="Roboto" pitchFamily="34" charset="-120"/>
              </a:rPr>
              <a:t>Partial</a:t>
            </a:r>
            <a:endParaRPr lang="en-US" sz="1150" dirty="0"/>
          </a:p>
        </p:txBody>
      </p:sp>
      <p:sp>
        <p:nvSpPr>
          <p:cNvPr id="32" name="Text 26"/>
          <p:cNvSpPr/>
          <p:nvPr/>
        </p:nvSpPr>
        <p:spPr>
          <a:xfrm>
            <a:off x="11374755" y="4479965"/>
            <a:ext cx="2306836" cy="194548"/>
          </a:xfrm>
          <a:prstGeom prst="rect">
            <a:avLst/>
          </a:prstGeom>
          <a:noFill/>
          <a:ln/>
        </p:spPr>
        <p:txBody>
          <a:bodyPr wrap="none" lIns="0" tIns="0" rIns="0" bIns="0" rtlCol="0" anchor="t"/>
          <a:lstStyle/>
          <a:p>
            <a:pPr marL="0" indent="0" algn="l">
              <a:lnSpc>
                <a:spcPts val="1500"/>
              </a:lnSpc>
              <a:buNone/>
            </a:pPr>
            <a:r>
              <a:rPr lang="en-US" sz="1150" dirty="0">
                <a:solidFill>
                  <a:srgbClr val="000000"/>
                </a:solidFill>
                <a:latin typeface="Roboto" pitchFamily="34" charset="0"/>
                <a:ea typeface="Roboto" pitchFamily="34" charset="-122"/>
                <a:cs typeface="Roboto" pitchFamily="34" charset="-120"/>
              </a:rPr>
              <a:t>❌</a:t>
            </a:r>
            <a:endParaRPr lang="en-US" sz="1150" dirty="0"/>
          </a:p>
        </p:txBody>
      </p:sp>
      <p:sp>
        <p:nvSpPr>
          <p:cNvPr id="33" name="Shape 27"/>
          <p:cNvSpPr/>
          <p:nvPr/>
        </p:nvSpPr>
        <p:spPr>
          <a:xfrm>
            <a:off x="801410" y="4739521"/>
            <a:ext cx="13027581" cy="324564"/>
          </a:xfrm>
          <a:prstGeom prst="rect">
            <a:avLst/>
          </a:prstGeom>
          <a:solidFill>
            <a:srgbClr val="FFFFFF">
              <a:alpha val="4000"/>
            </a:srgbClr>
          </a:solidFill>
          <a:ln/>
        </p:spPr>
      </p:sp>
      <p:sp>
        <p:nvSpPr>
          <p:cNvPr id="34" name="Text 28"/>
          <p:cNvSpPr/>
          <p:nvPr/>
        </p:nvSpPr>
        <p:spPr>
          <a:xfrm>
            <a:off x="949166" y="4804529"/>
            <a:ext cx="2306836" cy="194548"/>
          </a:xfrm>
          <a:prstGeom prst="rect">
            <a:avLst/>
          </a:prstGeom>
          <a:noFill/>
          <a:ln/>
        </p:spPr>
        <p:txBody>
          <a:bodyPr wrap="none" lIns="0" tIns="0" rIns="0" bIns="0" rtlCol="0" anchor="t"/>
          <a:lstStyle/>
          <a:p>
            <a:pPr marL="0" indent="0" algn="l">
              <a:lnSpc>
                <a:spcPts val="1500"/>
              </a:lnSpc>
              <a:buNone/>
            </a:pPr>
            <a:r>
              <a:rPr lang="en-US" sz="1150" dirty="0">
                <a:solidFill>
                  <a:srgbClr val="15213F"/>
                </a:solidFill>
                <a:latin typeface="Roboto" pitchFamily="34" charset="0"/>
                <a:ea typeface="Roboto" pitchFamily="34" charset="-122"/>
                <a:cs typeface="Roboto" pitchFamily="34" charset="-120"/>
              </a:rPr>
              <a:t>NCERT Aligned</a:t>
            </a:r>
            <a:endParaRPr lang="en-US" sz="1150" dirty="0"/>
          </a:p>
        </p:txBody>
      </p:sp>
      <p:sp>
        <p:nvSpPr>
          <p:cNvPr id="35" name="Text 29"/>
          <p:cNvSpPr/>
          <p:nvPr/>
        </p:nvSpPr>
        <p:spPr>
          <a:xfrm>
            <a:off x="3558421" y="4804529"/>
            <a:ext cx="2303026" cy="194548"/>
          </a:xfrm>
          <a:prstGeom prst="rect">
            <a:avLst/>
          </a:prstGeom>
          <a:noFill/>
          <a:ln/>
        </p:spPr>
        <p:txBody>
          <a:bodyPr wrap="none" lIns="0" tIns="0" rIns="0" bIns="0" rtlCol="0" anchor="t"/>
          <a:lstStyle/>
          <a:p>
            <a:pPr marL="0" indent="0" algn="l">
              <a:lnSpc>
                <a:spcPts val="1500"/>
              </a:lnSpc>
              <a:buNone/>
            </a:pPr>
            <a:r>
              <a:rPr lang="en-US" sz="1150" dirty="0">
                <a:solidFill>
                  <a:srgbClr val="000000"/>
                </a:solidFill>
                <a:latin typeface="Roboto" pitchFamily="34" charset="0"/>
                <a:ea typeface="Roboto" pitchFamily="34" charset="-122"/>
                <a:cs typeface="Roboto" pitchFamily="34" charset="-120"/>
              </a:rPr>
              <a:t>✅</a:t>
            </a:r>
            <a:r>
              <a:rPr lang="en-US" sz="1150" dirty="0">
                <a:solidFill>
                  <a:srgbClr val="15213F"/>
                </a:solidFill>
                <a:latin typeface="Roboto" pitchFamily="34" charset="0"/>
                <a:ea typeface="Roboto" pitchFamily="34" charset="-122"/>
                <a:cs typeface="Roboto" pitchFamily="34" charset="-120"/>
              </a:rPr>
              <a:t> (Video)</a:t>
            </a:r>
            <a:endParaRPr lang="en-US" sz="1150" dirty="0"/>
          </a:p>
        </p:txBody>
      </p:sp>
      <p:sp>
        <p:nvSpPr>
          <p:cNvPr id="36" name="Text 30"/>
          <p:cNvSpPr/>
          <p:nvPr/>
        </p:nvSpPr>
        <p:spPr>
          <a:xfrm>
            <a:off x="6163866" y="4804529"/>
            <a:ext cx="2303026" cy="194548"/>
          </a:xfrm>
          <a:prstGeom prst="rect">
            <a:avLst/>
          </a:prstGeom>
          <a:noFill/>
          <a:ln/>
        </p:spPr>
        <p:txBody>
          <a:bodyPr wrap="none" lIns="0" tIns="0" rIns="0" bIns="0" rtlCol="0" anchor="t"/>
          <a:lstStyle/>
          <a:p>
            <a:pPr marL="0" indent="0" algn="l">
              <a:lnSpc>
                <a:spcPts val="1500"/>
              </a:lnSpc>
              <a:buNone/>
            </a:pPr>
            <a:r>
              <a:rPr lang="en-US" sz="1150" dirty="0">
                <a:solidFill>
                  <a:srgbClr val="000000"/>
                </a:solidFill>
                <a:latin typeface="Roboto" pitchFamily="34" charset="0"/>
                <a:ea typeface="Roboto" pitchFamily="34" charset="-122"/>
                <a:cs typeface="Roboto" pitchFamily="34" charset="-120"/>
              </a:rPr>
              <a:t>✅</a:t>
            </a:r>
            <a:r>
              <a:rPr lang="en-US" sz="1150" dirty="0">
                <a:solidFill>
                  <a:srgbClr val="15213F"/>
                </a:solidFill>
                <a:latin typeface="Roboto" pitchFamily="34" charset="0"/>
                <a:ea typeface="Roboto" pitchFamily="34" charset="-122"/>
                <a:cs typeface="Roboto" pitchFamily="34" charset="-120"/>
              </a:rPr>
              <a:t> (Video)</a:t>
            </a:r>
            <a:endParaRPr lang="en-US" sz="1150" dirty="0"/>
          </a:p>
        </p:txBody>
      </p:sp>
      <p:sp>
        <p:nvSpPr>
          <p:cNvPr id="37" name="Text 31"/>
          <p:cNvSpPr/>
          <p:nvPr/>
        </p:nvSpPr>
        <p:spPr>
          <a:xfrm>
            <a:off x="8769310" y="4804529"/>
            <a:ext cx="2303026" cy="194548"/>
          </a:xfrm>
          <a:prstGeom prst="rect">
            <a:avLst/>
          </a:prstGeom>
          <a:noFill/>
          <a:ln/>
        </p:spPr>
        <p:txBody>
          <a:bodyPr wrap="none" lIns="0" tIns="0" rIns="0" bIns="0" rtlCol="0" anchor="t"/>
          <a:lstStyle/>
          <a:p>
            <a:pPr marL="0" indent="0" algn="l">
              <a:lnSpc>
                <a:spcPts val="1500"/>
              </a:lnSpc>
              <a:buNone/>
            </a:pPr>
            <a:r>
              <a:rPr lang="en-US" sz="1150" dirty="0">
                <a:solidFill>
                  <a:srgbClr val="000000"/>
                </a:solidFill>
                <a:latin typeface="Roboto" pitchFamily="34" charset="0"/>
                <a:ea typeface="Roboto" pitchFamily="34" charset="-122"/>
                <a:cs typeface="Roboto" pitchFamily="34" charset="-120"/>
              </a:rPr>
              <a:t>❌</a:t>
            </a:r>
            <a:endParaRPr lang="en-US" sz="1150" dirty="0"/>
          </a:p>
        </p:txBody>
      </p:sp>
      <p:sp>
        <p:nvSpPr>
          <p:cNvPr id="38" name="Text 32"/>
          <p:cNvSpPr/>
          <p:nvPr/>
        </p:nvSpPr>
        <p:spPr>
          <a:xfrm>
            <a:off x="11374755" y="4804529"/>
            <a:ext cx="2306836" cy="194548"/>
          </a:xfrm>
          <a:prstGeom prst="rect">
            <a:avLst/>
          </a:prstGeom>
          <a:noFill/>
          <a:ln/>
        </p:spPr>
        <p:txBody>
          <a:bodyPr wrap="none" lIns="0" tIns="0" rIns="0" bIns="0" rtlCol="0" anchor="t"/>
          <a:lstStyle/>
          <a:p>
            <a:pPr marL="0" indent="0" algn="l">
              <a:lnSpc>
                <a:spcPts val="1500"/>
              </a:lnSpc>
              <a:buNone/>
            </a:pPr>
            <a:r>
              <a:rPr lang="en-US" sz="1150" dirty="0">
                <a:solidFill>
                  <a:srgbClr val="000000"/>
                </a:solidFill>
                <a:latin typeface="Roboto" pitchFamily="34" charset="0"/>
                <a:ea typeface="Roboto" pitchFamily="34" charset="-122"/>
                <a:cs typeface="Roboto" pitchFamily="34" charset="-120"/>
              </a:rPr>
              <a:t>✅</a:t>
            </a:r>
            <a:r>
              <a:rPr lang="en-US" sz="1150" dirty="0">
                <a:solidFill>
                  <a:srgbClr val="15213F"/>
                </a:solidFill>
                <a:latin typeface="Roboto" pitchFamily="34" charset="0"/>
                <a:ea typeface="Roboto" pitchFamily="34" charset="-122"/>
                <a:cs typeface="Roboto" pitchFamily="34" charset="-120"/>
              </a:rPr>
              <a:t> (Video)</a:t>
            </a:r>
            <a:endParaRPr lang="en-US" sz="1150" dirty="0"/>
          </a:p>
        </p:txBody>
      </p:sp>
      <p:sp>
        <p:nvSpPr>
          <p:cNvPr id="39" name="Shape 33"/>
          <p:cNvSpPr/>
          <p:nvPr/>
        </p:nvSpPr>
        <p:spPr>
          <a:xfrm>
            <a:off x="801410" y="5064085"/>
            <a:ext cx="13027581" cy="324564"/>
          </a:xfrm>
          <a:prstGeom prst="rect">
            <a:avLst/>
          </a:prstGeom>
          <a:solidFill>
            <a:srgbClr val="000000">
              <a:alpha val="4000"/>
            </a:srgbClr>
          </a:solidFill>
          <a:ln/>
        </p:spPr>
      </p:sp>
      <p:sp>
        <p:nvSpPr>
          <p:cNvPr id="40" name="Text 34"/>
          <p:cNvSpPr/>
          <p:nvPr/>
        </p:nvSpPr>
        <p:spPr>
          <a:xfrm>
            <a:off x="949166" y="5129093"/>
            <a:ext cx="2306836" cy="194548"/>
          </a:xfrm>
          <a:prstGeom prst="rect">
            <a:avLst/>
          </a:prstGeom>
          <a:noFill/>
          <a:ln/>
        </p:spPr>
        <p:txBody>
          <a:bodyPr wrap="none" lIns="0" tIns="0" rIns="0" bIns="0" rtlCol="0" anchor="t"/>
          <a:lstStyle/>
          <a:p>
            <a:pPr marL="0" indent="0" algn="l">
              <a:lnSpc>
                <a:spcPts val="1500"/>
              </a:lnSpc>
              <a:buNone/>
            </a:pPr>
            <a:r>
              <a:rPr lang="en-US" sz="1150" dirty="0">
                <a:solidFill>
                  <a:srgbClr val="15213F"/>
                </a:solidFill>
                <a:latin typeface="Roboto" pitchFamily="34" charset="0"/>
                <a:ea typeface="Roboto" pitchFamily="34" charset="-122"/>
                <a:cs typeface="Roboto" pitchFamily="34" charset="-120"/>
              </a:rPr>
              <a:t>Hinglish Output</a:t>
            </a:r>
            <a:endParaRPr lang="en-US" sz="1150" dirty="0"/>
          </a:p>
        </p:txBody>
      </p:sp>
      <p:sp>
        <p:nvSpPr>
          <p:cNvPr id="41" name="Text 35"/>
          <p:cNvSpPr/>
          <p:nvPr/>
        </p:nvSpPr>
        <p:spPr>
          <a:xfrm>
            <a:off x="3558421" y="5129093"/>
            <a:ext cx="2303026" cy="194548"/>
          </a:xfrm>
          <a:prstGeom prst="rect">
            <a:avLst/>
          </a:prstGeom>
          <a:noFill/>
          <a:ln/>
        </p:spPr>
        <p:txBody>
          <a:bodyPr wrap="none" lIns="0" tIns="0" rIns="0" bIns="0" rtlCol="0" anchor="t"/>
          <a:lstStyle/>
          <a:p>
            <a:pPr marL="0" indent="0" algn="l">
              <a:lnSpc>
                <a:spcPts val="1500"/>
              </a:lnSpc>
              <a:buNone/>
            </a:pPr>
            <a:r>
              <a:rPr lang="en-US" sz="1150" dirty="0">
                <a:solidFill>
                  <a:srgbClr val="000000"/>
                </a:solidFill>
                <a:latin typeface="Roboto" pitchFamily="34" charset="0"/>
                <a:ea typeface="Roboto" pitchFamily="34" charset="-122"/>
                <a:cs typeface="Roboto" pitchFamily="34" charset="-120"/>
              </a:rPr>
              <a:t>❌</a:t>
            </a:r>
            <a:endParaRPr lang="en-US" sz="1150" dirty="0"/>
          </a:p>
        </p:txBody>
      </p:sp>
      <p:sp>
        <p:nvSpPr>
          <p:cNvPr id="42" name="Text 36"/>
          <p:cNvSpPr/>
          <p:nvPr/>
        </p:nvSpPr>
        <p:spPr>
          <a:xfrm>
            <a:off x="6163866" y="5129093"/>
            <a:ext cx="2303026" cy="194548"/>
          </a:xfrm>
          <a:prstGeom prst="rect">
            <a:avLst/>
          </a:prstGeom>
          <a:noFill/>
          <a:ln/>
        </p:spPr>
        <p:txBody>
          <a:bodyPr wrap="none" lIns="0" tIns="0" rIns="0" bIns="0" rtlCol="0" anchor="t"/>
          <a:lstStyle/>
          <a:p>
            <a:pPr marL="0" indent="0" algn="l">
              <a:lnSpc>
                <a:spcPts val="1500"/>
              </a:lnSpc>
              <a:buNone/>
            </a:pPr>
            <a:r>
              <a:rPr lang="en-US" sz="1150" dirty="0">
                <a:solidFill>
                  <a:srgbClr val="000000"/>
                </a:solidFill>
                <a:latin typeface="Roboto" pitchFamily="34" charset="0"/>
                <a:ea typeface="Roboto" pitchFamily="34" charset="-122"/>
                <a:cs typeface="Roboto" pitchFamily="34" charset="-120"/>
              </a:rPr>
              <a:t>❌</a:t>
            </a:r>
            <a:endParaRPr lang="en-US" sz="1150" dirty="0"/>
          </a:p>
        </p:txBody>
      </p:sp>
      <p:sp>
        <p:nvSpPr>
          <p:cNvPr id="43" name="Text 37"/>
          <p:cNvSpPr/>
          <p:nvPr/>
        </p:nvSpPr>
        <p:spPr>
          <a:xfrm>
            <a:off x="8769310" y="5129093"/>
            <a:ext cx="2303026" cy="194548"/>
          </a:xfrm>
          <a:prstGeom prst="rect">
            <a:avLst/>
          </a:prstGeom>
          <a:noFill/>
          <a:ln/>
        </p:spPr>
        <p:txBody>
          <a:bodyPr wrap="none" lIns="0" tIns="0" rIns="0" bIns="0" rtlCol="0" anchor="t"/>
          <a:lstStyle/>
          <a:p>
            <a:pPr marL="0" indent="0" algn="l">
              <a:lnSpc>
                <a:spcPts val="1500"/>
              </a:lnSpc>
              <a:buNone/>
            </a:pPr>
            <a:r>
              <a:rPr lang="en-US" sz="1150" dirty="0">
                <a:solidFill>
                  <a:srgbClr val="15213F"/>
                </a:solidFill>
                <a:latin typeface="Roboto" pitchFamily="34" charset="0"/>
                <a:ea typeface="Roboto" pitchFamily="34" charset="-122"/>
                <a:cs typeface="Roboto" pitchFamily="34" charset="-120"/>
              </a:rPr>
              <a:t>Partial</a:t>
            </a:r>
            <a:endParaRPr lang="en-US" sz="1150" dirty="0"/>
          </a:p>
        </p:txBody>
      </p:sp>
      <p:sp>
        <p:nvSpPr>
          <p:cNvPr id="44" name="Text 38"/>
          <p:cNvSpPr/>
          <p:nvPr/>
        </p:nvSpPr>
        <p:spPr>
          <a:xfrm>
            <a:off x="11374755" y="5129093"/>
            <a:ext cx="2306836" cy="194548"/>
          </a:xfrm>
          <a:prstGeom prst="rect">
            <a:avLst/>
          </a:prstGeom>
          <a:noFill/>
          <a:ln/>
        </p:spPr>
        <p:txBody>
          <a:bodyPr wrap="none" lIns="0" tIns="0" rIns="0" bIns="0" rtlCol="0" anchor="t"/>
          <a:lstStyle/>
          <a:p>
            <a:pPr marL="0" indent="0" algn="l">
              <a:lnSpc>
                <a:spcPts val="1500"/>
              </a:lnSpc>
              <a:buNone/>
            </a:pPr>
            <a:r>
              <a:rPr lang="en-US" sz="1150" dirty="0">
                <a:solidFill>
                  <a:srgbClr val="000000"/>
                </a:solidFill>
                <a:latin typeface="Roboto" pitchFamily="34" charset="0"/>
                <a:ea typeface="Roboto" pitchFamily="34" charset="-122"/>
                <a:cs typeface="Roboto" pitchFamily="34" charset="-120"/>
              </a:rPr>
              <a:t>❌</a:t>
            </a:r>
            <a:endParaRPr lang="en-US" sz="1150" dirty="0"/>
          </a:p>
        </p:txBody>
      </p:sp>
      <p:sp>
        <p:nvSpPr>
          <p:cNvPr id="45" name="Shape 39"/>
          <p:cNvSpPr/>
          <p:nvPr/>
        </p:nvSpPr>
        <p:spPr>
          <a:xfrm>
            <a:off x="801410" y="5388650"/>
            <a:ext cx="13027581" cy="324564"/>
          </a:xfrm>
          <a:prstGeom prst="rect">
            <a:avLst/>
          </a:prstGeom>
          <a:solidFill>
            <a:srgbClr val="FFFFFF">
              <a:alpha val="4000"/>
            </a:srgbClr>
          </a:solidFill>
          <a:ln/>
        </p:spPr>
      </p:sp>
      <p:sp>
        <p:nvSpPr>
          <p:cNvPr id="46" name="Text 40"/>
          <p:cNvSpPr/>
          <p:nvPr/>
        </p:nvSpPr>
        <p:spPr>
          <a:xfrm>
            <a:off x="949166" y="5453658"/>
            <a:ext cx="2306836" cy="194548"/>
          </a:xfrm>
          <a:prstGeom prst="rect">
            <a:avLst/>
          </a:prstGeom>
          <a:noFill/>
          <a:ln/>
        </p:spPr>
        <p:txBody>
          <a:bodyPr wrap="none" lIns="0" tIns="0" rIns="0" bIns="0" rtlCol="0" anchor="t"/>
          <a:lstStyle/>
          <a:p>
            <a:pPr marL="0" indent="0" algn="l">
              <a:lnSpc>
                <a:spcPts val="1500"/>
              </a:lnSpc>
              <a:buNone/>
            </a:pPr>
            <a:r>
              <a:rPr lang="en-US" sz="1150" dirty="0">
                <a:solidFill>
                  <a:srgbClr val="15213F"/>
                </a:solidFill>
                <a:latin typeface="Roboto" pitchFamily="34" charset="0"/>
                <a:ea typeface="Roboto" pitchFamily="34" charset="-122"/>
                <a:cs typeface="Roboto" pitchFamily="34" charset="-120"/>
              </a:rPr>
              <a:t>GEC for Code-mix</a:t>
            </a:r>
            <a:endParaRPr lang="en-US" sz="1150" dirty="0"/>
          </a:p>
        </p:txBody>
      </p:sp>
      <p:sp>
        <p:nvSpPr>
          <p:cNvPr id="47" name="Text 41"/>
          <p:cNvSpPr/>
          <p:nvPr/>
        </p:nvSpPr>
        <p:spPr>
          <a:xfrm>
            <a:off x="3558421" y="5453658"/>
            <a:ext cx="2303026" cy="194548"/>
          </a:xfrm>
          <a:prstGeom prst="rect">
            <a:avLst/>
          </a:prstGeom>
          <a:noFill/>
          <a:ln/>
        </p:spPr>
        <p:txBody>
          <a:bodyPr wrap="none" lIns="0" tIns="0" rIns="0" bIns="0" rtlCol="0" anchor="t"/>
          <a:lstStyle/>
          <a:p>
            <a:pPr marL="0" indent="0" algn="l">
              <a:lnSpc>
                <a:spcPts val="1500"/>
              </a:lnSpc>
              <a:buNone/>
            </a:pPr>
            <a:r>
              <a:rPr lang="en-US" sz="1150" dirty="0">
                <a:solidFill>
                  <a:srgbClr val="000000"/>
                </a:solidFill>
                <a:latin typeface="Roboto" pitchFamily="34" charset="0"/>
                <a:ea typeface="Roboto" pitchFamily="34" charset="-122"/>
                <a:cs typeface="Roboto" pitchFamily="34" charset="-120"/>
              </a:rPr>
              <a:t>❌</a:t>
            </a:r>
            <a:endParaRPr lang="en-US" sz="1150" dirty="0"/>
          </a:p>
        </p:txBody>
      </p:sp>
      <p:sp>
        <p:nvSpPr>
          <p:cNvPr id="48" name="Text 42"/>
          <p:cNvSpPr/>
          <p:nvPr/>
        </p:nvSpPr>
        <p:spPr>
          <a:xfrm>
            <a:off x="6163866" y="5453658"/>
            <a:ext cx="2303026" cy="194548"/>
          </a:xfrm>
          <a:prstGeom prst="rect">
            <a:avLst/>
          </a:prstGeom>
          <a:noFill/>
          <a:ln/>
        </p:spPr>
        <p:txBody>
          <a:bodyPr wrap="none" lIns="0" tIns="0" rIns="0" bIns="0" rtlCol="0" anchor="t"/>
          <a:lstStyle/>
          <a:p>
            <a:pPr marL="0" indent="0" algn="l">
              <a:lnSpc>
                <a:spcPts val="1500"/>
              </a:lnSpc>
              <a:buNone/>
            </a:pPr>
            <a:r>
              <a:rPr lang="en-US" sz="1150" dirty="0">
                <a:solidFill>
                  <a:srgbClr val="000000"/>
                </a:solidFill>
                <a:latin typeface="Roboto" pitchFamily="34" charset="0"/>
                <a:ea typeface="Roboto" pitchFamily="34" charset="-122"/>
                <a:cs typeface="Roboto" pitchFamily="34" charset="-120"/>
              </a:rPr>
              <a:t>❌</a:t>
            </a:r>
            <a:endParaRPr lang="en-US" sz="1150" dirty="0"/>
          </a:p>
        </p:txBody>
      </p:sp>
      <p:sp>
        <p:nvSpPr>
          <p:cNvPr id="49" name="Text 43"/>
          <p:cNvSpPr/>
          <p:nvPr/>
        </p:nvSpPr>
        <p:spPr>
          <a:xfrm>
            <a:off x="8769310" y="5453658"/>
            <a:ext cx="2303026" cy="194548"/>
          </a:xfrm>
          <a:prstGeom prst="rect">
            <a:avLst/>
          </a:prstGeom>
          <a:noFill/>
          <a:ln/>
        </p:spPr>
        <p:txBody>
          <a:bodyPr wrap="none" lIns="0" tIns="0" rIns="0" bIns="0" rtlCol="0" anchor="t"/>
          <a:lstStyle/>
          <a:p>
            <a:pPr marL="0" indent="0" algn="l">
              <a:lnSpc>
                <a:spcPts val="1500"/>
              </a:lnSpc>
              <a:buNone/>
            </a:pPr>
            <a:r>
              <a:rPr lang="en-US" sz="1150" dirty="0">
                <a:solidFill>
                  <a:srgbClr val="000000"/>
                </a:solidFill>
                <a:latin typeface="Roboto" pitchFamily="34" charset="0"/>
                <a:ea typeface="Roboto" pitchFamily="34" charset="-122"/>
                <a:cs typeface="Roboto" pitchFamily="34" charset="-120"/>
              </a:rPr>
              <a:t>❌</a:t>
            </a:r>
            <a:endParaRPr lang="en-US" sz="1150" dirty="0"/>
          </a:p>
        </p:txBody>
      </p:sp>
      <p:sp>
        <p:nvSpPr>
          <p:cNvPr id="50" name="Text 44"/>
          <p:cNvSpPr/>
          <p:nvPr/>
        </p:nvSpPr>
        <p:spPr>
          <a:xfrm>
            <a:off x="11374755" y="5453658"/>
            <a:ext cx="2306836" cy="194548"/>
          </a:xfrm>
          <a:prstGeom prst="rect">
            <a:avLst/>
          </a:prstGeom>
          <a:noFill/>
          <a:ln/>
        </p:spPr>
        <p:txBody>
          <a:bodyPr wrap="none" lIns="0" tIns="0" rIns="0" bIns="0" rtlCol="0" anchor="t"/>
          <a:lstStyle/>
          <a:p>
            <a:pPr marL="0" indent="0" algn="l">
              <a:lnSpc>
                <a:spcPts val="1500"/>
              </a:lnSpc>
              <a:buNone/>
            </a:pPr>
            <a:r>
              <a:rPr lang="en-US" sz="1150" dirty="0">
                <a:solidFill>
                  <a:srgbClr val="000000"/>
                </a:solidFill>
                <a:latin typeface="Roboto" pitchFamily="34" charset="0"/>
                <a:ea typeface="Roboto" pitchFamily="34" charset="-122"/>
                <a:cs typeface="Roboto" pitchFamily="34" charset="-120"/>
              </a:rPr>
              <a:t>❌</a:t>
            </a:r>
            <a:endParaRPr lang="en-US" sz="1150" dirty="0"/>
          </a:p>
        </p:txBody>
      </p:sp>
      <p:sp>
        <p:nvSpPr>
          <p:cNvPr id="51" name="Shape 45"/>
          <p:cNvSpPr/>
          <p:nvPr/>
        </p:nvSpPr>
        <p:spPr>
          <a:xfrm>
            <a:off x="778550" y="5901452"/>
            <a:ext cx="1846575" cy="209430"/>
          </a:xfrm>
          <a:prstGeom prst="roundRect">
            <a:avLst>
              <a:gd name="adj" fmla="val 7249"/>
            </a:avLst>
          </a:prstGeom>
          <a:solidFill>
            <a:srgbClr val="D7DFF4"/>
          </a:solidFill>
          <a:ln/>
        </p:spPr>
        <p:txBody>
          <a:bodyPr/>
          <a:lstStyle/>
          <a:p>
            <a:endParaRPr lang="en-IN" dirty="0"/>
          </a:p>
        </p:txBody>
      </p:sp>
      <p:sp>
        <p:nvSpPr>
          <p:cNvPr id="52" name="Text 46"/>
          <p:cNvSpPr/>
          <p:nvPr/>
        </p:nvSpPr>
        <p:spPr>
          <a:xfrm>
            <a:off x="801410" y="5969720"/>
            <a:ext cx="1323738" cy="127040"/>
          </a:xfrm>
          <a:prstGeom prst="rect">
            <a:avLst/>
          </a:prstGeom>
          <a:noFill/>
          <a:ln/>
        </p:spPr>
        <p:txBody>
          <a:bodyPr wrap="none" lIns="0" tIns="0" rIns="0" bIns="0" rtlCol="0" anchor="t"/>
          <a:lstStyle/>
          <a:p>
            <a:pPr marL="0" indent="0" algn="l">
              <a:lnSpc>
                <a:spcPts val="1200"/>
              </a:lnSpc>
              <a:buNone/>
            </a:pPr>
            <a:r>
              <a:rPr lang="en-US" dirty="0">
                <a:solidFill>
                  <a:srgbClr val="15213F"/>
                </a:solidFill>
                <a:latin typeface="Roboto" pitchFamily="34" charset="0"/>
                <a:ea typeface="Roboto" pitchFamily="34" charset="-122"/>
                <a:cs typeface="Roboto" pitchFamily="34" charset="-120"/>
              </a:rPr>
              <a:t>OUR SOLUTION</a:t>
            </a:r>
            <a:endParaRPr lang="en-US" dirty="0"/>
          </a:p>
        </p:txBody>
      </p:sp>
      <p:sp>
        <p:nvSpPr>
          <p:cNvPr id="53" name="Text 47"/>
          <p:cNvSpPr/>
          <p:nvPr/>
        </p:nvSpPr>
        <p:spPr>
          <a:xfrm>
            <a:off x="793790" y="6110883"/>
            <a:ext cx="2948702" cy="368618"/>
          </a:xfrm>
          <a:prstGeom prst="rect">
            <a:avLst/>
          </a:prstGeom>
          <a:noFill/>
          <a:ln/>
        </p:spPr>
        <p:txBody>
          <a:bodyPr wrap="none" lIns="0" tIns="0" rIns="0" bIns="0" rtlCol="0" anchor="t"/>
          <a:lstStyle/>
          <a:p>
            <a:pPr marL="0" indent="0" algn="l">
              <a:lnSpc>
                <a:spcPts val="2900"/>
              </a:lnSpc>
              <a:buNone/>
            </a:pPr>
            <a:r>
              <a:rPr lang="en-US" sz="2300" dirty="0">
                <a:solidFill>
                  <a:srgbClr val="3257B8"/>
                </a:solidFill>
                <a:latin typeface="Roboto Slab" pitchFamily="34" charset="0"/>
                <a:ea typeface="Roboto Slab" pitchFamily="34" charset="-122"/>
                <a:cs typeface="Roboto Slab" pitchFamily="34" charset="-120"/>
              </a:rPr>
              <a:t>EduHinglish</a:t>
            </a:r>
            <a:endParaRPr lang="en-US" sz="2300" dirty="0"/>
          </a:p>
        </p:txBody>
      </p:sp>
      <p:sp>
        <p:nvSpPr>
          <p:cNvPr id="54" name="Text 48"/>
          <p:cNvSpPr/>
          <p:nvPr/>
        </p:nvSpPr>
        <p:spPr>
          <a:xfrm>
            <a:off x="793790" y="6623209"/>
            <a:ext cx="13042821" cy="194548"/>
          </a:xfrm>
          <a:prstGeom prst="rect">
            <a:avLst/>
          </a:prstGeom>
          <a:noFill/>
          <a:ln/>
        </p:spPr>
        <p:txBody>
          <a:bodyPr wrap="none" lIns="0" tIns="0" rIns="0" bIns="0" rtlCol="0" anchor="t"/>
          <a:lstStyle/>
          <a:p>
            <a:pPr marL="0" indent="0" algn="l">
              <a:lnSpc>
                <a:spcPts val="1500"/>
              </a:lnSpc>
              <a:buNone/>
            </a:pPr>
            <a:r>
              <a:rPr lang="en-US" dirty="0">
                <a:solidFill>
                  <a:srgbClr val="15213F"/>
                </a:solidFill>
                <a:latin typeface="Roboto" pitchFamily="34" charset="0"/>
                <a:ea typeface="Roboto" pitchFamily="34" charset="-122"/>
                <a:cs typeface="Roboto" pitchFamily="34" charset="-120"/>
              </a:rPr>
              <a:t>An AI system that accepts Hinglish queries, retrieves answers from NCERT textbooks, and explains concepts back in natural Hinglish.</a:t>
            </a:r>
            <a:endParaRPr lang="en-US" dirty="0"/>
          </a:p>
        </p:txBody>
      </p:sp>
      <p:sp>
        <p:nvSpPr>
          <p:cNvPr id="55" name="Shape 49"/>
          <p:cNvSpPr/>
          <p:nvPr/>
        </p:nvSpPr>
        <p:spPr>
          <a:xfrm>
            <a:off x="793790" y="6925508"/>
            <a:ext cx="13042821" cy="486966"/>
          </a:xfrm>
          <a:prstGeom prst="roundRect">
            <a:avLst>
              <a:gd name="adj" fmla="val 4542"/>
            </a:avLst>
          </a:prstGeom>
          <a:solidFill>
            <a:srgbClr val="C3CFEF"/>
          </a:solidFill>
          <a:ln/>
        </p:spPr>
      </p:sp>
      <p:pic>
        <p:nvPicPr>
          <p:cNvPr id="56" name="Image 4" descr="preencoded.png"/>
          <p:cNvPicPr>
            <a:picLocks noChangeAspect="1"/>
          </p:cNvPicPr>
          <p:nvPr/>
        </p:nvPicPr>
        <p:blipFill>
          <a:blip r:embed="rId4"/>
          <a:stretch>
            <a:fillRect/>
          </a:stretch>
        </p:blipFill>
        <p:spPr>
          <a:xfrm>
            <a:off x="941189" y="7125414"/>
            <a:ext cx="184190" cy="147399"/>
          </a:xfrm>
          <a:prstGeom prst="rect">
            <a:avLst/>
          </a:prstGeom>
        </p:spPr>
      </p:pic>
      <p:sp>
        <p:nvSpPr>
          <p:cNvPr id="57" name="Text 50"/>
          <p:cNvSpPr/>
          <p:nvPr/>
        </p:nvSpPr>
        <p:spPr>
          <a:xfrm>
            <a:off x="1272778" y="7058025"/>
            <a:ext cx="12416433" cy="194548"/>
          </a:xfrm>
          <a:prstGeom prst="rect">
            <a:avLst/>
          </a:prstGeom>
          <a:noFill/>
          <a:ln/>
        </p:spPr>
        <p:txBody>
          <a:bodyPr wrap="none" lIns="0" tIns="0" rIns="0" bIns="0" rtlCol="0" anchor="t"/>
          <a:lstStyle/>
          <a:p>
            <a:pPr marL="0" indent="0" algn="l">
              <a:lnSpc>
                <a:spcPts val="1500"/>
              </a:lnSpc>
              <a:buNone/>
            </a:pPr>
            <a:r>
              <a:rPr lang="en-US" sz="1150" b="1" dirty="0">
                <a:solidFill>
                  <a:srgbClr val="000000"/>
                </a:solidFill>
                <a:latin typeface="Roboto" pitchFamily="34" charset="0"/>
                <a:ea typeface="Roboto" pitchFamily="34" charset="-122"/>
                <a:cs typeface="Roboto" pitchFamily="34" charset="-120"/>
              </a:rPr>
              <a:t>Scope:</a:t>
            </a:r>
            <a:r>
              <a:rPr lang="en-US" sz="1150" dirty="0">
                <a:solidFill>
                  <a:srgbClr val="000000"/>
                </a:solidFill>
                <a:latin typeface="Roboto" pitchFamily="34" charset="0"/>
                <a:ea typeface="Roboto" pitchFamily="34" charset="-122"/>
                <a:cs typeface="Roboto" pitchFamily="34" charset="-120"/>
              </a:rPr>
              <a:t> NCERT Class 9 Biology, Chapter 5 "The Fundamental Unit of Life"</a:t>
            </a:r>
            <a:endParaRPr lang="en-US" sz="1150" dirty="0"/>
          </a:p>
        </p:txBody>
      </p:sp>
      <p:pic>
        <p:nvPicPr>
          <p:cNvPr id="59" name="Picture 58">
            <a:extLst>
              <a:ext uri="{FF2B5EF4-FFF2-40B4-BE49-F238E27FC236}">
                <a16:creationId xmlns:a16="http://schemas.microsoft.com/office/drawing/2014/main" id="{99B7A4E7-033A-5D1C-0400-1EE0B2CE4B56}"/>
              </a:ext>
            </a:extLst>
          </p:cNvPr>
          <p:cNvPicPr>
            <a:picLocks noChangeAspect="1"/>
          </p:cNvPicPr>
          <p:nvPr/>
        </p:nvPicPr>
        <p:blipFill>
          <a:blip r:embed="rId5"/>
          <a:stretch>
            <a:fillRect/>
          </a:stretch>
        </p:blipFill>
        <p:spPr>
          <a:xfrm>
            <a:off x="12839450" y="7708018"/>
            <a:ext cx="1790950" cy="51442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83513" y="2245043"/>
            <a:ext cx="6147911" cy="431721"/>
          </a:xfrm>
          <a:prstGeom prst="rect">
            <a:avLst/>
          </a:prstGeom>
          <a:noFill/>
          <a:ln/>
        </p:spPr>
        <p:txBody>
          <a:bodyPr wrap="none" lIns="0" tIns="0" rIns="0" bIns="0" rtlCol="0" anchor="t"/>
          <a:lstStyle/>
          <a:p>
            <a:pPr marL="0" indent="0" algn="l">
              <a:lnSpc>
                <a:spcPts val="3350"/>
              </a:lnSpc>
              <a:buNone/>
            </a:pPr>
            <a:r>
              <a:rPr lang="en-US" sz="2700" dirty="0">
                <a:solidFill>
                  <a:srgbClr val="3257B8"/>
                </a:solidFill>
                <a:latin typeface="Roboto Slab" pitchFamily="34" charset="0"/>
                <a:ea typeface="Roboto Slab" pitchFamily="34" charset="-122"/>
                <a:cs typeface="Roboto Slab" pitchFamily="34" charset="-120"/>
              </a:rPr>
              <a:t>Literature Survey — Part 1 (Papers 1-6)</a:t>
            </a:r>
            <a:endParaRPr lang="en-US" sz="2700" dirty="0"/>
          </a:p>
        </p:txBody>
      </p:sp>
      <p:sp>
        <p:nvSpPr>
          <p:cNvPr id="3" name="Shape 1"/>
          <p:cNvSpPr/>
          <p:nvPr/>
        </p:nvSpPr>
        <p:spPr>
          <a:xfrm>
            <a:off x="483513" y="2844998"/>
            <a:ext cx="13663374" cy="3139559"/>
          </a:xfrm>
          <a:prstGeom prst="roundRect">
            <a:avLst>
              <a:gd name="adj" fmla="val 660"/>
            </a:avLst>
          </a:prstGeom>
          <a:noFill/>
          <a:ln w="7620">
            <a:solidFill>
              <a:srgbClr val="000000">
                <a:alpha val="8000"/>
              </a:srgbClr>
            </a:solidFill>
            <a:prstDash val="solid"/>
          </a:ln>
        </p:spPr>
      </p:sp>
      <p:sp>
        <p:nvSpPr>
          <p:cNvPr id="4" name="Shape 2"/>
          <p:cNvSpPr/>
          <p:nvPr/>
        </p:nvSpPr>
        <p:spPr>
          <a:xfrm>
            <a:off x="491133" y="2852618"/>
            <a:ext cx="13648134" cy="293965"/>
          </a:xfrm>
          <a:prstGeom prst="rect">
            <a:avLst/>
          </a:prstGeom>
          <a:solidFill>
            <a:srgbClr val="FFFFFF">
              <a:alpha val="4000"/>
            </a:srgbClr>
          </a:solidFill>
          <a:ln/>
        </p:spPr>
      </p:sp>
      <p:sp>
        <p:nvSpPr>
          <p:cNvPr id="5" name="Text 3"/>
          <p:cNvSpPr/>
          <p:nvPr/>
        </p:nvSpPr>
        <p:spPr>
          <a:xfrm>
            <a:off x="629483" y="2910721"/>
            <a:ext cx="402312" cy="177760"/>
          </a:xfrm>
          <a:prstGeom prst="rect">
            <a:avLst/>
          </a:prstGeom>
          <a:noFill/>
          <a:ln/>
        </p:spPr>
        <p:txBody>
          <a:bodyPr wrap="none" lIns="0" tIns="0" rIns="0" bIns="0" rtlCol="0" anchor="t"/>
          <a:lstStyle/>
          <a:p>
            <a:pPr marL="0" indent="0" algn="l">
              <a:lnSpc>
                <a:spcPts val="1400"/>
              </a:lnSpc>
              <a:buNone/>
            </a:pPr>
            <a:r>
              <a:rPr lang="en-US" sz="1050" b="1" dirty="0">
                <a:solidFill>
                  <a:srgbClr val="15213F"/>
                </a:solidFill>
                <a:latin typeface="Roboto" pitchFamily="34" charset="0"/>
                <a:ea typeface="Roboto" pitchFamily="34" charset="-122"/>
                <a:cs typeface="Roboto" pitchFamily="34" charset="-120"/>
              </a:rPr>
              <a:t>#</a:t>
            </a:r>
            <a:endParaRPr lang="en-US" sz="1050" dirty="0"/>
          </a:p>
        </p:txBody>
      </p:sp>
      <p:sp>
        <p:nvSpPr>
          <p:cNvPr id="6" name="Text 4"/>
          <p:cNvSpPr/>
          <p:nvPr/>
        </p:nvSpPr>
        <p:spPr>
          <a:xfrm>
            <a:off x="1315641" y="2910721"/>
            <a:ext cx="3128129" cy="177760"/>
          </a:xfrm>
          <a:prstGeom prst="rect">
            <a:avLst/>
          </a:prstGeom>
          <a:noFill/>
          <a:ln/>
        </p:spPr>
        <p:txBody>
          <a:bodyPr wrap="none" lIns="0" tIns="0" rIns="0" bIns="0" rtlCol="0" anchor="t"/>
          <a:lstStyle/>
          <a:p>
            <a:pPr marL="0" indent="0" algn="l">
              <a:lnSpc>
                <a:spcPts val="1400"/>
              </a:lnSpc>
              <a:buNone/>
            </a:pPr>
            <a:r>
              <a:rPr lang="en-US" sz="1050" b="1" dirty="0">
                <a:solidFill>
                  <a:srgbClr val="15213F"/>
                </a:solidFill>
                <a:latin typeface="Roboto" pitchFamily="34" charset="0"/>
                <a:ea typeface="Roboto" pitchFamily="34" charset="-122"/>
                <a:cs typeface="Roboto" pitchFamily="34" charset="-120"/>
              </a:rPr>
              <a:t>Title</a:t>
            </a:r>
            <a:endParaRPr lang="en-US" sz="1050" dirty="0"/>
          </a:p>
        </p:txBody>
      </p:sp>
      <p:sp>
        <p:nvSpPr>
          <p:cNvPr id="7" name="Text 5"/>
          <p:cNvSpPr/>
          <p:nvPr/>
        </p:nvSpPr>
        <p:spPr>
          <a:xfrm>
            <a:off x="4727615" y="2910721"/>
            <a:ext cx="2445782" cy="177760"/>
          </a:xfrm>
          <a:prstGeom prst="rect">
            <a:avLst/>
          </a:prstGeom>
          <a:noFill/>
          <a:ln/>
        </p:spPr>
        <p:txBody>
          <a:bodyPr wrap="none" lIns="0" tIns="0" rIns="0" bIns="0" rtlCol="0" anchor="t"/>
          <a:lstStyle/>
          <a:p>
            <a:pPr marL="0" indent="0" algn="l">
              <a:lnSpc>
                <a:spcPts val="1400"/>
              </a:lnSpc>
              <a:buNone/>
            </a:pPr>
            <a:r>
              <a:rPr lang="en-US" sz="1050" b="1" dirty="0">
                <a:solidFill>
                  <a:srgbClr val="15213F"/>
                </a:solidFill>
                <a:latin typeface="Roboto" pitchFamily="34" charset="0"/>
                <a:ea typeface="Roboto" pitchFamily="34" charset="-122"/>
                <a:cs typeface="Roboto" pitchFamily="34" charset="-120"/>
              </a:rPr>
              <a:t>Key Contribution</a:t>
            </a:r>
            <a:endParaRPr lang="en-US" sz="1050" dirty="0"/>
          </a:p>
        </p:txBody>
      </p:sp>
      <p:sp>
        <p:nvSpPr>
          <p:cNvPr id="8" name="Text 6"/>
          <p:cNvSpPr/>
          <p:nvPr/>
        </p:nvSpPr>
        <p:spPr>
          <a:xfrm>
            <a:off x="7457242" y="2910721"/>
            <a:ext cx="1763316" cy="177760"/>
          </a:xfrm>
          <a:prstGeom prst="rect">
            <a:avLst/>
          </a:prstGeom>
          <a:noFill/>
          <a:ln/>
        </p:spPr>
        <p:txBody>
          <a:bodyPr wrap="none" lIns="0" tIns="0" rIns="0" bIns="0" rtlCol="0" anchor="t"/>
          <a:lstStyle/>
          <a:p>
            <a:pPr marL="0" indent="0" algn="l">
              <a:lnSpc>
                <a:spcPts val="1400"/>
              </a:lnSpc>
              <a:buNone/>
            </a:pPr>
            <a:r>
              <a:rPr lang="en-US" sz="1050" b="1" dirty="0">
                <a:solidFill>
                  <a:srgbClr val="15213F"/>
                </a:solidFill>
                <a:latin typeface="Roboto" pitchFamily="34" charset="0"/>
                <a:ea typeface="Roboto" pitchFamily="34" charset="-122"/>
                <a:cs typeface="Roboto" pitchFamily="34" charset="-120"/>
              </a:rPr>
              <a:t>Research Area</a:t>
            </a:r>
            <a:endParaRPr lang="en-US" sz="1050" dirty="0"/>
          </a:p>
        </p:txBody>
      </p:sp>
      <p:sp>
        <p:nvSpPr>
          <p:cNvPr id="9" name="Text 7"/>
          <p:cNvSpPr/>
          <p:nvPr/>
        </p:nvSpPr>
        <p:spPr>
          <a:xfrm>
            <a:off x="9504402" y="2910721"/>
            <a:ext cx="2445782" cy="177760"/>
          </a:xfrm>
          <a:prstGeom prst="rect">
            <a:avLst/>
          </a:prstGeom>
          <a:noFill/>
          <a:ln/>
        </p:spPr>
        <p:txBody>
          <a:bodyPr wrap="none" lIns="0" tIns="0" rIns="0" bIns="0" rtlCol="0" anchor="t"/>
          <a:lstStyle/>
          <a:p>
            <a:pPr marL="0" indent="0" algn="l">
              <a:lnSpc>
                <a:spcPts val="1400"/>
              </a:lnSpc>
              <a:buNone/>
            </a:pPr>
            <a:r>
              <a:rPr lang="en-US" sz="1050" b="1" dirty="0">
                <a:solidFill>
                  <a:srgbClr val="15213F"/>
                </a:solidFill>
                <a:latin typeface="Roboto" pitchFamily="34" charset="0"/>
                <a:ea typeface="Roboto" pitchFamily="34" charset="-122"/>
                <a:cs typeface="Roboto" pitchFamily="34" charset="-120"/>
              </a:rPr>
              <a:t>Relevance to EduHinglish</a:t>
            </a:r>
            <a:endParaRPr lang="en-US" sz="1050" dirty="0"/>
          </a:p>
        </p:txBody>
      </p:sp>
      <p:sp>
        <p:nvSpPr>
          <p:cNvPr id="10" name="Text 8"/>
          <p:cNvSpPr/>
          <p:nvPr/>
        </p:nvSpPr>
        <p:spPr>
          <a:xfrm>
            <a:off x="12234029" y="2910721"/>
            <a:ext cx="1767126" cy="177760"/>
          </a:xfrm>
          <a:prstGeom prst="rect">
            <a:avLst/>
          </a:prstGeom>
          <a:noFill/>
          <a:ln/>
        </p:spPr>
        <p:txBody>
          <a:bodyPr wrap="none" lIns="0" tIns="0" rIns="0" bIns="0" rtlCol="0" anchor="t"/>
          <a:lstStyle/>
          <a:p>
            <a:pPr marL="0" indent="0" algn="l">
              <a:lnSpc>
                <a:spcPts val="1400"/>
              </a:lnSpc>
              <a:buNone/>
            </a:pPr>
            <a:r>
              <a:rPr lang="en-US" sz="1050" b="1" dirty="0">
                <a:solidFill>
                  <a:srgbClr val="15213F"/>
                </a:solidFill>
                <a:latin typeface="Roboto" pitchFamily="34" charset="0"/>
                <a:ea typeface="Roboto" pitchFamily="34" charset="-122"/>
                <a:cs typeface="Roboto" pitchFamily="34" charset="-120"/>
              </a:rPr>
              <a:t>Main Key Points</a:t>
            </a:r>
            <a:endParaRPr lang="en-US" sz="1050" dirty="0"/>
          </a:p>
        </p:txBody>
      </p:sp>
      <p:sp>
        <p:nvSpPr>
          <p:cNvPr id="11" name="Shape 9"/>
          <p:cNvSpPr/>
          <p:nvPr/>
        </p:nvSpPr>
        <p:spPr>
          <a:xfrm>
            <a:off x="491133" y="3146584"/>
            <a:ext cx="13648134" cy="471726"/>
          </a:xfrm>
          <a:prstGeom prst="rect">
            <a:avLst/>
          </a:prstGeom>
          <a:solidFill>
            <a:srgbClr val="000000">
              <a:alpha val="4000"/>
            </a:srgbClr>
          </a:solidFill>
          <a:ln/>
        </p:spPr>
      </p:sp>
      <p:sp>
        <p:nvSpPr>
          <p:cNvPr id="12" name="Text 10"/>
          <p:cNvSpPr/>
          <p:nvPr/>
        </p:nvSpPr>
        <p:spPr>
          <a:xfrm>
            <a:off x="629483" y="3204686"/>
            <a:ext cx="402312" cy="177760"/>
          </a:xfrm>
          <a:prstGeom prst="rect">
            <a:avLst/>
          </a:prstGeom>
          <a:noFill/>
          <a:ln/>
        </p:spPr>
        <p:txBody>
          <a:bodyPr wrap="none" lIns="0" tIns="0" rIns="0" bIns="0" rtlCol="0" anchor="t"/>
          <a:lstStyle/>
          <a:p>
            <a:pPr marL="0" indent="0" algn="l">
              <a:lnSpc>
                <a:spcPts val="1400"/>
              </a:lnSpc>
              <a:buNone/>
            </a:pPr>
            <a:r>
              <a:rPr lang="en-US" sz="1050" dirty="0">
                <a:solidFill>
                  <a:srgbClr val="15213F"/>
                </a:solidFill>
                <a:latin typeface="Roboto" pitchFamily="34" charset="0"/>
                <a:ea typeface="Roboto" pitchFamily="34" charset="-122"/>
                <a:cs typeface="Roboto" pitchFamily="34" charset="-120"/>
              </a:rPr>
              <a:t>1</a:t>
            </a:r>
            <a:endParaRPr lang="en-US" sz="1050" dirty="0"/>
          </a:p>
        </p:txBody>
      </p:sp>
      <p:sp>
        <p:nvSpPr>
          <p:cNvPr id="13" name="Text 11"/>
          <p:cNvSpPr/>
          <p:nvPr/>
        </p:nvSpPr>
        <p:spPr>
          <a:xfrm>
            <a:off x="1315641" y="3204686"/>
            <a:ext cx="3128129" cy="177760"/>
          </a:xfrm>
          <a:prstGeom prst="rect">
            <a:avLst/>
          </a:prstGeom>
          <a:noFill/>
          <a:ln/>
        </p:spPr>
        <p:txBody>
          <a:bodyPr wrap="none" lIns="0" tIns="0" rIns="0" bIns="0" rtlCol="0" anchor="t"/>
          <a:lstStyle/>
          <a:p>
            <a:pPr marL="0" indent="0" algn="l">
              <a:lnSpc>
                <a:spcPts val="1400"/>
              </a:lnSpc>
              <a:buNone/>
            </a:pPr>
            <a:r>
              <a:rPr lang="en-US" sz="1050" dirty="0">
                <a:solidFill>
                  <a:srgbClr val="15213F"/>
                </a:solidFill>
                <a:latin typeface="Roboto" pitchFamily="34" charset="0"/>
                <a:ea typeface="Roboto" pitchFamily="34" charset="-122"/>
                <a:cs typeface="Roboto" pitchFamily="34" charset="-120"/>
              </a:rPr>
              <a:t>Challenges of Annotating Code-Switching Data</a:t>
            </a:r>
            <a:endParaRPr lang="en-US" sz="1050" dirty="0"/>
          </a:p>
        </p:txBody>
      </p:sp>
      <p:sp>
        <p:nvSpPr>
          <p:cNvPr id="14" name="Text 12"/>
          <p:cNvSpPr/>
          <p:nvPr/>
        </p:nvSpPr>
        <p:spPr>
          <a:xfrm>
            <a:off x="4727615" y="3204686"/>
            <a:ext cx="2445782" cy="355521"/>
          </a:xfrm>
          <a:prstGeom prst="rect">
            <a:avLst/>
          </a:prstGeom>
          <a:noFill/>
          <a:ln/>
        </p:spPr>
        <p:txBody>
          <a:bodyPr wrap="square" lIns="0" tIns="0" rIns="0" bIns="0" rtlCol="0" anchor="t"/>
          <a:lstStyle/>
          <a:p>
            <a:pPr marL="0" indent="0" algn="l">
              <a:lnSpc>
                <a:spcPts val="1400"/>
              </a:lnSpc>
              <a:buNone/>
            </a:pPr>
            <a:r>
              <a:rPr lang="en-US" sz="1050" dirty="0">
                <a:solidFill>
                  <a:srgbClr val="15213F"/>
                </a:solidFill>
                <a:latin typeface="Roboto" pitchFamily="34" charset="0"/>
                <a:ea typeface="Roboto" pitchFamily="34" charset="-122"/>
                <a:cs typeface="Roboto" pitchFamily="34" charset="-120"/>
              </a:rPr>
              <a:t>Monolingual NLP tools fail on code-mixed text</a:t>
            </a:r>
            <a:endParaRPr lang="en-US" sz="1050" dirty="0"/>
          </a:p>
        </p:txBody>
      </p:sp>
      <p:sp>
        <p:nvSpPr>
          <p:cNvPr id="15" name="Text 13"/>
          <p:cNvSpPr/>
          <p:nvPr/>
        </p:nvSpPr>
        <p:spPr>
          <a:xfrm>
            <a:off x="7457242" y="3204686"/>
            <a:ext cx="1763316" cy="355521"/>
          </a:xfrm>
          <a:prstGeom prst="rect">
            <a:avLst/>
          </a:prstGeom>
          <a:noFill/>
          <a:ln/>
        </p:spPr>
        <p:txBody>
          <a:bodyPr wrap="square" lIns="0" tIns="0" rIns="0" bIns="0" rtlCol="0" anchor="t"/>
          <a:lstStyle/>
          <a:p>
            <a:pPr marL="0" indent="0" algn="l">
              <a:lnSpc>
                <a:spcPts val="1400"/>
              </a:lnSpc>
              <a:buNone/>
            </a:pPr>
            <a:r>
              <a:rPr lang="en-US" sz="1050" dirty="0">
                <a:solidFill>
                  <a:srgbClr val="15213F"/>
                </a:solidFill>
                <a:latin typeface="Roboto" pitchFamily="34" charset="0"/>
                <a:ea typeface="Roboto" pitchFamily="34" charset="-122"/>
                <a:cs typeface="Roboto" pitchFamily="34" charset="-120"/>
              </a:rPr>
              <a:t>Code-Switching Fundamentals</a:t>
            </a:r>
            <a:endParaRPr lang="en-US" sz="1050" dirty="0"/>
          </a:p>
        </p:txBody>
      </p:sp>
      <p:sp>
        <p:nvSpPr>
          <p:cNvPr id="16" name="Text 14"/>
          <p:cNvSpPr/>
          <p:nvPr/>
        </p:nvSpPr>
        <p:spPr>
          <a:xfrm>
            <a:off x="9504402" y="3204686"/>
            <a:ext cx="2445782" cy="355521"/>
          </a:xfrm>
          <a:prstGeom prst="rect">
            <a:avLst/>
          </a:prstGeom>
          <a:noFill/>
          <a:ln/>
        </p:spPr>
        <p:txBody>
          <a:bodyPr wrap="square" lIns="0" tIns="0" rIns="0" bIns="0" rtlCol="0" anchor="t"/>
          <a:lstStyle/>
          <a:p>
            <a:pPr marL="0" indent="0" algn="l">
              <a:lnSpc>
                <a:spcPts val="1400"/>
              </a:lnSpc>
              <a:buNone/>
            </a:pPr>
            <a:r>
              <a:rPr lang="en-US" sz="1050" dirty="0">
                <a:solidFill>
                  <a:srgbClr val="15213F"/>
                </a:solidFill>
                <a:latin typeface="Roboto" pitchFamily="34" charset="0"/>
                <a:ea typeface="Roboto" pitchFamily="34" charset="-122"/>
                <a:cs typeface="Roboto" pitchFamily="34" charset="-120"/>
              </a:rPr>
              <a:t>Validates M1 need; proves standard NLP is insufficient</a:t>
            </a:r>
            <a:endParaRPr lang="en-US" sz="1050" dirty="0"/>
          </a:p>
        </p:txBody>
      </p:sp>
      <p:sp>
        <p:nvSpPr>
          <p:cNvPr id="17" name="Text 15"/>
          <p:cNvSpPr/>
          <p:nvPr/>
        </p:nvSpPr>
        <p:spPr>
          <a:xfrm>
            <a:off x="12234029" y="3204686"/>
            <a:ext cx="1767126" cy="177760"/>
          </a:xfrm>
          <a:prstGeom prst="rect">
            <a:avLst/>
          </a:prstGeom>
          <a:noFill/>
          <a:ln/>
        </p:spPr>
        <p:txBody>
          <a:bodyPr wrap="none" lIns="0" tIns="0" rIns="0" bIns="0" rtlCol="0" anchor="t"/>
          <a:lstStyle/>
          <a:p>
            <a:pPr marL="0" indent="0" algn="l">
              <a:lnSpc>
                <a:spcPts val="1400"/>
              </a:lnSpc>
              <a:buNone/>
            </a:pPr>
            <a:r>
              <a:rPr lang="en-US" sz="1050" dirty="0">
                <a:solidFill>
                  <a:srgbClr val="15213F"/>
                </a:solidFill>
                <a:latin typeface="Roboto" pitchFamily="34" charset="0"/>
                <a:ea typeface="Roboto" pitchFamily="34" charset="-122"/>
                <a:cs typeface="Roboto" pitchFamily="34" charset="-120"/>
              </a:rPr>
              <a:t>Custom pipeline needed</a:t>
            </a:r>
            <a:endParaRPr lang="en-US" sz="1050" dirty="0"/>
          </a:p>
        </p:txBody>
      </p:sp>
      <p:sp>
        <p:nvSpPr>
          <p:cNvPr id="18" name="Shape 16"/>
          <p:cNvSpPr/>
          <p:nvPr/>
        </p:nvSpPr>
        <p:spPr>
          <a:xfrm>
            <a:off x="491133" y="3618309"/>
            <a:ext cx="13648134" cy="471726"/>
          </a:xfrm>
          <a:prstGeom prst="rect">
            <a:avLst/>
          </a:prstGeom>
          <a:solidFill>
            <a:srgbClr val="FFFFFF">
              <a:alpha val="4000"/>
            </a:srgbClr>
          </a:solidFill>
          <a:ln/>
        </p:spPr>
      </p:sp>
      <p:sp>
        <p:nvSpPr>
          <p:cNvPr id="19" name="Text 17"/>
          <p:cNvSpPr/>
          <p:nvPr/>
        </p:nvSpPr>
        <p:spPr>
          <a:xfrm>
            <a:off x="629483" y="3676412"/>
            <a:ext cx="402312" cy="177760"/>
          </a:xfrm>
          <a:prstGeom prst="rect">
            <a:avLst/>
          </a:prstGeom>
          <a:noFill/>
          <a:ln/>
        </p:spPr>
        <p:txBody>
          <a:bodyPr wrap="none" lIns="0" tIns="0" rIns="0" bIns="0" rtlCol="0" anchor="t"/>
          <a:lstStyle/>
          <a:p>
            <a:pPr marL="0" indent="0" algn="l">
              <a:lnSpc>
                <a:spcPts val="1400"/>
              </a:lnSpc>
              <a:buNone/>
            </a:pPr>
            <a:r>
              <a:rPr lang="en-US" sz="1050" dirty="0">
                <a:solidFill>
                  <a:srgbClr val="15213F"/>
                </a:solidFill>
                <a:latin typeface="Roboto" pitchFamily="34" charset="0"/>
                <a:ea typeface="Roboto" pitchFamily="34" charset="-122"/>
                <a:cs typeface="Roboto" pitchFamily="34" charset="-120"/>
              </a:rPr>
              <a:t>2</a:t>
            </a:r>
            <a:endParaRPr lang="en-US" sz="1050" dirty="0"/>
          </a:p>
        </p:txBody>
      </p:sp>
      <p:sp>
        <p:nvSpPr>
          <p:cNvPr id="20" name="Text 18"/>
          <p:cNvSpPr/>
          <p:nvPr/>
        </p:nvSpPr>
        <p:spPr>
          <a:xfrm>
            <a:off x="1315641" y="3676412"/>
            <a:ext cx="3128129" cy="355521"/>
          </a:xfrm>
          <a:prstGeom prst="rect">
            <a:avLst/>
          </a:prstGeom>
          <a:noFill/>
          <a:ln/>
        </p:spPr>
        <p:txBody>
          <a:bodyPr wrap="square" lIns="0" tIns="0" rIns="0" bIns="0" rtlCol="0" anchor="t"/>
          <a:lstStyle/>
          <a:p>
            <a:pPr marL="0" indent="0" algn="l">
              <a:lnSpc>
                <a:spcPts val="1400"/>
              </a:lnSpc>
              <a:buNone/>
            </a:pPr>
            <a:r>
              <a:rPr lang="en-US" sz="1050" dirty="0">
                <a:solidFill>
                  <a:srgbClr val="15213F"/>
                </a:solidFill>
                <a:latin typeface="Roboto" pitchFamily="34" charset="0"/>
                <a:ea typeface="Roboto" pitchFamily="34" charset="-122"/>
                <a:cs typeface="Roboto" pitchFamily="34" charset="-120"/>
              </a:rPr>
              <a:t>Survey of Code-Switching in Speech and Language Processing</a:t>
            </a:r>
            <a:endParaRPr lang="en-US" sz="1050" dirty="0"/>
          </a:p>
        </p:txBody>
      </p:sp>
      <p:sp>
        <p:nvSpPr>
          <p:cNvPr id="21" name="Text 19"/>
          <p:cNvSpPr/>
          <p:nvPr/>
        </p:nvSpPr>
        <p:spPr>
          <a:xfrm>
            <a:off x="4727615" y="3676412"/>
            <a:ext cx="2445782" cy="355521"/>
          </a:xfrm>
          <a:prstGeom prst="rect">
            <a:avLst/>
          </a:prstGeom>
          <a:noFill/>
          <a:ln/>
        </p:spPr>
        <p:txBody>
          <a:bodyPr wrap="square" lIns="0" tIns="0" rIns="0" bIns="0" rtlCol="0" anchor="t"/>
          <a:lstStyle/>
          <a:p>
            <a:pPr marL="0" indent="0" algn="l">
              <a:lnSpc>
                <a:spcPts val="1400"/>
              </a:lnSpc>
              <a:buNone/>
            </a:pPr>
            <a:r>
              <a:rPr lang="en-US" sz="1050" dirty="0">
                <a:solidFill>
                  <a:srgbClr val="15213F"/>
                </a:solidFill>
                <a:latin typeface="Roboto" pitchFamily="34" charset="0"/>
                <a:ea typeface="Roboto" pitchFamily="34" charset="-122"/>
                <a:cs typeface="Roboto" pitchFamily="34" charset="-120"/>
              </a:rPr>
              <a:t>Catalog of CS datasets; linguistic theories for code-mixing</a:t>
            </a:r>
            <a:endParaRPr lang="en-US" sz="1050" dirty="0"/>
          </a:p>
        </p:txBody>
      </p:sp>
      <p:sp>
        <p:nvSpPr>
          <p:cNvPr id="22" name="Text 20"/>
          <p:cNvSpPr/>
          <p:nvPr/>
        </p:nvSpPr>
        <p:spPr>
          <a:xfrm>
            <a:off x="7457242" y="3676412"/>
            <a:ext cx="1763316" cy="355521"/>
          </a:xfrm>
          <a:prstGeom prst="rect">
            <a:avLst/>
          </a:prstGeom>
          <a:noFill/>
          <a:ln/>
        </p:spPr>
        <p:txBody>
          <a:bodyPr wrap="square" lIns="0" tIns="0" rIns="0" bIns="0" rtlCol="0" anchor="t"/>
          <a:lstStyle/>
          <a:p>
            <a:pPr marL="0" indent="0" algn="l">
              <a:lnSpc>
                <a:spcPts val="1400"/>
              </a:lnSpc>
              <a:buNone/>
            </a:pPr>
            <a:r>
              <a:rPr lang="en-US" sz="1050" dirty="0">
                <a:solidFill>
                  <a:srgbClr val="15213F"/>
                </a:solidFill>
                <a:latin typeface="Roboto" pitchFamily="34" charset="0"/>
                <a:ea typeface="Roboto" pitchFamily="34" charset="-122"/>
                <a:cs typeface="Roboto" pitchFamily="34" charset="-120"/>
              </a:rPr>
              <a:t>Code-Switching Fundamentals</a:t>
            </a:r>
            <a:endParaRPr lang="en-US" sz="1050" dirty="0"/>
          </a:p>
        </p:txBody>
      </p:sp>
      <p:sp>
        <p:nvSpPr>
          <p:cNvPr id="23" name="Text 21"/>
          <p:cNvSpPr/>
          <p:nvPr/>
        </p:nvSpPr>
        <p:spPr>
          <a:xfrm>
            <a:off x="9504402" y="3676412"/>
            <a:ext cx="2445782" cy="355521"/>
          </a:xfrm>
          <a:prstGeom prst="rect">
            <a:avLst/>
          </a:prstGeom>
          <a:noFill/>
          <a:ln/>
        </p:spPr>
        <p:txBody>
          <a:bodyPr wrap="square" lIns="0" tIns="0" rIns="0" bIns="0" rtlCol="0" anchor="t"/>
          <a:lstStyle/>
          <a:p>
            <a:pPr marL="0" indent="0" algn="l">
              <a:lnSpc>
                <a:spcPts val="1400"/>
              </a:lnSpc>
              <a:buNone/>
            </a:pPr>
            <a:r>
              <a:rPr lang="en-US" sz="1050" dirty="0">
                <a:solidFill>
                  <a:srgbClr val="15213F"/>
                </a:solidFill>
                <a:latin typeface="Roboto" pitchFamily="34" charset="0"/>
                <a:ea typeface="Roboto" pitchFamily="34" charset="-122"/>
                <a:cs typeface="Roboto" pitchFamily="34" charset="-120"/>
              </a:rPr>
              <a:t>Theoretical basis for our LID and CMI computation</a:t>
            </a:r>
            <a:endParaRPr lang="en-US" sz="1050" dirty="0"/>
          </a:p>
        </p:txBody>
      </p:sp>
      <p:sp>
        <p:nvSpPr>
          <p:cNvPr id="24" name="Text 22"/>
          <p:cNvSpPr/>
          <p:nvPr/>
        </p:nvSpPr>
        <p:spPr>
          <a:xfrm>
            <a:off x="12234029" y="3676412"/>
            <a:ext cx="1767126" cy="355521"/>
          </a:xfrm>
          <a:prstGeom prst="rect">
            <a:avLst/>
          </a:prstGeom>
          <a:noFill/>
          <a:ln/>
        </p:spPr>
        <p:txBody>
          <a:bodyPr wrap="square" lIns="0" tIns="0" rIns="0" bIns="0" rtlCol="0" anchor="t"/>
          <a:lstStyle/>
          <a:p>
            <a:pPr marL="0" indent="0" algn="l">
              <a:lnSpc>
                <a:spcPts val="1400"/>
              </a:lnSpc>
              <a:buNone/>
            </a:pPr>
            <a:r>
              <a:rPr lang="en-US" sz="1050" dirty="0">
                <a:solidFill>
                  <a:srgbClr val="15213F"/>
                </a:solidFill>
                <a:latin typeface="Roboto" pitchFamily="34" charset="0"/>
                <a:ea typeface="Roboto" pitchFamily="34" charset="-122"/>
                <a:cs typeface="Roboto" pitchFamily="34" charset="-120"/>
              </a:rPr>
              <a:t>SAIL/LINCE datasets available</a:t>
            </a:r>
            <a:endParaRPr lang="en-US" sz="1050" dirty="0"/>
          </a:p>
        </p:txBody>
      </p:sp>
      <p:sp>
        <p:nvSpPr>
          <p:cNvPr id="25" name="Shape 23"/>
          <p:cNvSpPr/>
          <p:nvPr/>
        </p:nvSpPr>
        <p:spPr>
          <a:xfrm>
            <a:off x="491133" y="4090035"/>
            <a:ext cx="13648134" cy="471726"/>
          </a:xfrm>
          <a:prstGeom prst="rect">
            <a:avLst/>
          </a:prstGeom>
          <a:solidFill>
            <a:srgbClr val="000000">
              <a:alpha val="4000"/>
            </a:srgbClr>
          </a:solidFill>
          <a:ln/>
        </p:spPr>
      </p:sp>
      <p:sp>
        <p:nvSpPr>
          <p:cNvPr id="26" name="Text 24"/>
          <p:cNvSpPr/>
          <p:nvPr/>
        </p:nvSpPr>
        <p:spPr>
          <a:xfrm>
            <a:off x="629483" y="4148138"/>
            <a:ext cx="402312" cy="177760"/>
          </a:xfrm>
          <a:prstGeom prst="rect">
            <a:avLst/>
          </a:prstGeom>
          <a:noFill/>
          <a:ln/>
        </p:spPr>
        <p:txBody>
          <a:bodyPr wrap="none" lIns="0" tIns="0" rIns="0" bIns="0" rtlCol="0" anchor="t"/>
          <a:lstStyle/>
          <a:p>
            <a:pPr marL="0" indent="0" algn="l">
              <a:lnSpc>
                <a:spcPts val="1400"/>
              </a:lnSpc>
              <a:buNone/>
            </a:pPr>
            <a:r>
              <a:rPr lang="en-US" sz="1050" dirty="0">
                <a:solidFill>
                  <a:srgbClr val="15213F"/>
                </a:solidFill>
                <a:latin typeface="Roboto" pitchFamily="34" charset="0"/>
                <a:ea typeface="Roboto" pitchFamily="34" charset="-122"/>
                <a:cs typeface="Roboto" pitchFamily="34" charset="-120"/>
              </a:rPr>
              <a:t>3</a:t>
            </a:r>
            <a:endParaRPr lang="en-US" sz="1050" dirty="0"/>
          </a:p>
        </p:txBody>
      </p:sp>
      <p:sp>
        <p:nvSpPr>
          <p:cNvPr id="27" name="Text 25"/>
          <p:cNvSpPr/>
          <p:nvPr/>
        </p:nvSpPr>
        <p:spPr>
          <a:xfrm>
            <a:off x="1315641" y="4148138"/>
            <a:ext cx="3128129" cy="177760"/>
          </a:xfrm>
          <a:prstGeom prst="rect">
            <a:avLst/>
          </a:prstGeom>
          <a:noFill/>
          <a:ln/>
        </p:spPr>
        <p:txBody>
          <a:bodyPr wrap="none" lIns="0" tIns="0" rIns="0" bIns="0" rtlCol="0" anchor="t"/>
          <a:lstStyle/>
          <a:p>
            <a:pPr marL="0" indent="0" algn="l">
              <a:lnSpc>
                <a:spcPts val="1400"/>
              </a:lnSpc>
              <a:buNone/>
            </a:pPr>
            <a:r>
              <a:rPr lang="en-US" sz="1050" dirty="0">
                <a:solidFill>
                  <a:srgbClr val="15213F"/>
                </a:solidFill>
                <a:latin typeface="Roboto" pitchFamily="34" charset="0"/>
                <a:ea typeface="Roboto" pitchFamily="34" charset="-122"/>
                <a:cs typeface="Roboto" pitchFamily="34" charset="-120"/>
              </a:rPr>
              <a:t>A Decade of Code-Switching Research in NLP</a:t>
            </a:r>
            <a:endParaRPr lang="en-US" sz="1050" dirty="0"/>
          </a:p>
        </p:txBody>
      </p:sp>
      <p:sp>
        <p:nvSpPr>
          <p:cNvPr id="28" name="Text 26"/>
          <p:cNvSpPr/>
          <p:nvPr/>
        </p:nvSpPr>
        <p:spPr>
          <a:xfrm>
            <a:off x="4727615" y="4148138"/>
            <a:ext cx="2445782" cy="355521"/>
          </a:xfrm>
          <a:prstGeom prst="rect">
            <a:avLst/>
          </a:prstGeom>
          <a:noFill/>
          <a:ln/>
        </p:spPr>
        <p:txBody>
          <a:bodyPr wrap="square" lIns="0" tIns="0" rIns="0" bIns="0" rtlCol="0" anchor="t"/>
          <a:lstStyle/>
          <a:p>
            <a:pPr marL="0" indent="0" algn="l">
              <a:lnSpc>
                <a:spcPts val="1400"/>
              </a:lnSpc>
              <a:buNone/>
            </a:pPr>
            <a:r>
              <a:rPr lang="en-US" sz="1050" dirty="0">
                <a:solidFill>
                  <a:srgbClr val="15213F"/>
                </a:solidFill>
                <a:latin typeface="Roboto" pitchFamily="34" charset="0"/>
                <a:ea typeface="Roboto" pitchFamily="34" charset="-122"/>
                <a:cs typeface="Roboto" pitchFamily="34" charset="-120"/>
              </a:rPr>
              <a:t>400+ papers analyzed; GLUECoS &amp; LinCE benchmarks introduced</a:t>
            </a:r>
            <a:endParaRPr lang="en-US" sz="1050" dirty="0"/>
          </a:p>
        </p:txBody>
      </p:sp>
      <p:sp>
        <p:nvSpPr>
          <p:cNvPr id="29" name="Text 27"/>
          <p:cNvSpPr/>
          <p:nvPr/>
        </p:nvSpPr>
        <p:spPr>
          <a:xfrm>
            <a:off x="7457242" y="4148138"/>
            <a:ext cx="1763316" cy="355521"/>
          </a:xfrm>
          <a:prstGeom prst="rect">
            <a:avLst/>
          </a:prstGeom>
          <a:noFill/>
          <a:ln/>
        </p:spPr>
        <p:txBody>
          <a:bodyPr wrap="square" lIns="0" tIns="0" rIns="0" bIns="0" rtlCol="0" anchor="t"/>
          <a:lstStyle/>
          <a:p>
            <a:pPr marL="0" indent="0" algn="l">
              <a:lnSpc>
                <a:spcPts val="1400"/>
              </a:lnSpc>
              <a:buNone/>
            </a:pPr>
            <a:r>
              <a:rPr lang="en-US" sz="1050" dirty="0">
                <a:solidFill>
                  <a:srgbClr val="15213F"/>
                </a:solidFill>
                <a:latin typeface="Roboto" pitchFamily="34" charset="0"/>
                <a:ea typeface="Roboto" pitchFamily="34" charset="-122"/>
                <a:cs typeface="Roboto" pitchFamily="34" charset="-120"/>
              </a:rPr>
              <a:t>Code-Switching Fundamentals</a:t>
            </a:r>
            <a:endParaRPr lang="en-US" sz="1050" dirty="0"/>
          </a:p>
        </p:txBody>
      </p:sp>
      <p:sp>
        <p:nvSpPr>
          <p:cNvPr id="30" name="Text 28"/>
          <p:cNvSpPr/>
          <p:nvPr/>
        </p:nvSpPr>
        <p:spPr>
          <a:xfrm>
            <a:off x="9504402" y="4148138"/>
            <a:ext cx="2445782" cy="355521"/>
          </a:xfrm>
          <a:prstGeom prst="rect">
            <a:avLst/>
          </a:prstGeom>
          <a:noFill/>
          <a:ln/>
        </p:spPr>
        <p:txBody>
          <a:bodyPr wrap="square" lIns="0" tIns="0" rIns="0" bIns="0" rtlCol="0" anchor="t"/>
          <a:lstStyle/>
          <a:p>
            <a:pPr marL="0" indent="0" algn="l">
              <a:lnSpc>
                <a:spcPts val="1400"/>
              </a:lnSpc>
              <a:buNone/>
            </a:pPr>
            <a:r>
              <a:rPr lang="en-US" sz="1050" dirty="0">
                <a:solidFill>
                  <a:srgbClr val="15213F"/>
                </a:solidFill>
                <a:latin typeface="Roboto" pitchFamily="34" charset="0"/>
                <a:ea typeface="Roboto" pitchFamily="34" charset="-122"/>
                <a:cs typeface="Roboto" pitchFamily="34" charset="-120"/>
              </a:rPr>
              <a:t>Benchmark standards we will use for M1 evaluation</a:t>
            </a:r>
            <a:endParaRPr lang="en-US" sz="1050" dirty="0"/>
          </a:p>
        </p:txBody>
      </p:sp>
      <p:sp>
        <p:nvSpPr>
          <p:cNvPr id="31" name="Text 29"/>
          <p:cNvSpPr/>
          <p:nvPr/>
        </p:nvSpPr>
        <p:spPr>
          <a:xfrm>
            <a:off x="12234029" y="4148138"/>
            <a:ext cx="1767126" cy="355521"/>
          </a:xfrm>
          <a:prstGeom prst="rect">
            <a:avLst/>
          </a:prstGeom>
          <a:noFill/>
          <a:ln/>
        </p:spPr>
        <p:txBody>
          <a:bodyPr wrap="square" lIns="0" tIns="0" rIns="0" bIns="0" rtlCol="0" anchor="t"/>
          <a:lstStyle/>
          <a:p>
            <a:pPr marL="0" indent="0" algn="l">
              <a:lnSpc>
                <a:spcPts val="1400"/>
              </a:lnSpc>
              <a:buNone/>
            </a:pPr>
            <a:r>
              <a:rPr lang="en-US" sz="1050" dirty="0">
                <a:solidFill>
                  <a:srgbClr val="15213F"/>
                </a:solidFill>
                <a:latin typeface="Roboto" pitchFamily="34" charset="0"/>
                <a:ea typeface="Roboto" pitchFamily="34" charset="-122"/>
                <a:cs typeface="Roboto" pitchFamily="34" charset="-120"/>
              </a:rPr>
              <a:t>GLUECoS/LinCE for evaluating</a:t>
            </a:r>
            <a:endParaRPr lang="en-US" sz="1050" dirty="0"/>
          </a:p>
        </p:txBody>
      </p:sp>
      <p:sp>
        <p:nvSpPr>
          <p:cNvPr id="32" name="Shape 30"/>
          <p:cNvSpPr/>
          <p:nvPr/>
        </p:nvSpPr>
        <p:spPr>
          <a:xfrm>
            <a:off x="491133" y="4561761"/>
            <a:ext cx="13648134" cy="471726"/>
          </a:xfrm>
          <a:prstGeom prst="rect">
            <a:avLst/>
          </a:prstGeom>
          <a:solidFill>
            <a:srgbClr val="FFFFFF">
              <a:alpha val="4000"/>
            </a:srgbClr>
          </a:solidFill>
          <a:ln/>
        </p:spPr>
      </p:sp>
      <p:sp>
        <p:nvSpPr>
          <p:cNvPr id="33" name="Text 31"/>
          <p:cNvSpPr/>
          <p:nvPr/>
        </p:nvSpPr>
        <p:spPr>
          <a:xfrm>
            <a:off x="629483" y="4619863"/>
            <a:ext cx="402312" cy="177760"/>
          </a:xfrm>
          <a:prstGeom prst="rect">
            <a:avLst/>
          </a:prstGeom>
          <a:noFill/>
          <a:ln/>
        </p:spPr>
        <p:txBody>
          <a:bodyPr wrap="none" lIns="0" tIns="0" rIns="0" bIns="0" rtlCol="0" anchor="t"/>
          <a:lstStyle/>
          <a:p>
            <a:pPr marL="0" indent="0" algn="l">
              <a:lnSpc>
                <a:spcPts val="1400"/>
              </a:lnSpc>
              <a:buNone/>
            </a:pPr>
            <a:r>
              <a:rPr lang="en-US" sz="1050" dirty="0">
                <a:solidFill>
                  <a:srgbClr val="15213F"/>
                </a:solidFill>
                <a:latin typeface="Roboto" pitchFamily="34" charset="0"/>
                <a:ea typeface="Roboto" pitchFamily="34" charset="-122"/>
                <a:cs typeface="Roboto" pitchFamily="34" charset="-120"/>
              </a:rPr>
              <a:t>4</a:t>
            </a:r>
            <a:endParaRPr lang="en-US" sz="1050" dirty="0"/>
          </a:p>
        </p:txBody>
      </p:sp>
      <p:sp>
        <p:nvSpPr>
          <p:cNvPr id="34" name="Text 32"/>
          <p:cNvSpPr/>
          <p:nvPr/>
        </p:nvSpPr>
        <p:spPr>
          <a:xfrm>
            <a:off x="1315641" y="4619863"/>
            <a:ext cx="3128129" cy="177760"/>
          </a:xfrm>
          <a:prstGeom prst="rect">
            <a:avLst/>
          </a:prstGeom>
          <a:noFill/>
          <a:ln/>
        </p:spPr>
        <p:txBody>
          <a:bodyPr wrap="none" lIns="0" tIns="0" rIns="0" bIns="0" rtlCol="0" anchor="t"/>
          <a:lstStyle/>
          <a:p>
            <a:pPr marL="0" indent="0" algn="l">
              <a:lnSpc>
                <a:spcPts val="1400"/>
              </a:lnSpc>
              <a:buNone/>
            </a:pPr>
            <a:r>
              <a:rPr lang="en-US" sz="1050" dirty="0">
                <a:solidFill>
                  <a:srgbClr val="15213F"/>
                </a:solidFill>
                <a:latin typeface="Roboto" pitchFamily="34" charset="0"/>
                <a:ea typeface="Roboto" pitchFamily="34" charset="-122"/>
                <a:cs typeface="Roboto" pitchFamily="34" charset="-120"/>
              </a:rPr>
              <a:t>NLP for Education: Taxonomy and Challenges</a:t>
            </a:r>
            <a:endParaRPr lang="en-US" sz="1050" dirty="0"/>
          </a:p>
        </p:txBody>
      </p:sp>
      <p:sp>
        <p:nvSpPr>
          <p:cNvPr id="35" name="Text 33"/>
          <p:cNvSpPr/>
          <p:nvPr/>
        </p:nvSpPr>
        <p:spPr>
          <a:xfrm>
            <a:off x="4727615" y="4619863"/>
            <a:ext cx="2445782" cy="355521"/>
          </a:xfrm>
          <a:prstGeom prst="rect">
            <a:avLst/>
          </a:prstGeom>
          <a:noFill/>
          <a:ln/>
        </p:spPr>
        <p:txBody>
          <a:bodyPr wrap="square" lIns="0" tIns="0" rIns="0" bIns="0" rtlCol="0" anchor="t"/>
          <a:lstStyle/>
          <a:p>
            <a:pPr marL="0" indent="0" algn="l">
              <a:lnSpc>
                <a:spcPts val="1400"/>
              </a:lnSpc>
              <a:buNone/>
            </a:pPr>
            <a:r>
              <a:rPr lang="en-US" sz="1050" dirty="0">
                <a:solidFill>
                  <a:srgbClr val="15213F"/>
                </a:solidFill>
                <a:latin typeface="Roboto" pitchFamily="34" charset="0"/>
                <a:ea typeface="Roboto" pitchFamily="34" charset="-122"/>
                <a:cs typeface="Roboto" pitchFamily="34" charset="-120"/>
              </a:rPr>
              <a:t>4 educational AI tasks — QA and GEC directly map to our system</a:t>
            </a:r>
            <a:endParaRPr lang="en-US" sz="1050" dirty="0"/>
          </a:p>
        </p:txBody>
      </p:sp>
      <p:sp>
        <p:nvSpPr>
          <p:cNvPr id="36" name="Text 34"/>
          <p:cNvSpPr/>
          <p:nvPr/>
        </p:nvSpPr>
        <p:spPr>
          <a:xfrm>
            <a:off x="7457242" y="4619863"/>
            <a:ext cx="1763316" cy="177760"/>
          </a:xfrm>
          <a:prstGeom prst="rect">
            <a:avLst/>
          </a:prstGeom>
          <a:noFill/>
          <a:ln/>
        </p:spPr>
        <p:txBody>
          <a:bodyPr wrap="none" lIns="0" tIns="0" rIns="0" bIns="0" rtlCol="0" anchor="t"/>
          <a:lstStyle/>
          <a:p>
            <a:pPr marL="0" indent="0" algn="l">
              <a:lnSpc>
                <a:spcPts val="1400"/>
              </a:lnSpc>
              <a:buNone/>
            </a:pPr>
            <a:r>
              <a:rPr lang="en-US" sz="1050" dirty="0">
                <a:solidFill>
                  <a:srgbClr val="15213F"/>
                </a:solidFill>
                <a:latin typeface="Roboto" pitchFamily="34" charset="0"/>
                <a:ea typeface="Roboto" pitchFamily="34" charset="-122"/>
                <a:cs typeface="Roboto" pitchFamily="34" charset="-120"/>
              </a:rPr>
              <a:t>NLP for Education</a:t>
            </a:r>
            <a:endParaRPr lang="en-US" sz="1050" dirty="0"/>
          </a:p>
        </p:txBody>
      </p:sp>
      <p:sp>
        <p:nvSpPr>
          <p:cNvPr id="37" name="Text 35"/>
          <p:cNvSpPr/>
          <p:nvPr/>
        </p:nvSpPr>
        <p:spPr>
          <a:xfrm>
            <a:off x="9504402" y="4619863"/>
            <a:ext cx="2445782" cy="355521"/>
          </a:xfrm>
          <a:prstGeom prst="rect">
            <a:avLst/>
          </a:prstGeom>
          <a:noFill/>
          <a:ln/>
        </p:spPr>
        <p:txBody>
          <a:bodyPr wrap="square" lIns="0" tIns="0" rIns="0" bIns="0" rtlCol="0" anchor="t"/>
          <a:lstStyle/>
          <a:p>
            <a:pPr marL="0" indent="0" algn="l">
              <a:lnSpc>
                <a:spcPts val="1400"/>
              </a:lnSpc>
              <a:buNone/>
            </a:pPr>
            <a:r>
              <a:rPr lang="en-US" sz="1050" dirty="0">
                <a:solidFill>
                  <a:srgbClr val="15213F"/>
                </a:solidFill>
                <a:latin typeface="Roboto" pitchFamily="34" charset="0"/>
                <a:ea typeface="Roboto" pitchFamily="34" charset="-122"/>
                <a:cs typeface="Roboto" pitchFamily="34" charset="-120"/>
              </a:rPr>
              <a:t>Defines our task framing; QA = M2+M3, GEC = M4</a:t>
            </a:r>
            <a:endParaRPr lang="en-US" sz="1050" dirty="0"/>
          </a:p>
        </p:txBody>
      </p:sp>
      <p:sp>
        <p:nvSpPr>
          <p:cNvPr id="38" name="Text 36"/>
          <p:cNvSpPr/>
          <p:nvPr/>
        </p:nvSpPr>
        <p:spPr>
          <a:xfrm>
            <a:off x="12234029" y="4619863"/>
            <a:ext cx="1767126" cy="355521"/>
          </a:xfrm>
          <a:prstGeom prst="rect">
            <a:avLst/>
          </a:prstGeom>
          <a:noFill/>
          <a:ln/>
        </p:spPr>
        <p:txBody>
          <a:bodyPr wrap="square" lIns="0" tIns="0" rIns="0" bIns="0" rtlCol="0" anchor="t"/>
          <a:lstStyle/>
          <a:p>
            <a:pPr marL="0" indent="0" algn="l">
              <a:lnSpc>
                <a:spcPts val="1400"/>
              </a:lnSpc>
              <a:buNone/>
            </a:pPr>
            <a:r>
              <a:rPr lang="en-US" sz="1050" dirty="0">
                <a:solidFill>
                  <a:srgbClr val="15213F"/>
                </a:solidFill>
                <a:latin typeface="Roboto" pitchFamily="34" charset="0"/>
                <a:ea typeface="Roboto" pitchFamily="34" charset="-122"/>
                <a:cs typeface="Roboto" pitchFamily="34" charset="-120"/>
              </a:rPr>
              <a:t>Architectural map confirms modules</a:t>
            </a:r>
            <a:endParaRPr lang="en-US" sz="1050" dirty="0"/>
          </a:p>
        </p:txBody>
      </p:sp>
      <p:sp>
        <p:nvSpPr>
          <p:cNvPr id="39" name="Shape 37"/>
          <p:cNvSpPr/>
          <p:nvPr/>
        </p:nvSpPr>
        <p:spPr>
          <a:xfrm>
            <a:off x="491133" y="5033486"/>
            <a:ext cx="13648134" cy="471726"/>
          </a:xfrm>
          <a:prstGeom prst="rect">
            <a:avLst/>
          </a:prstGeom>
          <a:solidFill>
            <a:srgbClr val="000000">
              <a:alpha val="4000"/>
            </a:srgbClr>
          </a:solidFill>
          <a:ln/>
        </p:spPr>
      </p:sp>
      <p:sp>
        <p:nvSpPr>
          <p:cNvPr id="40" name="Text 38"/>
          <p:cNvSpPr/>
          <p:nvPr/>
        </p:nvSpPr>
        <p:spPr>
          <a:xfrm>
            <a:off x="629483" y="5091589"/>
            <a:ext cx="402312" cy="177760"/>
          </a:xfrm>
          <a:prstGeom prst="rect">
            <a:avLst/>
          </a:prstGeom>
          <a:noFill/>
          <a:ln/>
        </p:spPr>
        <p:txBody>
          <a:bodyPr wrap="none" lIns="0" tIns="0" rIns="0" bIns="0" rtlCol="0" anchor="t"/>
          <a:lstStyle/>
          <a:p>
            <a:pPr marL="0" indent="0" algn="l">
              <a:lnSpc>
                <a:spcPts val="1400"/>
              </a:lnSpc>
              <a:buNone/>
            </a:pPr>
            <a:r>
              <a:rPr lang="en-US" sz="1050" dirty="0">
                <a:solidFill>
                  <a:srgbClr val="15213F"/>
                </a:solidFill>
                <a:latin typeface="Roboto" pitchFamily="34" charset="0"/>
                <a:ea typeface="Roboto" pitchFamily="34" charset="-122"/>
                <a:cs typeface="Roboto" pitchFamily="34" charset="-120"/>
              </a:rPr>
              <a:t>5</a:t>
            </a:r>
            <a:endParaRPr lang="en-US" sz="1050" dirty="0"/>
          </a:p>
        </p:txBody>
      </p:sp>
      <p:sp>
        <p:nvSpPr>
          <p:cNvPr id="41" name="Text 39"/>
          <p:cNvSpPr/>
          <p:nvPr/>
        </p:nvSpPr>
        <p:spPr>
          <a:xfrm>
            <a:off x="1315641" y="5091589"/>
            <a:ext cx="3128129" cy="355521"/>
          </a:xfrm>
          <a:prstGeom prst="rect">
            <a:avLst/>
          </a:prstGeom>
          <a:noFill/>
          <a:ln/>
        </p:spPr>
        <p:txBody>
          <a:bodyPr wrap="square" lIns="0" tIns="0" rIns="0" bIns="0" rtlCol="0" anchor="t"/>
          <a:lstStyle/>
          <a:p>
            <a:pPr marL="0" indent="0" algn="l">
              <a:lnSpc>
                <a:spcPts val="1400"/>
              </a:lnSpc>
              <a:buNone/>
            </a:pPr>
            <a:r>
              <a:rPr lang="en-US" sz="1050" dirty="0">
                <a:solidFill>
                  <a:srgbClr val="15213F"/>
                </a:solidFill>
                <a:latin typeface="Roboto" pitchFamily="34" charset="0"/>
                <a:ea typeface="Roboto" pitchFamily="34" charset="-122"/>
                <a:cs typeface="Roboto" pitchFamily="34" charset="-120"/>
              </a:rPr>
              <a:t>Prompt-based Learning for Code-Switched Classification</a:t>
            </a:r>
            <a:endParaRPr lang="en-US" sz="1050" dirty="0"/>
          </a:p>
        </p:txBody>
      </p:sp>
      <p:sp>
        <p:nvSpPr>
          <p:cNvPr id="42" name="Text 40"/>
          <p:cNvSpPr/>
          <p:nvPr/>
        </p:nvSpPr>
        <p:spPr>
          <a:xfrm>
            <a:off x="4727615" y="5091589"/>
            <a:ext cx="2445782" cy="355521"/>
          </a:xfrm>
          <a:prstGeom prst="rect">
            <a:avLst/>
          </a:prstGeom>
          <a:noFill/>
          <a:ln/>
        </p:spPr>
        <p:txBody>
          <a:bodyPr wrap="square" lIns="0" tIns="0" rIns="0" bIns="0" rtlCol="0" anchor="t"/>
          <a:lstStyle/>
          <a:p>
            <a:pPr marL="0" indent="0" algn="l">
              <a:lnSpc>
                <a:spcPts val="1400"/>
              </a:lnSpc>
              <a:buNone/>
            </a:pPr>
            <a:r>
              <a:rPr lang="en-US" sz="1050" dirty="0">
                <a:solidFill>
                  <a:srgbClr val="15213F"/>
                </a:solidFill>
                <a:latin typeface="Roboto" pitchFamily="34" charset="0"/>
                <a:ea typeface="Roboto" pitchFamily="34" charset="-122"/>
                <a:cs typeface="Roboto" pitchFamily="34" charset="-120"/>
              </a:rPr>
              <a:t>Prompt-based learning achieves high CS performance with less compute</a:t>
            </a:r>
            <a:endParaRPr lang="en-US" sz="1050" dirty="0"/>
          </a:p>
        </p:txBody>
      </p:sp>
      <p:sp>
        <p:nvSpPr>
          <p:cNvPr id="43" name="Text 41"/>
          <p:cNvSpPr/>
          <p:nvPr/>
        </p:nvSpPr>
        <p:spPr>
          <a:xfrm>
            <a:off x="7457242" y="5091589"/>
            <a:ext cx="1763316" cy="177760"/>
          </a:xfrm>
          <a:prstGeom prst="rect">
            <a:avLst/>
          </a:prstGeom>
          <a:noFill/>
          <a:ln/>
        </p:spPr>
        <p:txBody>
          <a:bodyPr wrap="none" lIns="0" tIns="0" rIns="0" bIns="0" rtlCol="0" anchor="t"/>
          <a:lstStyle/>
          <a:p>
            <a:pPr marL="0" indent="0" algn="l">
              <a:lnSpc>
                <a:spcPts val="1400"/>
              </a:lnSpc>
              <a:buNone/>
            </a:pPr>
            <a:r>
              <a:rPr lang="en-US" sz="1050" dirty="0">
                <a:solidFill>
                  <a:srgbClr val="15213F"/>
                </a:solidFill>
                <a:latin typeface="Roboto" pitchFamily="34" charset="0"/>
                <a:ea typeface="Roboto" pitchFamily="34" charset="-122"/>
                <a:cs typeface="Roboto" pitchFamily="34" charset="-120"/>
              </a:rPr>
              <a:t>Modern Techniques</a:t>
            </a:r>
            <a:endParaRPr lang="en-US" sz="1050" dirty="0"/>
          </a:p>
        </p:txBody>
      </p:sp>
      <p:sp>
        <p:nvSpPr>
          <p:cNvPr id="44" name="Text 42"/>
          <p:cNvSpPr/>
          <p:nvPr/>
        </p:nvSpPr>
        <p:spPr>
          <a:xfrm>
            <a:off x="9504402" y="5091589"/>
            <a:ext cx="2445782" cy="177760"/>
          </a:xfrm>
          <a:prstGeom prst="rect">
            <a:avLst/>
          </a:prstGeom>
          <a:noFill/>
          <a:ln/>
        </p:spPr>
        <p:txBody>
          <a:bodyPr wrap="none" lIns="0" tIns="0" rIns="0" bIns="0" rtlCol="0" anchor="t"/>
          <a:lstStyle/>
          <a:p>
            <a:pPr marL="0" indent="0" algn="l">
              <a:lnSpc>
                <a:spcPts val="1400"/>
              </a:lnSpc>
              <a:buNone/>
            </a:pPr>
            <a:r>
              <a:rPr lang="en-US" sz="1050" dirty="0">
                <a:solidFill>
                  <a:srgbClr val="15213F"/>
                </a:solidFill>
                <a:latin typeface="Roboto" pitchFamily="34" charset="0"/>
                <a:ea typeface="Roboto" pitchFamily="34" charset="-122"/>
                <a:cs typeface="Roboto" pitchFamily="34" charset="-120"/>
              </a:rPr>
              <a:t>Guides our prompting strategy for M3</a:t>
            </a:r>
            <a:endParaRPr lang="en-US" sz="1050" dirty="0"/>
          </a:p>
        </p:txBody>
      </p:sp>
      <p:sp>
        <p:nvSpPr>
          <p:cNvPr id="45" name="Text 43"/>
          <p:cNvSpPr/>
          <p:nvPr/>
        </p:nvSpPr>
        <p:spPr>
          <a:xfrm>
            <a:off x="12234029" y="5091589"/>
            <a:ext cx="1767126" cy="355521"/>
          </a:xfrm>
          <a:prstGeom prst="rect">
            <a:avLst/>
          </a:prstGeom>
          <a:noFill/>
          <a:ln/>
        </p:spPr>
        <p:txBody>
          <a:bodyPr wrap="square" lIns="0" tIns="0" rIns="0" bIns="0" rtlCol="0" anchor="t"/>
          <a:lstStyle/>
          <a:p>
            <a:pPr marL="0" indent="0" algn="l">
              <a:lnSpc>
                <a:spcPts val="1400"/>
              </a:lnSpc>
              <a:buNone/>
            </a:pPr>
            <a:r>
              <a:rPr lang="en-US" sz="1050" dirty="0">
                <a:solidFill>
                  <a:srgbClr val="15213F"/>
                </a:solidFill>
                <a:latin typeface="Roboto" pitchFamily="34" charset="0"/>
                <a:ea typeface="Roboto" pitchFamily="34" charset="-122"/>
                <a:cs typeface="Roboto" pitchFamily="34" charset="-120"/>
              </a:rPr>
              <a:t>High performance, low compute</a:t>
            </a:r>
            <a:endParaRPr lang="en-US" sz="1050" dirty="0"/>
          </a:p>
        </p:txBody>
      </p:sp>
      <p:sp>
        <p:nvSpPr>
          <p:cNvPr id="46" name="Shape 44"/>
          <p:cNvSpPr/>
          <p:nvPr/>
        </p:nvSpPr>
        <p:spPr>
          <a:xfrm>
            <a:off x="491133" y="5505212"/>
            <a:ext cx="13648134" cy="471726"/>
          </a:xfrm>
          <a:prstGeom prst="rect">
            <a:avLst/>
          </a:prstGeom>
          <a:solidFill>
            <a:srgbClr val="FFFFFF">
              <a:alpha val="4000"/>
            </a:srgbClr>
          </a:solidFill>
          <a:ln/>
        </p:spPr>
      </p:sp>
      <p:sp>
        <p:nvSpPr>
          <p:cNvPr id="47" name="Text 45"/>
          <p:cNvSpPr/>
          <p:nvPr/>
        </p:nvSpPr>
        <p:spPr>
          <a:xfrm>
            <a:off x="629483" y="5563314"/>
            <a:ext cx="402312" cy="177760"/>
          </a:xfrm>
          <a:prstGeom prst="rect">
            <a:avLst/>
          </a:prstGeom>
          <a:noFill/>
          <a:ln/>
        </p:spPr>
        <p:txBody>
          <a:bodyPr wrap="none" lIns="0" tIns="0" rIns="0" bIns="0" rtlCol="0" anchor="t"/>
          <a:lstStyle/>
          <a:p>
            <a:pPr marL="0" indent="0" algn="l">
              <a:lnSpc>
                <a:spcPts val="1400"/>
              </a:lnSpc>
              <a:buNone/>
            </a:pPr>
            <a:r>
              <a:rPr lang="en-US" sz="1050" dirty="0">
                <a:solidFill>
                  <a:srgbClr val="15213F"/>
                </a:solidFill>
                <a:latin typeface="Roboto" pitchFamily="34" charset="0"/>
                <a:ea typeface="Roboto" pitchFamily="34" charset="-122"/>
                <a:cs typeface="Roboto" pitchFamily="34" charset="-120"/>
              </a:rPr>
              <a:t>6</a:t>
            </a:r>
            <a:endParaRPr lang="en-US" sz="1050" dirty="0"/>
          </a:p>
        </p:txBody>
      </p:sp>
      <p:sp>
        <p:nvSpPr>
          <p:cNvPr id="48" name="Text 46"/>
          <p:cNvSpPr/>
          <p:nvPr/>
        </p:nvSpPr>
        <p:spPr>
          <a:xfrm>
            <a:off x="1315641" y="5563314"/>
            <a:ext cx="3128129" cy="355521"/>
          </a:xfrm>
          <a:prstGeom prst="rect">
            <a:avLst/>
          </a:prstGeom>
          <a:noFill/>
          <a:ln/>
        </p:spPr>
        <p:txBody>
          <a:bodyPr wrap="square" lIns="0" tIns="0" rIns="0" bIns="0" rtlCol="0" anchor="t"/>
          <a:lstStyle/>
          <a:p>
            <a:pPr marL="0" indent="0" algn="l">
              <a:lnSpc>
                <a:spcPts val="1400"/>
              </a:lnSpc>
              <a:buNone/>
            </a:pPr>
            <a:r>
              <a:rPr lang="en-US" sz="1050" dirty="0">
                <a:solidFill>
                  <a:srgbClr val="15213F"/>
                </a:solidFill>
                <a:latin typeface="Roboto" pitchFamily="34" charset="0"/>
                <a:ea typeface="Roboto" pitchFamily="34" charset="-122"/>
                <a:cs typeface="Roboto" pitchFamily="34" charset="-120"/>
              </a:rPr>
              <a:t>LLM Multilingual Generation for Code-Mixed Languages</a:t>
            </a:r>
            <a:endParaRPr lang="en-US" sz="1050" dirty="0"/>
          </a:p>
        </p:txBody>
      </p:sp>
      <p:sp>
        <p:nvSpPr>
          <p:cNvPr id="49" name="Text 47"/>
          <p:cNvSpPr/>
          <p:nvPr/>
        </p:nvSpPr>
        <p:spPr>
          <a:xfrm>
            <a:off x="4727615" y="5563314"/>
            <a:ext cx="2445782" cy="355521"/>
          </a:xfrm>
          <a:prstGeom prst="rect">
            <a:avLst/>
          </a:prstGeom>
          <a:noFill/>
          <a:ln/>
        </p:spPr>
        <p:txBody>
          <a:bodyPr wrap="square" lIns="0" tIns="0" rIns="0" bIns="0" rtlCol="0" anchor="t"/>
          <a:lstStyle/>
          <a:p>
            <a:pPr marL="0" indent="0" algn="l">
              <a:lnSpc>
                <a:spcPts val="1400"/>
              </a:lnSpc>
              <a:buNone/>
            </a:pPr>
            <a:r>
              <a:rPr lang="en-US" sz="1050" dirty="0">
                <a:solidFill>
                  <a:srgbClr val="15213F"/>
                </a:solidFill>
                <a:latin typeface="Roboto" pitchFamily="34" charset="0"/>
                <a:ea typeface="Roboto" pitchFamily="34" charset="-122"/>
                <a:cs typeface="Roboto" pitchFamily="34" charset="-120"/>
              </a:rPr>
              <a:t>LLaMA generates natural Hinglish — proof of concept for generator</a:t>
            </a:r>
            <a:endParaRPr lang="en-US" sz="1050" dirty="0"/>
          </a:p>
        </p:txBody>
      </p:sp>
      <p:sp>
        <p:nvSpPr>
          <p:cNvPr id="50" name="Text 48"/>
          <p:cNvSpPr/>
          <p:nvPr/>
        </p:nvSpPr>
        <p:spPr>
          <a:xfrm>
            <a:off x="7457242" y="5563314"/>
            <a:ext cx="1763316" cy="177760"/>
          </a:xfrm>
          <a:prstGeom prst="rect">
            <a:avLst/>
          </a:prstGeom>
          <a:noFill/>
          <a:ln/>
        </p:spPr>
        <p:txBody>
          <a:bodyPr wrap="none" lIns="0" tIns="0" rIns="0" bIns="0" rtlCol="0" anchor="t"/>
          <a:lstStyle/>
          <a:p>
            <a:pPr marL="0" indent="0" algn="l">
              <a:lnSpc>
                <a:spcPts val="1400"/>
              </a:lnSpc>
              <a:buNone/>
            </a:pPr>
            <a:r>
              <a:rPr lang="en-US" sz="1050" dirty="0">
                <a:solidFill>
                  <a:srgbClr val="15213F"/>
                </a:solidFill>
                <a:latin typeface="Roboto" pitchFamily="34" charset="0"/>
                <a:ea typeface="Roboto" pitchFamily="34" charset="-122"/>
                <a:cs typeface="Roboto" pitchFamily="34" charset="-120"/>
              </a:rPr>
              <a:t>Modern Techniques</a:t>
            </a:r>
            <a:endParaRPr lang="en-US" sz="1050" dirty="0"/>
          </a:p>
        </p:txBody>
      </p:sp>
      <p:sp>
        <p:nvSpPr>
          <p:cNvPr id="51" name="Text 49"/>
          <p:cNvSpPr/>
          <p:nvPr/>
        </p:nvSpPr>
        <p:spPr>
          <a:xfrm>
            <a:off x="9504402" y="5563314"/>
            <a:ext cx="2445782" cy="355521"/>
          </a:xfrm>
          <a:prstGeom prst="rect">
            <a:avLst/>
          </a:prstGeom>
          <a:noFill/>
          <a:ln/>
        </p:spPr>
        <p:txBody>
          <a:bodyPr wrap="square" lIns="0" tIns="0" rIns="0" bIns="0" rtlCol="0" anchor="t"/>
          <a:lstStyle/>
          <a:p>
            <a:pPr marL="0" indent="0" algn="l">
              <a:lnSpc>
                <a:spcPts val="1400"/>
              </a:lnSpc>
              <a:buNone/>
            </a:pPr>
            <a:r>
              <a:rPr lang="en-US" sz="1050" dirty="0">
                <a:solidFill>
                  <a:srgbClr val="15213F"/>
                </a:solidFill>
                <a:latin typeface="Roboto" pitchFamily="34" charset="0"/>
                <a:ea typeface="Roboto" pitchFamily="34" charset="-122"/>
                <a:cs typeface="Roboto" pitchFamily="34" charset="-120"/>
              </a:rPr>
              <a:t>Direct evidence that LLaMA is the right choice for M3</a:t>
            </a:r>
            <a:endParaRPr lang="en-US" sz="1050" dirty="0"/>
          </a:p>
        </p:txBody>
      </p:sp>
      <p:sp>
        <p:nvSpPr>
          <p:cNvPr id="52" name="Text 50"/>
          <p:cNvSpPr/>
          <p:nvPr/>
        </p:nvSpPr>
        <p:spPr>
          <a:xfrm>
            <a:off x="12234029" y="5563314"/>
            <a:ext cx="1767126" cy="177760"/>
          </a:xfrm>
          <a:prstGeom prst="rect">
            <a:avLst/>
          </a:prstGeom>
          <a:noFill/>
          <a:ln/>
        </p:spPr>
        <p:txBody>
          <a:bodyPr wrap="none" lIns="0" tIns="0" rIns="0" bIns="0" rtlCol="0" anchor="t"/>
          <a:lstStyle/>
          <a:p>
            <a:pPr marL="0" indent="0" algn="l">
              <a:lnSpc>
                <a:spcPts val="1400"/>
              </a:lnSpc>
              <a:buNone/>
            </a:pPr>
            <a:r>
              <a:rPr lang="en-US" sz="1050" dirty="0">
                <a:solidFill>
                  <a:srgbClr val="15213F"/>
                </a:solidFill>
                <a:latin typeface="Roboto" pitchFamily="34" charset="0"/>
                <a:ea typeface="Roboto" pitchFamily="34" charset="-122"/>
                <a:cs typeface="Roboto" pitchFamily="34" charset="-120"/>
              </a:rPr>
              <a:t>LLM CAN generate Hinglish</a:t>
            </a:r>
            <a:endParaRPr lang="en-US" sz="1050" dirty="0"/>
          </a:p>
        </p:txBody>
      </p:sp>
      <p:pic>
        <p:nvPicPr>
          <p:cNvPr id="54" name="Picture 53">
            <a:extLst>
              <a:ext uri="{FF2B5EF4-FFF2-40B4-BE49-F238E27FC236}">
                <a16:creationId xmlns:a16="http://schemas.microsoft.com/office/drawing/2014/main" id="{C1479424-8166-B5B1-B393-7A1611E12FC9}"/>
              </a:ext>
            </a:extLst>
          </p:cNvPr>
          <p:cNvPicPr>
            <a:picLocks noChangeAspect="1"/>
          </p:cNvPicPr>
          <p:nvPr/>
        </p:nvPicPr>
        <p:blipFill>
          <a:blip r:embed="rId3"/>
          <a:stretch>
            <a:fillRect/>
          </a:stretch>
        </p:blipFill>
        <p:spPr>
          <a:xfrm>
            <a:off x="12839450" y="7715178"/>
            <a:ext cx="1790950" cy="51442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54950" y="1795820"/>
            <a:ext cx="7270790" cy="495419"/>
          </a:xfrm>
          <a:prstGeom prst="rect">
            <a:avLst/>
          </a:prstGeom>
          <a:noFill/>
          <a:ln/>
        </p:spPr>
        <p:txBody>
          <a:bodyPr wrap="none" lIns="0" tIns="0" rIns="0" bIns="0" rtlCol="0" anchor="t"/>
          <a:lstStyle/>
          <a:p>
            <a:pPr marL="0" indent="0" algn="l">
              <a:lnSpc>
                <a:spcPts val="3900"/>
              </a:lnSpc>
              <a:buNone/>
            </a:pPr>
            <a:r>
              <a:rPr lang="en-US" sz="3100" dirty="0">
                <a:solidFill>
                  <a:srgbClr val="3257B8"/>
                </a:solidFill>
                <a:latin typeface="Roboto Slab" pitchFamily="34" charset="0"/>
                <a:ea typeface="Roboto Slab" pitchFamily="34" charset="-122"/>
                <a:cs typeface="Roboto Slab" pitchFamily="34" charset="-120"/>
              </a:rPr>
              <a:t>Literature Survey — Part 2 (Papers 7-11)</a:t>
            </a:r>
            <a:endParaRPr lang="en-US" sz="3100" dirty="0"/>
          </a:p>
        </p:txBody>
      </p:sp>
      <p:sp>
        <p:nvSpPr>
          <p:cNvPr id="3" name="Shape 1"/>
          <p:cNvSpPr/>
          <p:nvPr/>
        </p:nvSpPr>
        <p:spPr>
          <a:xfrm>
            <a:off x="554950" y="2512814"/>
            <a:ext cx="13520499" cy="3920966"/>
          </a:xfrm>
          <a:prstGeom prst="roundRect">
            <a:avLst>
              <a:gd name="adj" fmla="val 607"/>
            </a:avLst>
          </a:prstGeom>
          <a:noFill/>
          <a:ln w="7620">
            <a:solidFill>
              <a:srgbClr val="000000">
                <a:alpha val="8000"/>
              </a:srgbClr>
            </a:solidFill>
            <a:prstDash val="solid"/>
          </a:ln>
        </p:spPr>
      </p:sp>
      <p:sp>
        <p:nvSpPr>
          <p:cNvPr id="4" name="Shape 2"/>
          <p:cNvSpPr/>
          <p:nvPr/>
        </p:nvSpPr>
        <p:spPr>
          <a:xfrm>
            <a:off x="562570" y="2520434"/>
            <a:ext cx="13505259" cy="363617"/>
          </a:xfrm>
          <a:prstGeom prst="rect">
            <a:avLst/>
          </a:prstGeom>
          <a:solidFill>
            <a:srgbClr val="FFFFFF">
              <a:alpha val="4000"/>
            </a:srgbClr>
          </a:solidFill>
          <a:ln/>
        </p:spPr>
      </p:sp>
      <p:sp>
        <p:nvSpPr>
          <p:cNvPr id="5" name="Text 3"/>
          <p:cNvSpPr/>
          <p:nvPr/>
        </p:nvSpPr>
        <p:spPr>
          <a:xfrm>
            <a:off x="721281" y="2594491"/>
            <a:ext cx="354449" cy="215503"/>
          </a:xfrm>
          <a:prstGeom prst="rect">
            <a:avLst/>
          </a:prstGeom>
          <a:noFill/>
          <a:ln/>
        </p:spPr>
        <p:txBody>
          <a:bodyPr wrap="none" lIns="0" tIns="0" rIns="0" bIns="0" rtlCol="0" anchor="t"/>
          <a:lstStyle/>
          <a:p>
            <a:pPr marL="0" indent="0" algn="l">
              <a:lnSpc>
                <a:spcPts val="1650"/>
              </a:lnSpc>
              <a:buNone/>
            </a:pPr>
            <a:r>
              <a:rPr lang="en-US" sz="1200" b="1" dirty="0">
                <a:solidFill>
                  <a:srgbClr val="15213F"/>
                </a:solidFill>
                <a:latin typeface="Roboto" pitchFamily="34" charset="0"/>
                <a:ea typeface="Roboto" pitchFamily="34" charset="-122"/>
                <a:cs typeface="Roboto" pitchFamily="34" charset="-120"/>
              </a:rPr>
              <a:t>#</a:t>
            </a:r>
            <a:endParaRPr lang="en-US" sz="1200" dirty="0"/>
          </a:p>
        </p:txBody>
      </p:sp>
      <p:sp>
        <p:nvSpPr>
          <p:cNvPr id="6" name="Text 4"/>
          <p:cNvSpPr/>
          <p:nvPr/>
        </p:nvSpPr>
        <p:spPr>
          <a:xfrm>
            <a:off x="1400294" y="2594491"/>
            <a:ext cx="3051691" cy="215503"/>
          </a:xfrm>
          <a:prstGeom prst="rect">
            <a:avLst/>
          </a:prstGeom>
          <a:noFill/>
          <a:ln/>
        </p:spPr>
        <p:txBody>
          <a:bodyPr wrap="none" lIns="0" tIns="0" rIns="0" bIns="0" rtlCol="0" anchor="t"/>
          <a:lstStyle/>
          <a:p>
            <a:pPr marL="0" indent="0" algn="l">
              <a:lnSpc>
                <a:spcPts val="1650"/>
              </a:lnSpc>
              <a:buNone/>
            </a:pPr>
            <a:r>
              <a:rPr lang="en-US" sz="1200" b="1" dirty="0">
                <a:solidFill>
                  <a:srgbClr val="15213F"/>
                </a:solidFill>
                <a:latin typeface="Roboto" pitchFamily="34" charset="0"/>
                <a:ea typeface="Roboto" pitchFamily="34" charset="-122"/>
                <a:cs typeface="Roboto" pitchFamily="34" charset="-120"/>
              </a:rPr>
              <a:t>Title</a:t>
            </a:r>
            <a:endParaRPr lang="en-US" sz="1200" dirty="0"/>
          </a:p>
        </p:txBody>
      </p:sp>
      <p:sp>
        <p:nvSpPr>
          <p:cNvPr id="7" name="Text 5"/>
          <p:cNvSpPr/>
          <p:nvPr/>
        </p:nvSpPr>
        <p:spPr>
          <a:xfrm>
            <a:off x="4776549" y="2594491"/>
            <a:ext cx="2376487" cy="215503"/>
          </a:xfrm>
          <a:prstGeom prst="rect">
            <a:avLst/>
          </a:prstGeom>
          <a:noFill/>
          <a:ln/>
        </p:spPr>
        <p:txBody>
          <a:bodyPr wrap="none" lIns="0" tIns="0" rIns="0" bIns="0" rtlCol="0" anchor="t"/>
          <a:lstStyle/>
          <a:p>
            <a:pPr marL="0" indent="0" algn="l">
              <a:lnSpc>
                <a:spcPts val="1650"/>
              </a:lnSpc>
              <a:buNone/>
            </a:pPr>
            <a:r>
              <a:rPr lang="en-US" sz="1200" b="1" dirty="0">
                <a:solidFill>
                  <a:srgbClr val="15213F"/>
                </a:solidFill>
                <a:latin typeface="Roboto" pitchFamily="34" charset="0"/>
                <a:ea typeface="Roboto" pitchFamily="34" charset="-122"/>
                <a:cs typeface="Roboto" pitchFamily="34" charset="-120"/>
              </a:rPr>
              <a:t>Key Contribution</a:t>
            </a:r>
            <a:endParaRPr lang="en-US" sz="1200" dirty="0"/>
          </a:p>
        </p:txBody>
      </p:sp>
      <p:sp>
        <p:nvSpPr>
          <p:cNvPr id="8" name="Text 6"/>
          <p:cNvSpPr/>
          <p:nvPr/>
        </p:nvSpPr>
        <p:spPr>
          <a:xfrm>
            <a:off x="7477601" y="2594491"/>
            <a:ext cx="1701165" cy="215503"/>
          </a:xfrm>
          <a:prstGeom prst="rect">
            <a:avLst/>
          </a:prstGeom>
          <a:noFill/>
          <a:ln/>
        </p:spPr>
        <p:txBody>
          <a:bodyPr wrap="none" lIns="0" tIns="0" rIns="0" bIns="0" rtlCol="0" anchor="t"/>
          <a:lstStyle/>
          <a:p>
            <a:pPr marL="0" indent="0" algn="l">
              <a:lnSpc>
                <a:spcPts val="1650"/>
              </a:lnSpc>
              <a:buNone/>
            </a:pPr>
            <a:r>
              <a:rPr lang="en-US" sz="1200" b="1" dirty="0">
                <a:solidFill>
                  <a:srgbClr val="15213F"/>
                </a:solidFill>
                <a:latin typeface="Roboto" pitchFamily="34" charset="0"/>
                <a:ea typeface="Roboto" pitchFamily="34" charset="-122"/>
                <a:cs typeface="Roboto" pitchFamily="34" charset="-120"/>
              </a:rPr>
              <a:t>Research Area</a:t>
            </a:r>
            <a:endParaRPr lang="en-US" sz="1200" dirty="0"/>
          </a:p>
        </p:txBody>
      </p:sp>
      <p:sp>
        <p:nvSpPr>
          <p:cNvPr id="9" name="Text 7"/>
          <p:cNvSpPr/>
          <p:nvPr/>
        </p:nvSpPr>
        <p:spPr>
          <a:xfrm>
            <a:off x="9503331" y="2594491"/>
            <a:ext cx="2376487" cy="215503"/>
          </a:xfrm>
          <a:prstGeom prst="rect">
            <a:avLst/>
          </a:prstGeom>
          <a:noFill/>
          <a:ln/>
        </p:spPr>
        <p:txBody>
          <a:bodyPr wrap="none" lIns="0" tIns="0" rIns="0" bIns="0" rtlCol="0" anchor="t"/>
          <a:lstStyle/>
          <a:p>
            <a:pPr marL="0" indent="0" algn="l">
              <a:lnSpc>
                <a:spcPts val="1650"/>
              </a:lnSpc>
              <a:buNone/>
            </a:pPr>
            <a:r>
              <a:rPr lang="en-US" sz="1200" b="1" dirty="0">
                <a:solidFill>
                  <a:srgbClr val="15213F"/>
                </a:solidFill>
                <a:latin typeface="Roboto" pitchFamily="34" charset="0"/>
                <a:ea typeface="Roboto" pitchFamily="34" charset="-122"/>
                <a:cs typeface="Roboto" pitchFamily="34" charset="-120"/>
              </a:rPr>
              <a:t>Relevance to EduHinglish</a:t>
            </a:r>
            <a:endParaRPr lang="en-US" sz="1200" dirty="0"/>
          </a:p>
        </p:txBody>
      </p:sp>
      <p:sp>
        <p:nvSpPr>
          <p:cNvPr id="10" name="Text 8"/>
          <p:cNvSpPr/>
          <p:nvPr/>
        </p:nvSpPr>
        <p:spPr>
          <a:xfrm>
            <a:off x="12204383" y="2594491"/>
            <a:ext cx="1704975" cy="215503"/>
          </a:xfrm>
          <a:prstGeom prst="rect">
            <a:avLst/>
          </a:prstGeom>
          <a:noFill/>
          <a:ln/>
        </p:spPr>
        <p:txBody>
          <a:bodyPr wrap="none" lIns="0" tIns="0" rIns="0" bIns="0" rtlCol="0" anchor="t"/>
          <a:lstStyle/>
          <a:p>
            <a:pPr marL="0" indent="0" algn="l">
              <a:lnSpc>
                <a:spcPts val="1650"/>
              </a:lnSpc>
              <a:buNone/>
            </a:pPr>
            <a:r>
              <a:rPr lang="en-US" sz="1200" b="1" dirty="0">
                <a:solidFill>
                  <a:srgbClr val="15213F"/>
                </a:solidFill>
                <a:latin typeface="Roboto" pitchFamily="34" charset="0"/>
                <a:ea typeface="Roboto" pitchFamily="34" charset="-122"/>
                <a:cs typeface="Roboto" pitchFamily="34" charset="-120"/>
              </a:rPr>
              <a:t>Main Key Points</a:t>
            </a:r>
            <a:endParaRPr lang="en-US" sz="1200" dirty="0"/>
          </a:p>
        </p:txBody>
      </p:sp>
      <p:sp>
        <p:nvSpPr>
          <p:cNvPr id="11" name="Shape 9"/>
          <p:cNvSpPr/>
          <p:nvPr/>
        </p:nvSpPr>
        <p:spPr>
          <a:xfrm>
            <a:off x="562570" y="2884051"/>
            <a:ext cx="13505259" cy="794623"/>
          </a:xfrm>
          <a:prstGeom prst="rect">
            <a:avLst/>
          </a:prstGeom>
          <a:solidFill>
            <a:srgbClr val="000000">
              <a:alpha val="4000"/>
            </a:srgbClr>
          </a:solidFill>
          <a:ln/>
        </p:spPr>
      </p:sp>
      <p:sp>
        <p:nvSpPr>
          <p:cNvPr id="12" name="Text 10"/>
          <p:cNvSpPr/>
          <p:nvPr/>
        </p:nvSpPr>
        <p:spPr>
          <a:xfrm>
            <a:off x="721281" y="2958108"/>
            <a:ext cx="354449" cy="215503"/>
          </a:xfrm>
          <a:prstGeom prst="rect">
            <a:avLst/>
          </a:prstGeom>
          <a:noFill/>
          <a:ln/>
        </p:spPr>
        <p:txBody>
          <a:bodyPr wrap="none" lIns="0" tIns="0" rIns="0" bIns="0" rtlCol="0" anchor="t"/>
          <a:lstStyle/>
          <a:p>
            <a:pPr marL="0" indent="0" algn="l">
              <a:lnSpc>
                <a:spcPts val="1650"/>
              </a:lnSpc>
              <a:buNone/>
            </a:pPr>
            <a:r>
              <a:rPr lang="en-US" sz="1200" dirty="0">
                <a:solidFill>
                  <a:srgbClr val="15213F"/>
                </a:solidFill>
                <a:latin typeface="Roboto" pitchFamily="34" charset="0"/>
                <a:ea typeface="Roboto" pitchFamily="34" charset="-122"/>
                <a:cs typeface="Roboto" pitchFamily="34" charset="-120"/>
              </a:rPr>
              <a:t>7</a:t>
            </a:r>
            <a:endParaRPr lang="en-US" sz="1200" dirty="0"/>
          </a:p>
        </p:txBody>
      </p:sp>
      <p:sp>
        <p:nvSpPr>
          <p:cNvPr id="13" name="Text 11"/>
          <p:cNvSpPr/>
          <p:nvPr/>
        </p:nvSpPr>
        <p:spPr>
          <a:xfrm>
            <a:off x="1400294" y="2958108"/>
            <a:ext cx="3051691" cy="431006"/>
          </a:xfrm>
          <a:prstGeom prst="rect">
            <a:avLst/>
          </a:prstGeom>
          <a:noFill/>
          <a:ln/>
        </p:spPr>
        <p:txBody>
          <a:bodyPr wrap="square" lIns="0" tIns="0" rIns="0" bIns="0" rtlCol="0" anchor="t"/>
          <a:lstStyle/>
          <a:p>
            <a:pPr marL="0" indent="0" algn="l">
              <a:lnSpc>
                <a:spcPts val="1650"/>
              </a:lnSpc>
              <a:buNone/>
            </a:pPr>
            <a:r>
              <a:rPr lang="en-US" sz="1200" dirty="0">
                <a:solidFill>
                  <a:srgbClr val="15213F"/>
                </a:solidFill>
                <a:latin typeface="Roboto" pitchFamily="34" charset="0"/>
                <a:ea typeface="Roboto" pitchFamily="34" charset="-122"/>
                <a:cs typeface="Roboto" pitchFamily="34" charset="-120"/>
              </a:rPr>
              <a:t>Generative AI for Multilingual ASR in Code-Mixed Speech</a:t>
            </a:r>
            <a:endParaRPr lang="en-US" sz="1200" dirty="0"/>
          </a:p>
        </p:txBody>
      </p:sp>
      <p:sp>
        <p:nvSpPr>
          <p:cNvPr id="14" name="Text 12"/>
          <p:cNvSpPr/>
          <p:nvPr/>
        </p:nvSpPr>
        <p:spPr>
          <a:xfrm>
            <a:off x="4776549" y="2958108"/>
            <a:ext cx="2376487" cy="646509"/>
          </a:xfrm>
          <a:prstGeom prst="rect">
            <a:avLst/>
          </a:prstGeom>
          <a:noFill/>
          <a:ln/>
        </p:spPr>
        <p:txBody>
          <a:bodyPr wrap="square" lIns="0" tIns="0" rIns="0" bIns="0" rtlCol="0" anchor="t"/>
          <a:lstStyle/>
          <a:p>
            <a:pPr marL="0" indent="0" algn="l">
              <a:lnSpc>
                <a:spcPts val="1650"/>
              </a:lnSpc>
              <a:buNone/>
            </a:pPr>
            <a:r>
              <a:rPr lang="en-US" sz="1200" dirty="0">
                <a:solidFill>
                  <a:srgbClr val="15213F"/>
                </a:solidFill>
                <a:latin typeface="Roboto" pitchFamily="34" charset="0"/>
                <a:ea typeface="Roboto" pitchFamily="34" charset="-122"/>
                <a:cs typeface="Roboto" pitchFamily="34" charset="-120"/>
              </a:rPr>
              <a:t>Hybrid LSTM+GPT works for code-mixed language in domain-specific tasks</a:t>
            </a:r>
            <a:endParaRPr lang="en-US" sz="1200" dirty="0"/>
          </a:p>
        </p:txBody>
      </p:sp>
      <p:sp>
        <p:nvSpPr>
          <p:cNvPr id="15" name="Text 13"/>
          <p:cNvSpPr/>
          <p:nvPr/>
        </p:nvSpPr>
        <p:spPr>
          <a:xfrm>
            <a:off x="7477601" y="2958108"/>
            <a:ext cx="1701165" cy="215503"/>
          </a:xfrm>
          <a:prstGeom prst="rect">
            <a:avLst/>
          </a:prstGeom>
          <a:noFill/>
          <a:ln/>
        </p:spPr>
        <p:txBody>
          <a:bodyPr wrap="none" lIns="0" tIns="0" rIns="0" bIns="0" rtlCol="0" anchor="t"/>
          <a:lstStyle/>
          <a:p>
            <a:pPr marL="0" indent="0" algn="l">
              <a:lnSpc>
                <a:spcPts val="1650"/>
              </a:lnSpc>
              <a:buNone/>
            </a:pPr>
            <a:r>
              <a:rPr lang="en-US" sz="1200" dirty="0">
                <a:solidFill>
                  <a:srgbClr val="15213F"/>
                </a:solidFill>
                <a:latin typeface="Roboto" pitchFamily="34" charset="0"/>
                <a:ea typeface="Roboto" pitchFamily="34" charset="-122"/>
                <a:cs typeface="Roboto" pitchFamily="34" charset="-120"/>
              </a:rPr>
              <a:t>Modern Techniques</a:t>
            </a:r>
            <a:endParaRPr lang="en-US" sz="1200" dirty="0"/>
          </a:p>
        </p:txBody>
      </p:sp>
      <p:sp>
        <p:nvSpPr>
          <p:cNvPr id="16" name="Text 14"/>
          <p:cNvSpPr/>
          <p:nvPr/>
        </p:nvSpPr>
        <p:spPr>
          <a:xfrm>
            <a:off x="9503331" y="2958108"/>
            <a:ext cx="2376487" cy="431006"/>
          </a:xfrm>
          <a:prstGeom prst="rect">
            <a:avLst/>
          </a:prstGeom>
          <a:noFill/>
          <a:ln/>
        </p:spPr>
        <p:txBody>
          <a:bodyPr wrap="square" lIns="0" tIns="0" rIns="0" bIns="0" rtlCol="0" anchor="t"/>
          <a:lstStyle/>
          <a:p>
            <a:pPr marL="0" indent="0" algn="l">
              <a:lnSpc>
                <a:spcPts val="1650"/>
              </a:lnSpc>
              <a:buNone/>
            </a:pPr>
            <a:r>
              <a:rPr lang="en-US" sz="1200" dirty="0">
                <a:solidFill>
                  <a:srgbClr val="15213F"/>
                </a:solidFill>
                <a:latin typeface="Roboto" pitchFamily="34" charset="0"/>
                <a:ea typeface="Roboto" pitchFamily="34" charset="-122"/>
                <a:cs typeface="Roboto" pitchFamily="34" charset="-120"/>
              </a:rPr>
              <a:t>Hybrid approach consideration for M3</a:t>
            </a:r>
            <a:endParaRPr lang="en-US" sz="1200" dirty="0"/>
          </a:p>
        </p:txBody>
      </p:sp>
      <p:sp>
        <p:nvSpPr>
          <p:cNvPr id="17" name="Text 15"/>
          <p:cNvSpPr/>
          <p:nvPr/>
        </p:nvSpPr>
        <p:spPr>
          <a:xfrm>
            <a:off x="12204383" y="2958108"/>
            <a:ext cx="1704975" cy="215503"/>
          </a:xfrm>
          <a:prstGeom prst="rect">
            <a:avLst/>
          </a:prstGeom>
          <a:noFill/>
          <a:ln/>
        </p:spPr>
        <p:txBody>
          <a:bodyPr wrap="none" lIns="0" tIns="0" rIns="0" bIns="0" rtlCol="0" anchor="t"/>
          <a:lstStyle/>
          <a:p>
            <a:pPr marL="0" indent="0" algn="l">
              <a:lnSpc>
                <a:spcPts val="1650"/>
              </a:lnSpc>
              <a:buNone/>
            </a:pPr>
            <a:r>
              <a:rPr lang="en-US" sz="1200" dirty="0">
                <a:solidFill>
                  <a:srgbClr val="15213F"/>
                </a:solidFill>
                <a:latin typeface="Roboto" pitchFamily="34" charset="0"/>
                <a:ea typeface="Roboto" pitchFamily="34" charset="-122"/>
                <a:cs typeface="Roboto" pitchFamily="34" charset="-120"/>
              </a:rPr>
              <a:t>Hybrid approach works</a:t>
            </a:r>
            <a:endParaRPr lang="en-US" sz="1200" dirty="0"/>
          </a:p>
        </p:txBody>
      </p:sp>
      <p:sp>
        <p:nvSpPr>
          <p:cNvPr id="18" name="Shape 16"/>
          <p:cNvSpPr/>
          <p:nvPr/>
        </p:nvSpPr>
        <p:spPr>
          <a:xfrm>
            <a:off x="562570" y="3678674"/>
            <a:ext cx="13505259" cy="579120"/>
          </a:xfrm>
          <a:prstGeom prst="rect">
            <a:avLst/>
          </a:prstGeom>
          <a:solidFill>
            <a:srgbClr val="FFFFFF">
              <a:alpha val="4000"/>
            </a:srgbClr>
          </a:solidFill>
          <a:ln/>
        </p:spPr>
      </p:sp>
      <p:sp>
        <p:nvSpPr>
          <p:cNvPr id="19" name="Text 17"/>
          <p:cNvSpPr/>
          <p:nvPr/>
        </p:nvSpPr>
        <p:spPr>
          <a:xfrm>
            <a:off x="721281" y="3752731"/>
            <a:ext cx="354449" cy="215503"/>
          </a:xfrm>
          <a:prstGeom prst="rect">
            <a:avLst/>
          </a:prstGeom>
          <a:noFill/>
          <a:ln/>
        </p:spPr>
        <p:txBody>
          <a:bodyPr wrap="none" lIns="0" tIns="0" rIns="0" bIns="0" rtlCol="0" anchor="t"/>
          <a:lstStyle/>
          <a:p>
            <a:pPr marL="0" indent="0" algn="l">
              <a:lnSpc>
                <a:spcPts val="1650"/>
              </a:lnSpc>
              <a:buNone/>
            </a:pPr>
            <a:r>
              <a:rPr lang="en-US" sz="1200" dirty="0">
                <a:solidFill>
                  <a:srgbClr val="15213F"/>
                </a:solidFill>
                <a:latin typeface="Roboto" pitchFamily="34" charset="0"/>
                <a:ea typeface="Roboto" pitchFamily="34" charset="-122"/>
                <a:cs typeface="Roboto" pitchFamily="34" charset="-120"/>
              </a:rPr>
              <a:t>8</a:t>
            </a:r>
            <a:endParaRPr lang="en-US" sz="1200" dirty="0"/>
          </a:p>
        </p:txBody>
      </p:sp>
      <p:sp>
        <p:nvSpPr>
          <p:cNvPr id="20" name="Text 18"/>
          <p:cNvSpPr/>
          <p:nvPr/>
        </p:nvSpPr>
        <p:spPr>
          <a:xfrm>
            <a:off x="1400294" y="3752731"/>
            <a:ext cx="3051691" cy="431006"/>
          </a:xfrm>
          <a:prstGeom prst="rect">
            <a:avLst/>
          </a:prstGeom>
          <a:noFill/>
          <a:ln/>
        </p:spPr>
        <p:txBody>
          <a:bodyPr wrap="square" lIns="0" tIns="0" rIns="0" bIns="0" rtlCol="0" anchor="t"/>
          <a:lstStyle/>
          <a:p>
            <a:pPr marL="0" indent="0" algn="l">
              <a:lnSpc>
                <a:spcPts val="1650"/>
              </a:lnSpc>
              <a:buNone/>
            </a:pPr>
            <a:r>
              <a:rPr lang="en-US" sz="1200" dirty="0">
                <a:solidFill>
                  <a:srgbClr val="15213F"/>
                </a:solidFill>
                <a:latin typeface="Roboto" pitchFamily="34" charset="0"/>
                <a:ea typeface="Roboto" pitchFamily="34" charset="-122"/>
                <a:cs typeface="Roboto" pitchFamily="34" charset="-120"/>
              </a:rPr>
              <a:t>NLP for Telugu-English Code-Switching in Dialog Systems</a:t>
            </a:r>
            <a:endParaRPr lang="en-US" sz="1200" dirty="0"/>
          </a:p>
        </p:txBody>
      </p:sp>
      <p:sp>
        <p:nvSpPr>
          <p:cNvPr id="21" name="Text 19"/>
          <p:cNvSpPr/>
          <p:nvPr/>
        </p:nvSpPr>
        <p:spPr>
          <a:xfrm>
            <a:off x="4776549" y="3752731"/>
            <a:ext cx="2376487" cy="431006"/>
          </a:xfrm>
          <a:prstGeom prst="rect">
            <a:avLst/>
          </a:prstGeom>
          <a:noFill/>
          <a:ln/>
        </p:spPr>
        <p:txBody>
          <a:bodyPr wrap="square" lIns="0" tIns="0" rIns="0" bIns="0" rtlCol="0" anchor="t"/>
          <a:lstStyle/>
          <a:p>
            <a:pPr marL="0" indent="0" algn="l">
              <a:lnSpc>
                <a:spcPts val="1650"/>
              </a:lnSpc>
              <a:buNone/>
            </a:pPr>
            <a:r>
              <a:rPr lang="en-US" sz="1200" dirty="0">
                <a:solidFill>
                  <a:srgbClr val="15213F"/>
                </a:solidFill>
                <a:latin typeface="Roboto" pitchFamily="34" charset="0"/>
                <a:ea typeface="Roboto" pitchFamily="34" charset="-122"/>
                <a:cs typeface="Roboto" pitchFamily="34" charset="-120"/>
              </a:rPr>
              <a:t>Critical gap exists for Indic language educational AI</a:t>
            </a:r>
            <a:endParaRPr lang="en-US" sz="1200" dirty="0"/>
          </a:p>
        </p:txBody>
      </p:sp>
      <p:sp>
        <p:nvSpPr>
          <p:cNvPr id="22" name="Text 20"/>
          <p:cNvSpPr/>
          <p:nvPr/>
        </p:nvSpPr>
        <p:spPr>
          <a:xfrm>
            <a:off x="7477601" y="3752731"/>
            <a:ext cx="1701165" cy="215503"/>
          </a:xfrm>
          <a:prstGeom prst="rect">
            <a:avLst/>
          </a:prstGeom>
          <a:noFill/>
          <a:ln/>
        </p:spPr>
        <p:txBody>
          <a:bodyPr wrap="none" lIns="0" tIns="0" rIns="0" bIns="0" rtlCol="0" anchor="t"/>
          <a:lstStyle/>
          <a:p>
            <a:pPr marL="0" indent="0" algn="l">
              <a:lnSpc>
                <a:spcPts val="1650"/>
              </a:lnSpc>
              <a:buNone/>
            </a:pPr>
            <a:r>
              <a:rPr lang="en-US" sz="1200" dirty="0">
                <a:solidFill>
                  <a:srgbClr val="15213F"/>
                </a:solidFill>
                <a:latin typeface="Roboto" pitchFamily="34" charset="0"/>
                <a:ea typeface="Roboto" pitchFamily="34" charset="-122"/>
                <a:cs typeface="Roboto" pitchFamily="34" charset="-120"/>
              </a:rPr>
              <a:t>Modern Techniques</a:t>
            </a:r>
            <a:endParaRPr lang="en-US" sz="1200" dirty="0"/>
          </a:p>
        </p:txBody>
      </p:sp>
      <p:sp>
        <p:nvSpPr>
          <p:cNvPr id="23" name="Text 21"/>
          <p:cNvSpPr/>
          <p:nvPr/>
        </p:nvSpPr>
        <p:spPr>
          <a:xfrm>
            <a:off x="9503331" y="3752731"/>
            <a:ext cx="2376487" cy="431006"/>
          </a:xfrm>
          <a:prstGeom prst="rect">
            <a:avLst/>
          </a:prstGeom>
          <a:noFill/>
          <a:ln/>
        </p:spPr>
        <p:txBody>
          <a:bodyPr wrap="square" lIns="0" tIns="0" rIns="0" bIns="0" rtlCol="0" anchor="t"/>
          <a:lstStyle/>
          <a:p>
            <a:pPr marL="0" indent="0" algn="l">
              <a:lnSpc>
                <a:spcPts val="1650"/>
              </a:lnSpc>
              <a:buNone/>
            </a:pPr>
            <a:r>
              <a:rPr lang="en-US" sz="1200" dirty="0">
                <a:solidFill>
                  <a:srgbClr val="15213F"/>
                </a:solidFill>
                <a:latin typeface="Roboto" pitchFamily="34" charset="0"/>
                <a:ea typeface="Roboto" pitchFamily="34" charset="-122"/>
                <a:cs typeface="Roboto" pitchFamily="34" charset="-120"/>
              </a:rPr>
              <a:t>Directly confirms our 7-gap analysis; justifies novelty</a:t>
            </a:r>
            <a:endParaRPr lang="en-US" sz="1200" dirty="0"/>
          </a:p>
        </p:txBody>
      </p:sp>
      <p:sp>
        <p:nvSpPr>
          <p:cNvPr id="24" name="Text 22"/>
          <p:cNvSpPr/>
          <p:nvPr/>
        </p:nvSpPr>
        <p:spPr>
          <a:xfrm>
            <a:off x="12204383" y="3752731"/>
            <a:ext cx="1704975" cy="431006"/>
          </a:xfrm>
          <a:prstGeom prst="rect">
            <a:avLst/>
          </a:prstGeom>
          <a:noFill/>
          <a:ln/>
        </p:spPr>
        <p:txBody>
          <a:bodyPr wrap="square" lIns="0" tIns="0" rIns="0" bIns="0" rtlCol="0" anchor="t"/>
          <a:lstStyle/>
          <a:p>
            <a:pPr marL="0" indent="0" algn="l">
              <a:lnSpc>
                <a:spcPts val="1650"/>
              </a:lnSpc>
              <a:buNone/>
            </a:pPr>
            <a:r>
              <a:rPr lang="en-US" sz="1200" dirty="0">
                <a:solidFill>
                  <a:srgbClr val="15213F"/>
                </a:solidFill>
                <a:latin typeface="Roboto" pitchFamily="34" charset="0"/>
                <a:ea typeface="Roboto" pitchFamily="34" charset="-122"/>
                <a:cs typeface="Roboto" pitchFamily="34" charset="-120"/>
              </a:rPr>
              <a:t>Confirms urgency of work</a:t>
            </a:r>
            <a:endParaRPr lang="en-US" sz="1200" dirty="0"/>
          </a:p>
        </p:txBody>
      </p:sp>
      <p:sp>
        <p:nvSpPr>
          <p:cNvPr id="25" name="Shape 23"/>
          <p:cNvSpPr/>
          <p:nvPr/>
        </p:nvSpPr>
        <p:spPr>
          <a:xfrm>
            <a:off x="562570" y="4257794"/>
            <a:ext cx="13505259" cy="579120"/>
          </a:xfrm>
          <a:prstGeom prst="rect">
            <a:avLst/>
          </a:prstGeom>
          <a:solidFill>
            <a:srgbClr val="000000">
              <a:alpha val="4000"/>
            </a:srgbClr>
          </a:solidFill>
          <a:ln/>
        </p:spPr>
      </p:sp>
      <p:sp>
        <p:nvSpPr>
          <p:cNvPr id="26" name="Text 24"/>
          <p:cNvSpPr/>
          <p:nvPr/>
        </p:nvSpPr>
        <p:spPr>
          <a:xfrm>
            <a:off x="721281" y="4331851"/>
            <a:ext cx="354449" cy="215503"/>
          </a:xfrm>
          <a:prstGeom prst="rect">
            <a:avLst/>
          </a:prstGeom>
          <a:noFill/>
          <a:ln/>
        </p:spPr>
        <p:txBody>
          <a:bodyPr wrap="none" lIns="0" tIns="0" rIns="0" bIns="0" rtlCol="0" anchor="t"/>
          <a:lstStyle/>
          <a:p>
            <a:pPr marL="0" indent="0" algn="l">
              <a:lnSpc>
                <a:spcPts val="1650"/>
              </a:lnSpc>
              <a:buNone/>
            </a:pPr>
            <a:r>
              <a:rPr lang="en-US" sz="1200" dirty="0">
                <a:solidFill>
                  <a:srgbClr val="15213F"/>
                </a:solidFill>
                <a:latin typeface="Roboto" pitchFamily="34" charset="0"/>
                <a:ea typeface="Roboto" pitchFamily="34" charset="-122"/>
                <a:cs typeface="Roboto" pitchFamily="34" charset="-120"/>
              </a:rPr>
              <a:t>9</a:t>
            </a:r>
            <a:endParaRPr lang="en-US" sz="1200" dirty="0"/>
          </a:p>
        </p:txBody>
      </p:sp>
      <p:sp>
        <p:nvSpPr>
          <p:cNvPr id="27" name="Text 25"/>
          <p:cNvSpPr/>
          <p:nvPr/>
        </p:nvSpPr>
        <p:spPr>
          <a:xfrm>
            <a:off x="1400294" y="4331851"/>
            <a:ext cx="3051691" cy="431006"/>
          </a:xfrm>
          <a:prstGeom prst="rect">
            <a:avLst/>
          </a:prstGeom>
          <a:noFill/>
          <a:ln/>
        </p:spPr>
        <p:txBody>
          <a:bodyPr wrap="square" lIns="0" tIns="0" rIns="0" bIns="0" rtlCol="0" anchor="t"/>
          <a:lstStyle/>
          <a:p>
            <a:pPr marL="0" indent="0" algn="l">
              <a:lnSpc>
                <a:spcPts val="1650"/>
              </a:lnSpc>
              <a:buNone/>
            </a:pPr>
            <a:r>
              <a:rPr lang="en-US" sz="1200" dirty="0">
                <a:solidFill>
                  <a:srgbClr val="15213F"/>
                </a:solidFill>
                <a:latin typeface="Roboto" pitchFamily="34" charset="0"/>
                <a:ea typeface="Roboto" pitchFamily="34" charset="-122"/>
                <a:cs typeface="Roboto" pitchFamily="34" charset="-120"/>
              </a:rPr>
              <a:t>Semantic Relations Framework for Question-Answer Matching</a:t>
            </a:r>
            <a:endParaRPr lang="en-US" sz="1200" dirty="0"/>
          </a:p>
        </p:txBody>
      </p:sp>
      <p:sp>
        <p:nvSpPr>
          <p:cNvPr id="28" name="Text 26"/>
          <p:cNvSpPr/>
          <p:nvPr/>
        </p:nvSpPr>
        <p:spPr>
          <a:xfrm>
            <a:off x="4776549" y="4331851"/>
            <a:ext cx="2376487" cy="431006"/>
          </a:xfrm>
          <a:prstGeom prst="rect">
            <a:avLst/>
          </a:prstGeom>
          <a:noFill/>
          <a:ln/>
        </p:spPr>
        <p:txBody>
          <a:bodyPr wrap="square" lIns="0" tIns="0" rIns="0" bIns="0" rtlCol="0" anchor="t"/>
          <a:lstStyle/>
          <a:p>
            <a:pPr marL="0" indent="0" algn="l">
              <a:lnSpc>
                <a:spcPts val="1650"/>
              </a:lnSpc>
              <a:buNone/>
            </a:pPr>
            <a:r>
              <a:rPr lang="en-US" sz="1200" dirty="0">
                <a:solidFill>
                  <a:srgbClr val="15213F"/>
                </a:solidFill>
                <a:latin typeface="Roboto" pitchFamily="34" charset="0"/>
                <a:ea typeface="Roboto" pitchFamily="34" charset="-122"/>
                <a:cs typeface="Roboto" pitchFamily="34" charset="-120"/>
              </a:rPr>
              <a:t>Semantic relation framework for query-answer matching</a:t>
            </a:r>
            <a:endParaRPr lang="en-US" sz="1200" dirty="0"/>
          </a:p>
        </p:txBody>
      </p:sp>
      <p:sp>
        <p:nvSpPr>
          <p:cNvPr id="29" name="Text 27"/>
          <p:cNvSpPr/>
          <p:nvPr/>
        </p:nvSpPr>
        <p:spPr>
          <a:xfrm>
            <a:off x="7477601" y="4331851"/>
            <a:ext cx="1701165" cy="215503"/>
          </a:xfrm>
          <a:prstGeom prst="rect">
            <a:avLst/>
          </a:prstGeom>
          <a:noFill/>
          <a:ln/>
        </p:spPr>
        <p:txBody>
          <a:bodyPr wrap="none" lIns="0" tIns="0" rIns="0" bIns="0" rtlCol="0" anchor="t"/>
          <a:lstStyle/>
          <a:p>
            <a:pPr marL="0" indent="0" algn="l">
              <a:lnSpc>
                <a:spcPts val="1650"/>
              </a:lnSpc>
              <a:buNone/>
            </a:pPr>
            <a:r>
              <a:rPr lang="en-US" sz="1200" dirty="0">
                <a:solidFill>
                  <a:srgbClr val="15213F"/>
                </a:solidFill>
                <a:latin typeface="Roboto" pitchFamily="34" charset="0"/>
                <a:ea typeface="Roboto" pitchFamily="34" charset="-122"/>
                <a:cs typeface="Roboto" pitchFamily="34" charset="-120"/>
              </a:rPr>
              <a:t>Semantics &amp; Evaluation</a:t>
            </a:r>
            <a:endParaRPr lang="en-US" sz="1200" dirty="0"/>
          </a:p>
        </p:txBody>
      </p:sp>
      <p:sp>
        <p:nvSpPr>
          <p:cNvPr id="30" name="Text 28"/>
          <p:cNvSpPr/>
          <p:nvPr/>
        </p:nvSpPr>
        <p:spPr>
          <a:xfrm>
            <a:off x="9503331" y="4331851"/>
            <a:ext cx="2376487" cy="431006"/>
          </a:xfrm>
          <a:prstGeom prst="rect">
            <a:avLst/>
          </a:prstGeom>
          <a:noFill/>
          <a:ln/>
        </p:spPr>
        <p:txBody>
          <a:bodyPr wrap="square" lIns="0" tIns="0" rIns="0" bIns="0" rtlCol="0" anchor="t"/>
          <a:lstStyle/>
          <a:p>
            <a:pPr marL="0" indent="0" algn="l">
              <a:lnSpc>
                <a:spcPts val="1650"/>
              </a:lnSpc>
              <a:buNone/>
            </a:pPr>
            <a:r>
              <a:rPr lang="en-US" sz="1200" dirty="0">
                <a:solidFill>
                  <a:srgbClr val="15213F"/>
                </a:solidFill>
                <a:latin typeface="Roboto" pitchFamily="34" charset="0"/>
                <a:ea typeface="Roboto" pitchFamily="34" charset="-122"/>
                <a:cs typeface="Roboto" pitchFamily="34" charset="-120"/>
              </a:rPr>
              <a:t>Informs M1 intent extraction and M2 retrieval scoring</a:t>
            </a:r>
            <a:endParaRPr lang="en-US" sz="1200" dirty="0"/>
          </a:p>
        </p:txBody>
      </p:sp>
      <p:sp>
        <p:nvSpPr>
          <p:cNvPr id="31" name="Text 29"/>
          <p:cNvSpPr/>
          <p:nvPr/>
        </p:nvSpPr>
        <p:spPr>
          <a:xfrm>
            <a:off x="12204383" y="4331851"/>
            <a:ext cx="1704975" cy="215503"/>
          </a:xfrm>
          <a:prstGeom prst="rect">
            <a:avLst/>
          </a:prstGeom>
          <a:noFill/>
          <a:ln/>
        </p:spPr>
        <p:txBody>
          <a:bodyPr wrap="none" lIns="0" tIns="0" rIns="0" bIns="0" rtlCol="0" anchor="t"/>
          <a:lstStyle/>
          <a:p>
            <a:pPr marL="0" indent="0" algn="l">
              <a:lnSpc>
                <a:spcPts val="1650"/>
              </a:lnSpc>
              <a:buNone/>
            </a:pPr>
            <a:r>
              <a:rPr lang="en-US" sz="1200" dirty="0">
                <a:solidFill>
                  <a:srgbClr val="15213F"/>
                </a:solidFill>
                <a:latin typeface="Roboto" pitchFamily="34" charset="0"/>
                <a:ea typeface="Roboto" pitchFamily="34" charset="-122"/>
                <a:cs typeface="Roboto" pitchFamily="34" charset="-120"/>
              </a:rPr>
              <a:t>Query-answer matching</a:t>
            </a:r>
            <a:endParaRPr lang="en-US" sz="1200" dirty="0"/>
          </a:p>
        </p:txBody>
      </p:sp>
      <p:sp>
        <p:nvSpPr>
          <p:cNvPr id="32" name="Shape 30"/>
          <p:cNvSpPr/>
          <p:nvPr/>
        </p:nvSpPr>
        <p:spPr>
          <a:xfrm>
            <a:off x="562570" y="4836914"/>
            <a:ext cx="13505259" cy="794623"/>
          </a:xfrm>
          <a:prstGeom prst="rect">
            <a:avLst/>
          </a:prstGeom>
          <a:solidFill>
            <a:srgbClr val="FFFFFF">
              <a:alpha val="4000"/>
            </a:srgbClr>
          </a:solidFill>
          <a:ln/>
        </p:spPr>
      </p:sp>
      <p:sp>
        <p:nvSpPr>
          <p:cNvPr id="33" name="Text 31"/>
          <p:cNvSpPr/>
          <p:nvPr/>
        </p:nvSpPr>
        <p:spPr>
          <a:xfrm>
            <a:off x="721281" y="4910971"/>
            <a:ext cx="354449" cy="215503"/>
          </a:xfrm>
          <a:prstGeom prst="rect">
            <a:avLst/>
          </a:prstGeom>
          <a:noFill/>
          <a:ln/>
        </p:spPr>
        <p:txBody>
          <a:bodyPr wrap="none" lIns="0" tIns="0" rIns="0" bIns="0" rtlCol="0" anchor="t"/>
          <a:lstStyle/>
          <a:p>
            <a:pPr marL="0" indent="0" algn="l">
              <a:lnSpc>
                <a:spcPts val="1650"/>
              </a:lnSpc>
              <a:buNone/>
            </a:pPr>
            <a:r>
              <a:rPr lang="en-US" sz="1200" dirty="0">
                <a:solidFill>
                  <a:srgbClr val="15213F"/>
                </a:solidFill>
                <a:latin typeface="Roboto" pitchFamily="34" charset="0"/>
                <a:ea typeface="Roboto" pitchFamily="34" charset="-122"/>
                <a:cs typeface="Roboto" pitchFamily="34" charset="-120"/>
              </a:rPr>
              <a:t>10</a:t>
            </a:r>
            <a:endParaRPr lang="en-US" sz="1200" dirty="0"/>
          </a:p>
        </p:txBody>
      </p:sp>
      <p:sp>
        <p:nvSpPr>
          <p:cNvPr id="34" name="Text 32"/>
          <p:cNvSpPr/>
          <p:nvPr/>
        </p:nvSpPr>
        <p:spPr>
          <a:xfrm>
            <a:off x="1400294" y="4910971"/>
            <a:ext cx="3051691" cy="431006"/>
          </a:xfrm>
          <a:prstGeom prst="rect">
            <a:avLst/>
          </a:prstGeom>
          <a:noFill/>
          <a:ln/>
        </p:spPr>
        <p:txBody>
          <a:bodyPr wrap="square" lIns="0" tIns="0" rIns="0" bIns="0" rtlCol="0" anchor="t"/>
          <a:lstStyle/>
          <a:p>
            <a:pPr marL="0" indent="0" algn="l">
              <a:lnSpc>
                <a:spcPts val="1650"/>
              </a:lnSpc>
              <a:buNone/>
            </a:pPr>
            <a:r>
              <a:rPr lang="en-US" sz="1200" dirty="0">
                <a:solidFill>
                  <a:srgbClr val="15213F"/>
                </a:solidFill>
                <a:latin typeface="Roboto" pitchFamily="34" charset="0"/>
                <a:ea typeface="Roboto" pitchFamily="34" charset="-122"/>
                <a:cs typeface="Roboto" pitchFamily="34" charset="-120"/>
              </a:rPr>
              <a:t>Cognitive Canonicalization of Informal Queries</a:t>
            </a:r>
            <a:endParaRPr lang="en-US" sz="1200" dirty="0"/>
          </a:p>
        </p:txBody>
      </p:sp>
      <p:sp>
        <p:nvSpPr>
          <p:cNvPr id="35" name="Text 33"/>
          <p:cNvSpPr/>
          <p:nvPr/>
        </p:nvSpPr>
        <p:spPr>
          <a:xfrm>
            <a:off x="4776549" y="4910971"/>
            <a:ext cx="2376487" cy="431006"/>
          </a:xfrm>
          <a:prstGeom prst="rect">
            <a:avLst/>
          </a:prstGeom>
          <a:noFill/>
          <a:ln/>
        </p:spPr>
        <p:txBody>
          <a:bodyPr wrap="square" lIns="0" tIns="0" rIns="0" bIns="0" rtlCol="0" anchor="t"/>
          <a:lstStyle/>
          <a:p>
            <a:pPr marL="0" indent="0" algn="l">
              <a:lnSpc>
                <a:spcPts val="1650"/>
              </a:lnSpc>
              <a:buNone/>
            </a:pPr>
            <a:r>
              <a:rPr lang="en-US" sz="1200" dirty="0">
                <a:solidFill>
                  <a:srgbClr val="15213F"/>
                </a:solidFill>
                <a:latin typeface="Roboto" pitchFamily="34" charset="0"/>
                <a:ea typeface="Roboto" pitchFamily="34" charset="-122"/>
                <a:cs typeface="Roboto" pitchFamily="34" charset="-120"/>
              </a:rPr>
              <a:t>Query canonicalization — directly applied in M1 normalization</a:t>
            </a:r>
            <a:endParaRPr lang="en-US" sz="1200" dirty="0"/>
          </a:p>
        </p:txBody>
      </p:sp>
      <p:sp>
        <p:nvSpPr>
          <p:cNvPr id="36" name="Text 34"/>
          <p:cNvSpPr/>
          <p:nvPr/>
        </p:nvSpPr>
        <p:spPr>
          <a:xfrm>
            <a:off x="7477601" y="4910971"/>
            <a:ext cx="1701165" cy="215503"/>
          </a:xfrm>
          <a:prstGeom prst="rect">
            <a:avLst/>
          </a:prstGeom>
          <a:noFill/>
          <a:ln/>
        </p:spPr>
        <p:txBody>
          <a:bodyPr wrap="none" lIns="0" tIns="0" rIns="0" bIns="0" rtlCol="0" anchor="t"/>
          <a:lstStyle/>
          <a:p>
            <a:pPr marL="0" indent="0" algn="l">
              <a:lnSpc>
                <a:spcPts val="1650"/>
              </a:lnSpc>
              <a:buNone/>
            </a:pPr>
            <a:r>
              <a:rPr lang="en-US" sz="1200" dirty="0">
                <a:solidFill>
                  <a:srgbClr val="15213F"/>
                </a:solidFill>
                <a:latin typeface="Roboto" pitchFamily="34" charset="0"/>
                <a:ea typeface="Roboto" pitchFamily="34" charset="-122"/>
                <a:cs typeface="Roboto" pitchFamily="34" charset="-120"/>
              </a:rPr>
              <a:t>Semantics &amp; Evaluation</a:t>
            </a:r>
            <a:endParaRPr lang="en-US" sz="1200" dirty="0"/>
          </a:p>
        </p:txBody>
      </p:sp>
      <p:sp>
        <p:nvSpPr>
          <p:cNvPr id="37" name="Text 35"/>
          <p:cNvSpPr/>
          <p:nvPr/>
        </p:nvSpPr>
        <p:spPr>
          <a:xfrm>
            <a:off x="9503331" y="4910971"/>
            <a:ext cx="2376487" cy="646509"/>
          </a:xfrm>
          <a:prstGeom prst="rect">
            <a:avLst/>
          </a:prstGeom>
          <a:noFill/>
          <a:ln/>
        </p:spPr>
        <p:txBody>
          <a:bodyPr wrap="square" lIns="0" tIns="0" rIns="0" bIns="0" rtlCol="0" anchor="t"/>
          <a:lstStyle/>
          <a:p>
            <a:pPr marL="0" indent="0" algn="l">
              <a:lnSpc>
                <a:spcPts val="1650"/>
              </a:lnSpc>
              <a:buNone/>
            </a:pPr>
            <a:r>
              <a:rPr lang="en-US" sz="1200" dirty="0">
                <a:solidFill>
                  <a:srgbClr val="15213F"/>
                </a:solidFill>
                <a:latin typeface="Roboto" pitchFamily="34" charset="0"/>
                <a:ea typeface="Roboto" pitchFamily="34" charset="-122"/>
                <a:cs typeface="Roboto" pitchFamily="34" charset="-120"/>
              </a:rPr>
              <a:t>Core algorithm behind HinglishNormalizer in script_detector.py</a:t>
            </a:r>
            <a:endParaRPr lang="en-US" sz="1200" dirty="0"/>
          </a:p>
        </p:txBody>
      </p:sp>
      <p:sp>
        <p:nvSpPr>
          <p:cNvPr id="38" name="Text 36"/>
          <p:cNvSpPr/>
          <p:nvPr/>
        </p:nvSpPr>
        <p:spPr>
          <a:xfrm>
            <a:off x="12204383" y="4910971"/>
            <a:ext cx="1704975" cy="215503"/>
          </a:xfrm>
          <a:prstGeom prst="rect">
            <a:avLst/>
          </a:prstGeom>
          <a:noFill/>
          <a:ln/>
        </p:spPr>
        <p:txBody>
          <a:bodyPr wrap="none" lIns="0" tIns="0" rIns="0" bIns="0" rtlCol="0" anchor="t"/>
          <a:lstStyle/>
          <a:p>
            <a:pPr marL="0" indent="0" algn="l">
              <a:lnSpc>
                <a:spcPts val="1650"/>
              </a:lnSpc>
              <a:buNone/>
            </a:pPr>
            <a:r>
              <a:rPr lang="en-US" sz="1200" dirty="0">
                <a:solidFill>
                  <a:srgbClr val="15213F"/>
                </a:solidFill>
                <a:latin typeface="Roboto" pitchFamily="34" charset="0"/>
                <a:ea typeface="Roboto" pitchFamily="34" charset="-122"/>
                <a:cs typeface="Roboto" pitchFamily="34" charset="-120"/>
              </a:rPr>
              <a:t>Used in Module 1</a:t>
            </a:r>
            <a:endParaRPr lang="en-US" sz="1200" dirty="0"/>
          </a:p>
        </p:txBody>
      </p:sp>
      <p:sp>
        <p:nvSpPr>
          <p:cNvPr id="39" name="Shape 37"/>
          <p:cNvSpPr/>
          <p:nvPr/>
        </p:nvSpPr>
        <p:spPr>
          <a:xfrm>
            <a:off x="562570" y="5631537"/>
            <a:ext cx="13505259" cy="794623"/>
          </a:xfrm>
          <a:prstGeom prst="rect">
            <a:avLst/>
          </a:prstGeom>
          <a:solidFill>
            <a:srgbClr val="000000">
              <a:alpha val="4000"/>
            </a:srgbClr>
          </a:solidFill>
          <a:ln/>
        </p:spPr>
      </p:sp>
      <p:sp>
        <p:nvSpPr>
          <p:cNvPr id="40" name="Text 38"/>
          <p:cNvSpPr/>
          <p:nvPr/>
        </p:nvSpPr>
        <p:spPr>
          <a:xfrm>
            <a:off x="721281" y="5705594"/>
            <a:ext cx="354449" cy="215503"/>
          </a:xfrm>
          <a:prstGeom prst="rect">
            <a:avLst/>
          </a:prstGeom>
          <a:noFill/>
          <a:ln/>
        </p:spPr>
        <p:txBody>
          <a:bodyPr wrap="none" lIns="0" tIns="0" rIns="0" bIns="0" rtlCol="0" anchor="t"/>
          <a:lstStyle/>
          <a:p>
            <a:pPr marL="0" indent="0" algn="l">
              <a:lnSpc>
                <a:spcPts val="1650"/>
              </a:lnSpc>
              <a:buNone/>
            </a:pPr>
            <a:r>
              <a:rPr lang="en-US" sz="1200" dirty="0">
                <a:solidFill>
                  <a:srgbClr val="15213F"/>
                </a:solidFill>
                <a:latin typeface="Roboto" pitchFamily="34" charset="0"/>
                <a:ea typeface="Roboto" pitchFamily="34" charset="-122"/>
                <a:cs typeface="Roboto" pitchFamily="34" charset="-120"/>
              </a:rPr>
              <a:t>11</a:t>
            </a:r>
            <a:endParaRPr lang="en-US" sz="1200" dirty="0"/>
          </a:p>
        </p:txBody>
      </p:sp>
      <p:sp>
        <p:nvSpPr>
          <p:cNvPr id="41" name="Text 39"/>
          <p:cNvSpPr/>
          <p:nvPr/>
        </p:nvSpPr>
        <p:spPr>
          <a:xfrm>
            <a:off x="1400294" y="5705594"/>
            <a:ext cx="3051691" cy="431006"/>
          </a:xfrm>
          <a:prstGeom prst="rect">
            <a:avLst/>
          </a:prstGeom>
          <a:noFill/>
          <a:ln/>
        </p:spPr>
        <p:txBody>
          <a:bodyPr wrap="square" lIns="0" tIns="0" rIns="0" bIns="0" rtlCol="0" anchor="t"/>
          <a:lstStyle/>
          <a:p>
            <a:pPr marL="0" indent="0" algn="l">
              <a:lnSpc>
                <a:spcPts val="1650"/>
              </a:lnSpc>
              <a:buNone/>
            </a:pPr>
            <a:r>
              <a:rPr lang="en-US" sz="1200" dirty="0">
                <a:solidFill>
                  <a:srgbClr val="15213F"/>
                </a:solidFill>
                <a:latin typeface="Roboto" pitchFamily="34" charset="0"/>
                <a:ea typeface="Roboto" pitchFamily="34" charset="-122"/>
                <a:cs typeface="Roboto" pitchFamily="34" charset="-120"/>
              </a:rPr>
              <a:t>Short Text Similarity Benchmark with Human Ratings</a:t>
            </a:r>
            <a:endParaRPr lang="en-US" sz="1200" dirty="0"/>
          </a:p>
        </p:txBody>
      </p:sp>
      <p:sp>
        <p:nvSpPr>
          <p:cNvPr id="42" name="Text 40"/>
          <p:cNvSpPr/>
          <p:nvPr/>
        </p:nvSpPr>
        <p:spPr>
          <a:xfrm>
            <a:off x="4776549" y="5705594"/>
            <a:ext cx="2376487" cy="431006"/>
          </a:xfrm>
          <a:prstGeom prst="rect">
            <a:avLst/>
          </a:prstGeom>
          <a:noFill/>
          <a:ln/>
        </p:spPr>
        <p:txBody>
          <a:bodyPr wrap="square" lIns="0" tIns="0" rIns="0" bIns="0" rtlCol="0" anchor="t"/>
          <a:lstStyle/>
          <a:p>
            <a:pPr marL="0" indent="0" algn="l">
              <a:lnSpc>
                <a:spcPts val="1650"/>
              </a:lnSpc>
              <a:buNone/>
            </a:pPr>
            <a:r>
              <a:rPr lang="en-US" sz="1200" dirty="0">
                <a:solidFill>
                  <a:srgbClr val="15213F"/>
                </a:solidFill>
                <a:latin typeface="Roboto" pitchFamily="34" charset="0"/>
                <a:ea typeface="Roboto" pitchFamily="34" charset="-122"/>
                <a:cs typeface="Roboto" pitchFamily="34" charset="-120"/>
              </a:rPr>
              <a:t>Gold-standard dataset creation methodology for evaluation</a:t>
            </a:r>
            <a:endParaRPr lang="en-US" sz="1200" dirty="0"/>
          </a:p>
        </p:txBody>
      </p:sp>
      <p:sp>
        <p:nvSpPr>
          <p:cNvPr id="43" name="Text 41"/>
          <p:cNvSpPr/>
          <p:nvPr/>
        </p:nvSpPr>
        <p:spPr>
          <a:xfrm>
            <a:off x="7477601" y="5705594"/>
            <a:ext cx="1701165" cy="215503"/>
          </a:xfrm>
          <a:prstGeom prst="rect">
            <a:avLst/>
          </a:prstGeom>
          <a:noFill/>
          <a:ln/>
        </p:spPr>
        <p:txBody>
          <a:bodyPr wrap="none" lIns="0" tIns="0" rIns="0" bIns="0" rtlCol="0" anchor="t"/>
          <a:lstStyle/>
          <a:p>
            <a:pPr marL="0" indent="0" algn="l">
              <a:lnSpc>
                <a:spcPts val="1650"/>
              </a:lnSpc>
              <a:buNone/>
            </a:pPr>
            <a:r>
              <a:rPr lang="en-US" sz="1200" dirty="0">
                <a:solidFill>
                  <a:srgbClr val="15213F"/>
                </a:solidFill>
                <a:latin typeface="Roboto" pitchFamily="34" charset="0"/>
                <a:ea typeface="Roboto" pitchFamily="34" charset="-122"/>
                <a:cs typeface="Roboto" pitchFamily="34" charset="-120"/>
              </a:rPr>
              <a:t>Semantics &amp; Evaluation</a:t>
            </a:r>
            <a:endParaRPr lang="en-US" sz="1200" dirty="0"/>
          </a:p>
        </p:txBody>
      </p:sp>
      <p:sp>
        <p:nvSpPr>
          <p:cNvPr id="44" name="Text 42"/>
          <p:cNvSpPr/>
          <p:nvPr/>
        </p:nvSpPr>
        <p:spPr>
          <a:xfrm>
            <a:off x="9503331" y="5705594"/>
            <a:ext cx="2376487" cy="646509"/>
          </a:xfrm>
          <a:prstGeom prst="rect">
            <a:avLst/>
          </a:prstGeom>
          <a:noFill/>
          <a:ln/>
        </p:spPr>
        <p:txBody>
          <a:bodyPr wrap="square" lIns="0" tIns="0" rIns="0" bIns="0" rtlCol="0" anchor="t"/>
          <a:lstStyle/>
          <a:p>
            <a:pPr marL="0" indent="0" algn="l">
              <a:lnSpc>
                <a:spcPts val="1650"/>
              </a:lnSpc>
              <a:buNone/>
            </a:pPr>
            <a:r>
              <a:rPr lang="en-US" sz="1200" dirty="0">
                <a:solidFill>
                  <a:srgbClr val="15213F"/>
                </a:solidFill>
                <a:latin typeface="Roboto" pitchFamily="34" charset="0"/>
                <a:ea typeface="Roboto" pitchFamily="34" charset="-122"/>
                <a:cs typeface="Roboto" pitchFamily="34" charset="-120"/>
              </a:rPr>
              <a:t>Methodology used to design our 15-sentence labeled Hinglish dataset</a:t>
            </a:r>
            <a:endParaRPr lang="en-US" sz="1200" dirty="0"/>
          </a:p>
        </p:txBody>
      </p:sp>
      <p:sp>
        <p:nvSpPr>
          <p:cNvPr id="45" name="Text 43"/>
          <p:cNvSpPr/>
          <p:nvPr/>
        </p:nvSpPr>
        <p:spPr>
          <a:xfrm>
            <a:off x="12204383" y="5705594"/>
            <a:ext cx="1704975" cy="431006"/>
          </a:xfrm>
          <a:prstGeom prst="rect">
            <a:avLst/>
          </a:prstGeom>
          <a:noFill/>
          <a:ln/>
        </p:spPr>
        <p:txBody>
          <a:bodyPr wrap="square" lIns="0" tIns="0" rIns="0" bIns="0" rtlCol="0" anchor="t"/>
          <a:lstStyle/>
          <a:p>
            <a:pPr marL="0" indent="0" algn="l">
              <a:lnSpc>
                <a:spcPts val="1650"/>
              </a:lnSpc>
              <a:buNone/>
            </a:pPr>
            <a:r>
              <a:rPr lang="en-US" sz="1200" dirty="0">
                <a:solidFill>
                  <a:srgbClr val="15213F"/>
                </a:solidFill>
                <a:latin typeface="Roboto" pitchFamily="34" charset="0"/>
                <a:ea typeface="Roboto" pitchFamily="34" charset="-122"/>
                <a:cs typeface="Roboto" pitchFamily="34" charset="-120"/>
              </a:rPr>
              <a:t>Guides evaluation design</a:t>
            </a:r>
            <a:endParaRPr lang="en-US" sz="1200" dirty="0"/>
          </a:p>
        </p:txBody>
      </p:sp>
      <p:pic>
        <p:nvPicPr>
          <p:cNvPr id="47" name="Picture 46">
            <a:extLst>
              <a:ext uri="{FF2B5EF4-FFF2-40B4-BE49-F238E27FC236}">
                <a16:creationId xmlns:a16="http://schemas.microsoft.com/office/drawing/2014/main" id="{4864DB1E-792B-971E-58E9-5DF513DC032E}"/>
              </a:ext>
            </a:extLst>
          </p:cNvPr>
          <p:cNvPicPr>
            <a:picLocks noChangeAspect="1"/>
          </p:cNvPicPr>
          <p:nvPr/>
        </p:nvPicPr>
        <p:blipFill>
          <a:blip r:embed="rId3"/>
          <a:stretch>
            <a:fillRect/>
          </a:stretch>
        </p:blipFill>
        <p:spPr>
          <a:xfrm>
            <a:off x="12839450" y="7715178"/>
            <a:ext cx="1790950" cy="51442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28424" y="608409"/>
            <a:ext cx="3382089" cy="422791"/>
          </a:xfrm>
          <a:prstGeom prst="rect">
            <a:avLst/>
          </a:prstGeom>
          <a:noFill/>
          <a:ln/>
        </p:spPr>
        <p:txBody>
          <a:bodyPr wrap="none" lIns="0" tIns="0" rIns="0" bIns="0" rtlCol="0" anchor="t"/>
          <a:lstStyle/>
          <a:p>
            <a:pPr marL="0" indent="0" algn="l">
              <a:lnSpc>
                <a:spcPts val="3300"/>
              </a:lnSpc>
              <a:buNone/>
            </a:pPr>
            <a:r>
              <a:rPr lang="en-US" sz="2650" dirty="0">
                <a:solidFill>
                  <a:srgbClr val="3257B8"/>
                </a:solidFill>
                <a:latin typeface="Roboto Slab" pitchFamily="34" charset="0"/>
                <a:ea typeface="Roboto Slab" pitchFamily="34" charset="-122"/>
                <a:cs typeface="Roboto Slab" pitchFamily="34" charset="-120"/>
              </a:rPr>
              <a:t>Gaps Identified</a:t>
            </a:r>
            <a:endParaRPr lang="en-US" sz="2650" dirty="0"/>
          </a:p>
        </p:txBody>
      </p:sp>
      <p:sp>
        <p:nvSpPr>
          <p:cNvPr id="3" name="Text 1"/>
          <p:cNvSpPr/>
          <p:nvPr/>
        </p:nvSpPr>
        <p:spPr>
          <a:xfrm>
            <a:off x="728424" y="1192530"/>
            <a:ext cx="13173551" cy="172641"/>
          </a:xfrm>
          <a:prstGeom prst="rect">
            <a:avLst/>
          </a:prstGeom>
          <a:noFill/>
          <a:ln/>
        </p:spPr>
        <p:txBody>
          <a:bodyPr wrap="none" lIns="0" tIns="0" rIns="0" bIns="0" rtlCol="0" anchor="t"/>
          <a:lstStyle/>
          <a:p>
            <a:pPr marL="0" indent="0" algn="l">
              <a:lnSpc>
                <a:spcPts val="1350"/>
              </a:lnSpc>
              <a:buNone/>
            </a:pPr>
            <a:endParaRPr lang="en-US" sz="1050" dirty="0"/>
          </a:p>
        </p:txBody>
      </p:sp>
      <p:sp>
        <p:nvSpPr>
          <p:cNvPr id="4" name="Shape 2"/>
          <p:cNvSpPr/>
          <p:nvPr/>
        </p:nvSpPr>
        <p:spPr>
          <a:xfrm>
            <a:off x="728424" y="1455896"/>
            <a:ext cx="13173551" cy="811649"/>
          </a:xfrm>
          <a:prstGeom prst="roundRect">
            <a:avLst>
              <a:gd name="adj" fmla="val 2500"/>
            </a:avLst>
          </a:prstGeom>
          <a:solidFill>
            <a:srgbClr val="FBFCFE"/>
          </a:solidFill>
          <a:ln w="15240">
            <a:solidFill>
              <a:srgbClr val="CFD2D8"/>
            </a:solidFill>
            <a:prstDash val="solid"/>
          </a:ln>
        </p:spPr>
      </p:sp>
      <p:sp>
        <p:nvSpPr>
          <p:cNvPr id="5" name="Shape 3"/>
          <p:cNvSpPr/>
          <p:nvPr/>
        </p:nvSpPr>
        <p:spPr>
          <a:xfrm>
            <a:off x="743664" y="1471136"/>
            <a:ext cx="541139" cy="781169"/>
          </a:xfrm>
          <a:prstGeom prst="roundRect">
            <a:avLst>
              <a:gd name="adj" fmla="val 371"/>
            </a:avLst>
          </a:prstGeom>
          <a:solidFill>
            <a:srgbClr val="E9ECF2"/>
          </a:solidFill>
          <a:ln/>
        </p:spPr>
      </p:sp>
      <p:sp>
        <p:nvSpPr>
          <p:cNvPr id="6" name="Text 4"/>
          <p:cNvSpPr/>
          <p:nvPr/>
        </p:nvSpPr>
        <p:spPr>
          <a:xfrm>
            <a:off x="912733" y="1734860"/>
            <a:ext cx="202883" cy="253603"/>
          </a:xfrm>
          <a:prstGeom prst="rect">
            <a:avLst/>
          </a:prstGeom>
          <a:noFill/>
          <a:ln/>
        </p:spPr>
        <p:txBody>
          <a:bodyPr wrap="none" lIns="0" tIns="0" rIns="0" bIns="0" rtlCol="0" anchor="t"/>
          <a:lstStyle/>
          <a:p>
            <a:pPr marL="0" indent="0" algn="l">
              <a:lnSpc>
                <a:spcPts val="1550"/>
              </a:lnSpc>
              <a:buNone/>
            </a:pPr>
            <a:r>
              <a:rPr lang="en-US" sz="1550" dirty="0">
                <a:solidFill>
                  <a:srgbClr val="15213F"/>
                </a:solidFill>
                <a:latin typeface="Roboto Slab" pitchFamily="34" charset="0"/>
                <a:ea typeface="Roboto Slab" pitchFamily="34" charset="-122"/>
                <a:cs typeface="Roboto Slab" pitchFamily="34" charset="-120"/>
              </a:rPr>
              <a:t>1</a:t>
            </a:r>
            <a:endParaRPr lang="en-US" sz="1550" dirty="0"/>
          </a:p>
        </p:txBody>
      </p:sp>
      <p:sp>
        <p:nvSpPr>
          <p:cNvPr id="7" name="Text 5"/>
          <p:cNvSpPr/>
          <p:nvPr/>
        </p:nvSpPr>
        <p:spPr>
          <a:xfrm>
            <a:off x="1365409" y="1606391"/>
            <a:ext cx="2694623" cy="211336"/>
          </a:xfrm>
          <a:prstGeom prst="rect">
            <a:avLst/>
          </a:prstGeom>
          <a:noFill/>
          <a:ln/>
        </p:spPr>
        <p:txBody>
          <a:bodyPr wrap="none" lIns="0" tIns="0" rIns="0" bIns="0" rtlCol="0" anchor="t"/>
          <a:lstStyle/>
          <a:p>
            <a:pPr marL="0" indent="0" algn="l">
              <a:lnSpc>
                <a:spcPts val="1650"/>
              </a:lnSpc>
              <a:buNone/>
            </a:pPr>
            <a:r>
              <a:rPr lang="en-US" sz="1300" dirty="0">
                <a:solidFill>
                  <a:srgbClr val="15213F"/>
                </a:solidFill>
                <a:latin typeface="Roboto Slab" pitchFamily="34" charset="0"/>
                <a:ea typeface="Roboto Slab" pitchFamily="34" charset="-122"/>
                <a:cs typeface="Roboto Slab" pitchFamily="34" charset="-120"/>
              </a:rPr>
              <a:t>Language-Curriculum Disconnect</a:t>
            </a:r>
            <a:endParaRPr lang="en-US" sz="1300" dirty="0"/>
          </a:p>
        </p:txBody>
      </p:sp>
      <p:sp>
        <p:nvSpPr>
          <p:cNvPr id="8" name="Text 6"/>
          <p:cNvSpPr/>
          <p:nvPr/>
        </p:nvSpPr>
        <p:spPr>
          <a:xfrm>
            <a:off x="1365409" y="1866067"/>
            <a:ext cx="12386072" cy="172641"/>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Students ask in Hinglish, textbooks answer in English. No tool bridges this.</a:t>
            </a:r>
            <a:endParaRPr lang="en-US" sz="1050" dirty="0"/>
          </a:p>
        </p:txBody>
      </p:sp>
      <p:sp>
        <p:nvSpPr>
          <p:cNvPr id="9" name="Shape 7"/>
          <p:cNvSpPr/>
          <p:nvPr/>
        </p:nvSpPr>
        <p:spPr>
          <a:xfrm>
            <a:off x="728424" y="2348151"/>
            <a:ext cx="13173551" cy="811649"/>
          </a:xfrm>
          <a:prstGeom prst="roundRect">
            <a:avLst>
              <a:gd name="adj" fmla="val 2500"/>
            </a:avLst>
          </a:prstGeom>
          <a:solidFill>
            <a:srgbClr val="FBFCFE"/>
          </a:solidFill>
          <a:ln w="15240">
            <a:solidFill>
              <a:srgbClr val="CFD2D8"/>
            </a:solidFill>
            <a:prstDash val="solid"/>
          </a:ln>
        </p:spPr>
      </p:sp>
      <p:sp>
        <p:nvSpPr>
          <p:cNvPr id="10" name="Shape 8"/>
          <p:cNvSpPr/>
          <p:nvPr/>
        </p:nvSpPr>
        <p:spPr>
          <a:xfrm>
            <a:off x="743664" y="2363391"/>
            <a:ext cx="541139" cy="781169"/>
          </a:xfrm>
          <a:prstGeom prst="roundRect">
            <a:avLst>
              <a:gd name="adj" fmla="val 371"/>
            </a:avLst>
          </a:prstGeom>
          <a:solidFill>
            <a:srgbClr val="E9ECF2"/>
          </a:solidFill>
          <a:ln/>
        </p:spPr>
      </p:sp>
      <p:sp>
        <p:nvSpPr>
          <p:cNvPr id="11" name="Text 9"/>
          <p:cNvSpPr/>
          <p:nvPr/>
        </p:nvSpPr>
        <p:spPr>
          <a:xfrm>
            <a:off x="912733" y="2627114"/>
            <a:ext cx="202883" cy="253603"/>
          </a:xfrm>
          <a:prstGeom prst="rect">
            <a:avLst/>
          </a:prstGeom>
          <a:noFill/>
          <a:ln/>
        </p:spPr>
        <p:txBody>
          <a:bodyPr wrap="none" lIns="0" tIns="0" rIns="0" bIns="0" rtlCol="0" anchor="t"/>
          <a:lstStyle/>
          <a:p>
            <a:pPr marL="0" indent="0" algn="l">
              <a:lnSpc>
                <a:spcPts val="1550"/>
              </a:lnSpc>
              <a:buNone/>
            </a:pPr>
            <a:r>
              <a:rPr lang="en-US" sz="1550" dirty="0">
                <a:solidFill>
                  <a:srgbClr val="15213F"/>
                </a:solidFill>
                <a:latin typeface="Roboto Slab" pitchFamily="34" charset="0"/>
                <a:ea typeface="Roboto Slab" pitchFamily="34" charset="-122"/>
                <a:cs typeface="Roboto Slab" pitchFamily="34" charset="-120"/>
              </a:rPr>
              <a:t>2</a:t>
            </a:r>
            <a:endParaRPr lang="en-US" sz="1550" dirty="0"/>
          </a:p>
        </p:txBody>
      </p:sp>
      <p:sp>
        <p:nvSpPr>
          <p:cNvPr id="12" name="Text 10"/>
          <p:cNvSpPr/>
          <p:nvPr/>
        </p:nvSpPr>
        <p:spPr>
          <a:xfrm>
            <a:off x="1365409" y="2498646"/>
            <a:ext cx="2431375" cy="211336"/>
          </a:xfrm>
          <a:prstGeom prst="rect">
            <a:avLst/>
          </a:prstGeom>
          <a:noFill/>
          <a:ln/>
        </p:spPr>
        <p:txBody>
          <a:bodyPr wrap="none" lIns="0" tIns="0" rIns="0" bIns="0" rtlCol="0" anchor="t"/>
          <a:lstStyle/>
          <a:p>
            <a:pPr marL="0" indent="0" algn="l">
              <a:lnSpc>
                <a:spcPts val="1650"/>
              </a:lnSpc>
              <a:buNone/>
            </a:pPr>
            <a:r>
              <a:rPr lang="en-US" sz="1300" dirty="0">
                <a:solidFill>
                  <a:srgbClr val="15213F"/>
                </a:solidFill>
                <a:latin typeface="Roboto Slab" pitchFamily="34" charset="0"/>
                <a:ea typeface="Roboto Slab" pitchFamily="34" charset="-122"/>
                <a:cs typeface="Roboto Slab" pitchFamily="34" charset="-120"/>
              </a:rPr>
              <a:t>No Script-Agnostic Processing</a:t>
            </a:r>
            <a:endParaRPr lang="en-US" sz="1300" dirty="0"/>
          </a:p>
        </p:txBody>
      </p:sp>
      <p:sp>
        <p:nvSpPr>
          <p:cNvPr id="13" name="Text 11"/>
          <p:cNvSpPr/>
          <p:nvPr/>
        </p:nvSpPr>
        <p:spPr>
          <a:xfrm>
            <a:off x="1365409" y="2758321"/>
            <a:ext cx="12386072" cy="172641"/>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Hinglish appears in Roman, Devanagari, and Mixed script. No tool handles all three.</a:t>
            </a:r>
            <a:endParaRPr lang="en-US" sz="1050" dirty="0"/>
          </a:p>
        </p:txBody>
      </p:sp>
      <p:sp>
        <p:nvSpPr>
          <p:cNvPr id="14" name="Shape 12"/>
          <p:cNvSpPr/>
          <p:nvPr/>
        </p:nvSpPr>
        <p:spPr>
          <a:xfrm>
            <a:off x="728424" y="3240405"/>
            <a:ext cx="13173551" cy="811649"/>
          </a:xfrm>
          <a:prstGeom prst="roundRect">
            <a:avLst>
              <a:gd name="adj" fmla="val 2500"/>
            </a:avLst>
          </a:prstGeom>
          <a:solidFill>
            <a:srgbClr val="FBFCFE"/>
          </a:solidFill>
          <a:ln w="15240">
            <a:solidFill>
              <a:srgbClr val="CFD2D8"/>
            </a:solidFill>
            <a:prstDash val="solid"/>
          </a:ln>
        </p:spPr>
      </p:sp>
      <p:sp>
        <p:nvSpPr>
          <p:cNvPr id="15" name="Shape 13"/>
          <p:cNvSpPr/>
          <p:nvPr/>
        </p:nvSpPr>
        <p:spPr>
          <a:xfrm>
            <a:off x="743664" y="3255645"/>
            <a:ext cx="541139" cy="781169"/>
          </a:xfrm>
          <a:prstGeom prst="roundRect">
            <a:avLst>
              <a:gd name="adj" fmla="val 371"/>
            </a:avLst>
          </a:prstGeom>
          <a:solidFill>
            <a:srgbClr val="E9ECF2"/>
          </a:solidFill>
          <a:ln/>
        </p:spPr>
      </p:sp>
      <p:sp>
        <p:nvSpPr>
          <p:cNvPr id="16" name="Text 14"/>
          <p:cNvSpPr/>
          <p:nvPr/>
        </p:nvSpPr>
        <p:spPr>
          <a:xfrm>
            <a:off x="912733" y="3519368"/>
            <a:ext cx="202883" cy="253603"/>
          </a:xfrm>
          <a:prstGeom prst="rect">
            <a:avLst/>
          </a:prstGeom>
          <a:noFill/>
          <a:ln/>
        </p:spPr>
        <p:txBody>
          <a:bodyPr wrap="none" lIns="0" tIns="0" rIns="0" bIns="0" rtlCol="0" anchor="t"/>
          <a:lstStyle/>
          <a:p>
            <a:pPr marL="0" indent="0" algn="l">
              <a:lnSpc>
                <a:spcPts val="1550"/>
              </a:lnSpc>
              <a:buNone/>
            </a:pPr>
            <a:r>
              <a:rPr lang="en-US" sz="1550" dirty="0">
                <a:solidFill>
                  <a:srgbClr val="15213F"/>
                </a:solidFill>
                <a:latin typeface="Roboto Slab" pitchFamily="34" charset="0"/>
                <a:ea typeface="Roboto Slab" pitchFamily="34" charset="-122"/>
                <a:cs typeface="Roboto Slab" pitchFamily="34" charset="-120"/>
              </a:rPr>
              <a:t>3</a:t>
            </a:r>
            <a:endParaRPr lang="en-US" sz="1550" dirty="0"/>
          </a:p>
        </p:txBody>
      </p:sp>
      <p:sp>
        <p:nvSpPr>
          <p:cNvPr id="17" name="Text 15"/>
          <p:cNvSpPr/>
          <p:nvPr/>
        </p:nvSpPr>
        <p:spPr>
          <a:xfrm>
            <a:off x="1365409" y="3390900"/>
            <a:ext cx="1988463" cy="211336"/>
          </a:xfrm>
          <a:prstGeom prst="rect">
            <a:avLst/>
          </a:prstGeom>
          <a:noFill/>
          <a:ln/>
        </p:spPr>
        <p:txBody>
          <a:bodyPr wrap="none" lIns="0" tIns="0" rIns="0" bIns="0" rtlCol="0" anchor="t"/>
          <a:lstStyle/>
          <a:p>
            <a:pPr marL="0" indent="0" algn="l">
              <a:lnSpc>
                <a:spcPts val="1650"/>
              </a:lnSpc>
              <a:buNone/>
            </a:pPr>
            <a:r>
              <a:rPr lang="en-US" sz="1300" dirty="0">
                <a:solidFill>
                  <a:srgbClr val="15213F"/>
                </a:solidFill>
                <a:latin typeface="Roboto Slab" pitchFamily="34" charset="0"/>
                <a:ea typeface="Roboto Slab" pitchFamily="34" charset="-122"/>
                <a:cs typeface="Roboto Slab" pitchFamily="34" charset="-120"/>
              </a:rPr>
              <a:t>No Code-Mix-Aware GEC</a:t>
            </a:r>
            <a:endParaRPr lang="en-US" sz="1300" dirty="0"/>
          </a:p>
        </p:txBody>
      </p:sp>
      <p:sp>
        <p:nvSpPr>
          <p:cNvPr id="18" name="Text 16"/>
          <p:cNvSpPr/>
          <p:nvPr/>
        </p:nvSpPr>
        <p:spPr>
          <a:xfrm>
            <a:off x="1365409" y="3650575"/>
            <a:ext cx="12386072" cy="172641"/>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Grammarly/ChatGPT flag code-switches as errors. BEA-2019, Lang-8, CoNLL-2014 have ZERO code-mixed data.</a:t>
            </a:r>
            <a:endParaRPr lang="en-US" sz="1050" dirty="0"/>
          </a:p>
        </p:txBody>
      </p:sp>
      <p:sp>
        <p:nvSpPr>
          <p:cNvPr id="19" name="Shape 17"/>
          <p:cNvSpPr/>
          <p:nvPr/>
        </p:nvSpPr>
        <p:spPr>
          <a:xfrm>
            <a:off x="728424" y="4132659"/>
            <a:ext cx="13173551" cy="811649"/>
          </a:xfrm>
          <a:prstGeom prst="roundRect">
            <a:avLst>
              <a:gd name="adj" fmla="val 2500"/>
            </a:avLst>
          </a:prstGeom>
          <a:solidFill>
            <a:srgbClr val="FBFCFE"/>
          </a:solidFill>
          <a:ln w="15240">
            <a:solidFill>
              <a:srgbClr val="CFD2D8"/>
            </a:solidFill>
            <a:prstDash val="solid"/>
          </a:ln>
        </p:spPr>
      </p:sp>
      <p:sp>
        <p:nvSpPr>
          <p:cNvPr id="20" name="Shape 18"/>
          <p:cNvSpPr/>
          <p:nvPr/>
        </p:nvSpPr>
        <p:spPr>
          <a:xfrm>
            <a:off x="743664" y="4147899"/>
            <a:ext cx="541139" cy="781169"/>
          </a:xfrm>
          <a:prstGeom prst="roundRect">
            <a:avLst>
              <a:gd name="adj" fmla="val 371"/>
            </a:avLst>
          </a:prstGeom>
          <a:solidFill>
            <a:srgbClr val="E9ECF2"/>
          </a:solidFill>
          <a:ln/>
        </p:spPr>
      </p:sp>
      <p:sp>
        <p:nvSpPr>
          <p:cNvPr id="21" name="Text 19"/>
          <p:cNvSpPr/>
          <p:nvPr/>
        </p:nvSpPr>
        <p:spPr>
          <a:xfrm>
            <a:off x="912733" y="4411623"/>
            <a:ext cx="202883" cy="253603"/>
          </a:xfrm>
          <a:prstGeom prst="rect">
            <a:avLst/>
          </a:prstGeom>
          <a:noFill/>
          <a:ln/>
        </p:spPr>
        <p:txBody>
          <a:bodyPr wrap="none" lIns="0" tIns="0" rIns="0" bIns="0" rtlCol="0" anchor="t"/>
          <a:lstStyle/>
          <a:p>
            <a:pPr marL="0" indent="0" algn="l">
              <a:lnSpc>
                <a:spcPts val="1550"/>
              </a:lnSpc>
              <a:buNone/>
            </a:pPr>
            <a:r>
              <a:rPr lang="en-US" sz="1550" dirty="0">
                <a:solidFill>
                  <a:srgbClr val="15213F"/>
                </a:solidFill>
                <a:latin typeface="Roboto Slab" pitchFamily="34" charset="0"/>
                <a:ea typeface="Roboto Slab" pitchFamily="34" charset="-122"/>
                <a:cs typeface="Roboto Slab" pitchFamily="34" charset="-120"/>
              </a:rPr>
              <a:t>4</a:t>
            </a:r>
            <a:endParaRPr lang="en-US" sz="1550" dirty="0"/>
          </a:p>
        </p:txBody>
      </p:sp>
      <p:sp>
        <p:nvSpPr>
          <p:cNvPr id="22" name="Text 20"/>
          <p:cNvSpPr/>
          <p:nvPr/>
        </p:nvSpPr>
        <p:spPr>
          <a:xfrm>
            <a:off x="1365409" y="4283154"/>
            <a:ext cx="2589609" cy="211336"/>
          </a:xfrm>
          <a:prstGeom prst="rect">
            <a:avLst/>
          </a:prstGeom>
          <a:noFill/>
          <a:ln/>
        </p:spPr>
        <p:txBody>
          <a:bodyPr wrap="none" lIns="0" tIns="0" rIns="0" bIns="0" rtlCol="0" anchor="t"/>
          <a:lstStyle/>
          <a:p>
            <a:pPr marL="0" indent="0" algn="l">
              <a:lnSpc>
                <a:spcPts val="1650"/>
              </a:lnSpc>
              <a:buNone/>
            </a:pPr>
            <a:r>
              <a:rPr lang="en-US" sz="1300" dirty="0">
                <a:solidFill>
                  <a:srgbClr val="15213F"/>
                </a:solidFill>
                <a:latin typeface="Roboto Slab" pitchFamily="34" charset="0"/>
                <a:ea typeface="Roboto Slab" pitchFamily="34" charset="-122"/>
                <a:cs typeface="Roboto Slab" pitchFamily="34" charset="-120"/>
              </a:rPr>
              <a:t>No Hinglish Educational Dataset</a:t>
            </a:r>
            <a:endParaRPr lang="en-US" sz="1300" dirty="0"/>
          </a:p>
        </p:txBody>
      </p:sp>
      <p:sp>
        <p:nvSpPr>
          <p:cNvPr id="23" name="Text 21"/>
          <p:cNvSpPr/>
          <p:nvPr/>
        </p:nvSpPr>
        <p:spPr>
          <a:xfrm>
            <a:off x="1365409" y="4542830"/>
            <a:ext cx="12386072" cy="172641"/>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CS datasets exist for sentiment/NER but NOT for educational Q&amp;A paired with NCERT.</a:t>
            </a:r>
            <a:endParaRPr lang="en-US" sz="1050" dirty="0"/>
          </a:p>
        </p:txBody>
      </p:sp>
      <p:sp>
        <p:nvSpPr>
          <p:cNvPr id="24" name="Shape 22"/>
          <p:cNvSpPr/>
          <p:nvPr/>
        </p:nvSpPr>
        <p:spPr>
          <a:xfrm>
            <a:off x="728424" y="5024914"/>
            <a:ext cx="13173551" cy="811649"/>
          </a:xfrm>
          <a:prstGeom prst="roundRect">
            <a:avLst>
              <a:gd name="adj" fmla="val 2500"/>
            </a:avLst>
          </a:prstGeom>
          <a:solidFill>
            <a:srgbClr val="FBFCFE"/>
          </a:solidFill>
          <a:ln w="15240">
            <a:solidFill>
              <a:srgbClr val="CFD2D8"/>
            </a:solidFill>
            <a:prstDash val="solid"/>
          </a:ln>
        </p:spPr>
      </p:sp>
      <p:sp>
        <p:nvSpPr>
          <p:cNvPr id="25" name="Shape 23"/>
          <p:cNvSpPr/>
          <p:nvPr/>
        </p:nvSpPr>
        <p:spPr>
          <a:xfrm>
            <a:off x="743664" y="5040154"/>
            <a:ext cx="541139" cy="781169"/>
          </a:xfrm>
          <a:prstGeom prst="roundRect">
            <a:avLst>
              <a:gd name="adj" fmla="val 371"/>
            </a:avLst>
          </a:prstGeom>
          <a:solidFill>
            <a:srgbClr val="E9ECF2"/>
          </a:solidFill>
          <a:ln/>
        </p:spPr>
      </p:sp>
      <p:sp>
        <p:nvSpPr>
          <p:cNvPr id="26" name="Text 24"/>
          <p:cNvSpPr/>
          <p:nvPr/>
        </p:nvSpPr>
        <p:spPr>
          <a:xfrm>
            <a:off x="912733" y="5303877"/>
            <a:ext cx="202883" cy="253603"/>
          </a:xfrm>
          <a:prstGeom prst="rect">
            <a:avLst/>
          </a:prstGeom>
          <a:noFill/>
          <a:ln/>
        </p:spPr>
        <p:txBody>
          <a:bodyPr wrap="none" lIns="0" tIns="0" rIns="0" bIns="0" rtlCol="0" anchor="t"/>
          <a:lstStyle/>
          <a:p>
            <a:pPr marL="0" indent="0" algn="l">
              <a:lnSpc>
                <a:spcPts val="1550"/>
              </a:lnSpc>
              <a:buNone/>
            </a:pPr>
            <a:r>
              <a:rPr lang="en-US" sz="1550" dirty="0">
                <a:solidFill>
                  <a:srgbClr val="15213F"/>
                </a:solidFill>
                <a:latin typeface="Roboto Slab" pitchFamily="34" charset="0"/>
                <a:ea typeface="Roboto Slab" pitchFamily="34" charset="-122"/>
                <a:cs typeface="Roboto Slab" pitchFamily="34" charset="-120"/>
              </a:rPr>
              <a:t>5</a:t>
            </a:r>
            <a:endParaRPr lang="en-US" sz="1550" dirty="0"/>
          </a:p>
        </p:txBody>
      </p:sp>
      <p:sp>
        <p:nvSpPr>
          <p:cNvPr id="27" name="Text 25"/>
          <p:cNvSpPr/>
          <p:nvPr/>
        </p:nvSpPr>
        <p:spPr>
          <a:xfrm>
            <a:off x="1365409" y="5175409"/>
            <a:ext cx="1691045" cy="211336"/>
          </a:xfrm>
          <a:prstGeom prst="rect">
            <a:avLst/>
          </a:prstGeom>
          <a:noFill/>
          <a:ln/>
        </p:spPr>
        <p:txBody>
          <a:bodyPr wrap="none" lIns="0" tIns="0" rIns="0" bIns="0" rtlCol="0" anchor="t"/>
          <a:lstStyle/>
          <a:p>
            <a:pPr marL="0" indent="0" algn="l">
              <a:lnSpc>
                <a:spcPts val="1650"/>
              </a:lnSpc>
              <a:buNone/>
            </a:pPr>
            <a:r>
              <a:rPr lang="en-US" sz="1300" dirty="0">
                <a:solidFill>
                  <a:srgbClr val="15213F"/>
                </a:solidFill>
                <a:latin typeface="Roboto Slab" pitchFamily="34" charset="0"/>
                <a:ea typeface="Roboto Slab" pitchFamily="34" charset="-122"/>
                <a:cs typeface="Roboto Slab" pitchFamily="34" charset="-120"/>
              </a:rPr>
              <a:t>LLM Hallucination</a:t>
            </a:r>
            <a:endParaRPr lang="en-US" sz="1300" dirty="0"/>
          </a:p>
        </p:txBody>
      </p:sp>
      <p:sp>
        <p:nvSpPr>
          <p:cNvPr id="28" name="Text 26"/>
          <p:cNvSpPr/>
          <p:nvPr/>
        </p:nvSpPr>
        <p:spPr>
          <a:xfrm>
            <a:off x="1365409" y="5435084"/>
            <a:ext cx="12386072" cy="172641"/>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ChatGPT hallucinates 3-5% (Stanford HAI). In education, even 1% is unacceptable.</a:t>
            </a:r>
            <a:endParaRPr lang="en-US" sz="1050" dirty="0"/>
          </a:p>
        </p:txBody>
      </p:sp>
      <p:sp>
        <p:nvSpPr>
          <p:cNvPr id="29" name="Shape 27"/>
          <p:cNvSpPr/>
          <p:nvPr/>
        </p:nvSpPr>
        <p:spPr>
          <a:xfrm>
            <a:off x="728424" y="5917168"/>
            <a:ext cx="13173551" cy="811649"/>
          </a:xfrm>
          <a:prstGeom prst="roundRect">
            <a:avLst>
              <a:gd name="adj" fmla="val 2500"/>
            </a:avLst>
          </a:prstGeom>
          <a:solidFill>
            <a:srgbClr val="FBFCFE"/>
          </a:solidFill>
          <a:ln w="15240">
            <a:solidFill>
              <a:srgbClr val="CFD2D8"/>
            </a:solidFill>
            <a:prstDash val="solid"/>
          </a:ln>
        </p:spPr>
      </p:sp>
      <p:sp>
        <p:nvSpPr>
          <p:cNvPr id="30" name="Shape 28"/>
          <p:cNvSpPr/>
          <p:nvPr/>
        </p:nvSpPr>
        <p:spPr>
          <a:xfrm>
            <a:off x="743664" y="5932408"/>
            <a:ext cx="541139" cy="781169"/>
          </a:xfrm>
          <a:prstGeom prst="roundRect">
            <a:avLst>
              <a:gd name="adj" fmla="val 371"/>
            </a:avLst>
          </a:prstGeom>
          <a:solidFill>
            <a:srgbClr val="E9ECF2"/>
          </a:solidFill>
          <a:ln/>
        </p:spPr>
      </p:sp>
      <p:sp>
        <p:nvSpPr>
          <p:cNvPr id="31" name="Text 29"/>
          <p:cNvSpPr/>
          <p:nvPr/>
        </p:nvSpPr>
        <p:spPr>
          <a:xfrm>
            <a:off x="912733" y="6196132"/>
            <a:ext cx="202883" cy="253603"/>
          </a:xfrm>
          <a:prstGeom prst="rect">
            <a:avLst/>
          </a:prstGeom>
          <a:noFill/>
          <a:ln/>
        </p:spPr>
        <p:txBody>
          <a:bodyPr wrap="none" lIns="0" tIns="0" rIns="0" bIns="0" rtlCol="0" anchor="t"/>
          <a:lstStyle/>
          <a:p>
            <a:pPr marL="0" indent="0" algn="l">
              <a:lnSpc>
                <a:spcPts val="1550"/>
              </a:lnSpc>
              <a:buNone/>
            </a:pPr>
            <a:r>
              <a:rPr lang="en-US" sz="1550" dirty="0">
                <a:solidFill>
                  <a:srgbClr val="15213F"/>
                </a:solidFill>
                <a:latin typeface="Roboto Slab" pitchFamily="34" charset="0"/>
                <a:ea typeface="Roboto Slab" pitchFamily="34" charset="-122"/>
                <a:cs typeface="Roboto Slab" pitchFamily="34" charset="-120"/>
              </a:rPr>
              <a:t>6</a:t>
            </a:r>
            <a:endParaRPr lang="en-US" sz="1550" dirty="0"/>
          </a:p>
        </p:txBody>
      </p:sp>
      <p:sp>
        <p:nvSpPr>
          <p:cNvPr id="32" name="Text 30"/>
          <p:cNvSpPr/>
          <p:nvPr/>
        </p:nvSpPr>
        <p:spPr>
          <a:xfrm>
            <a:off x="1365409" y="6067663"/>
            <a:ext cx="2181463" cy="211336"/>
          </a:xfrm>
          <a:prstGeom prst="rect">
            <a:avLst/>
          </a:prstGeom>
          <a:noFill/>
          <a:ln/>
        </p:spPr>
        <p:txBody>
          <a:bodyPr wrap="none" lIns="0" tIns="0" rIns="0" bIns="0" rtlCol="0" anchor="t"/>
          <a:lstStyle/>
          <a:p>
            <a:pPr marL="0" indent="0" algn="l">
              <a:lnSpc>
                <a:spcPts val="1650"/>
              </a:lnSpc>
              <a:buNone/>
            </a:pPr>
            <a:r>
              <a:rPr lang="en-US" sz="1300" dirty="0">
                <a:solidFill>
                  <a:srgbClr val="15213F"/>
                </a:solidFill>
                <a:latin typeface="Roboto Slab" pitchFamily="34" charset="0"/>
                <a:ea typeface="Roboto Slab" pitchFamily="34" charset="-122"/>
                <a:cs typeface="Roboto Slab" pitchFamily="34" charset="-120"/>
              </a:rPr>
              <a:t>No Pedagogical Scaffolding</a:t>
            </a:r>
            <a:endParaRPr lang="en-US" sz="1300" dirty="0"/>
          </a:p>
        </p:txBody>
      </p:sp>
      <p:sp>
        <p:nvSpPr>
          <p:cNvPr id="33" name="Text 31"/>
          <p:cNvSpPr/>
          <p:nvPr/>
        </p:nvSpPr>
        <p:spPr>
          <a:xfrm>
            <a:off x="1365409" y="6327338"/>
            <a:ext cx="12386072" cy="172641"/>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LLMs give correct but poorly structured answers — no analogies, no progressive flow.</a:t>
            </a:r>
            <a:endParaRPr lang="en-US" sz="1050" dirty="0"/>
          </a:p>
        </p:txBody>
      </p:sp>
      <p:sp>
        <p:nvSpPr>
          <p:cNvPr id="34" name="Shape 32"/>
          <p:cNvSpPr/>
          <p:nvPr/>
        </p:nvSpPr>
        <p:spPr>
          <a:xfrm>
            <a:off x="728424" y="6809423"/>
            <a:ext cx="13173551" cy="811649"/>
          </a:xfrm>
          <a:prstGeom prst="roundRect">
            <a:avLst>
              <a:gd name="adj" fmla="val 2500"/>
            </a:avLst>
          </a:prstGeom>
          <a:solidFill>
            <a:srgbClr val="FBFCFE"/>
          </a:solidFill>
          <a:ln w="15240">
            <a:solidFill>
              <a:srgbClr val="CFD2D8"/>
            </a:solidFill>
            <a:prstDash val="solid"/>
          </a:ln>
        </p:spPr>
      </p:sp>
      <p:sp>
        <p:nvSpPr>
          <p:cNvPr id="35" name="Shape 33"/>
          <p:cNvSpPr/>
          <p:nvPr/>
        </p:nvSpPr>
        <p:spPr>
          <a:xfrm>
            <a:off x="743664" y="6824663"/>
            <a:ext cx="541139" cy="781169"/>
          </a:xfrm>
          <a:prstGeom prst="roundRect">
            <a:avLst>
              <a:gd name="adj" fmla="val 371"/>
            </a:avLst>
          </a:prstGeom>
          <a:solidFill>
            <a:srgbClr val="E9ECF2"/>
          </a:solidFill>
          <a:ln/>
        </p:spPr>
      </p:sp>
      <p:sp>
        <p:nvSpPr>
          <p:cNvPr id="36" name="Text 34"/>
          <p:cNvSpPr/>
          <p:nvPr/>
        </p:nvSpPr>
        <p:spPr>
          <a:xfrm>
            <a:off x="912733" y="7088386"/>
            <a:ext cx="202883" cy="253603"/>
          </a:xfrm>
          <a:prstGeom prst="rect">
            <a:avLst/>
          </a:prstGeom>
          <a:noFill/>
          <a:ln/>
        </p:spPr>
        <p:txBody>
          <a:bodyPr wrap="none" lIns="0" tIns="0" rIns="0" bIns="0" rtlCol="0" anchor="t"/>
          <a:lstStyle/>
          <a:p>
            <a:pPr marL="0" indent="0" algn="l">
              <a:lnSpc>
                <a:spcPts val="1550"/>
              </a:lnSpc>
              <a:buNone/>
            </a:pPr>
            <a:r>
              <a:rPr lang="en-US" sz="1550" dirty="0">
                <a:solidFill>
                  <a:srgbClr val="15213F"/>
                </a:solidFill>
                <a:latin typeface="Roboto Slab" pitchFamily="34" charset="0"/>
                <a:ea typeface="Roboto Slab" pitchFamily="34" charset="-122"/>
                <a:cs typeface="Roboto Slab" pitchFamily="34" charset="-120"/>
              </a:rPr>
              <a:t>7</a:t>
            </a:r>
            <a:endParaRPr lang="en-US" sz="1550" dirty="0"/>
          </a:p>
        </p:txBody>
      </p:sp>
      <p:sp>
        <p:nvSpPr>
          <p:cNvPr id="37" name="Text 35"/>
          <p:cNvSpPr/>
          <p:nvPr/>
        </p:nvSpPr>
        <p:spPr>
          <a:xfrm>
            <a:off x="1365409" y="6959917"/>
            <a:ext cx="2105263" cy="211336"/>
          </a:xfrm>
          <a:prstGeom prst="rect">
            <a:avLst/>
          </a:prstGeom>
          <a:noFill/>
          <a:ln/>
        </p:spPr>
        <p:txBody>
          <a:bodyPr wrap="none" lIns="0" tIns="0" rIns="0" bIns="0" rtlCol="0" anchor="t"/>
          <a:lstStyle/>
          <a:p>
            <a:pPr marL="0" indent="0" algn="l">
              <a:lnSpc>
                <a:spcPts val="1650"/>
              </a:lnSpc>
              <a:buNone/>
            </a:pPr>
            <a:r>
              <a:rPr lang="en-US" sz="1300" dirty="0">
                <a:solidFill>
                  <a:srgbClr val="15213F"/>
                </a:solidFill>
                <a:latin typeface="Roboto Slab" pitchFamily="34" charset="0"/>
                <a:ea typeface="Roboto Slab" pitchFamily="34" charset="-122"/>
                <a:cs typeface="Roboto Slab" pitchFamily="34" charset="-120"/>
              </a:rPr>
              <a:t>No Evaluation Framework</a:t>
            </a:r>
            <a:endParaRPr lang="en-US" sz="1300" dirty="0"/>
          </a:p>
        </p:txBody>
      </p:sp>
      <p:sp>
        <p:nvSpPr>
          <p:cNvPr id="38" name="Text 36"/>
          <p:cNvSpPr/>
          <p:nvPr/>
        </p:nvSpPr>
        <p:spPr>
          <a:xfrm>
            <a:off x="1365409" y="7219593"/>
            <a:ext cx="12386072" cy="172641"/>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BLEU/ROUGE don't capture pedagogical quality. No Hinglish educational rubric exists.</a:t>
            </a:r>
            <a:endParaRPr lang="en-US" sz="1050" dirty="0"/>
          </a:p>
        </p:txBody>
      </p:sp>
      <p:pic>
        <p:nvPicPr>
          <p:cNvPr id="40" name="Picture 39">
            <a:extLst>
              <a:ext uri="{FF2B5EF4-FFF2-40B4-BE49-F238E27FC236}">
                <a16:creationId xmlns:a16="http://schemas.microsoft.com/office/drawing/2014/main" id="{6E0C688F-8344-4089-F3D6-E9801206924E}"/>
              </a:ext>
            </a:extLst>
          </p:cNvPr>
          <p:cNvPicPr>
            <a:picLocks noChangeAspect="1"/>
          </p:cNvPicPr>
          <p:nvPr/>
        </p:nvPicPr>
        <p:blipFill>
          <a:blip r:embed="rId3"/>
          <a:stretch>
            <a:fillRect/>
          </a:stretch>
        </p:blipFill>
        <p:spPr>
          <a:xfrm>
            <a:off x="12839450" y="7715178"/>
            <a:ext cx="1790950" cy="51442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26519" y="997506"/>
            <a:ext cx="5190053" cy="648653"/>
          </a:xfrm>
          <a:prstGeom prst="rect">
            <a:avLst/>
          </a:prstGeom>
          <a:noFill/>
          <a:ln/>
        </p:spPr>
        <p:txBody>
          <a:bodyPr wrap="none" lIns="0" tIns="0" rIns="0" bIns="0" rtlCol="0" anchor="t"/>
          <a:lstStyle/>
          <a:p>
            <a:pPr marL="0" indent="0" algn="l">
              <a:lnSpc>
                <a:spcPts val="5100"/>
              </a:lnSpc>
              <a:buNone/>
            </a:pPr>
            <a:r>
              <a:rPr lang="en-US" sz="4050" dirty="0">
                <a:solidFill>
                  <a:srgbClr val="3257B8"/>
                </a:solidFill>
                <a:latin typeface="Roboto Slab" pitchFamily="34" charset="0"/>
                <a:ea typeface="Roboto Slab" pitchFamily="34" charset="-122"/>
                <a:cs typeface="Roboto Slab" pitchFamily="34" charset="-120"/>
              </a:rPr>
              <a:t>Objectives</a:t>
            </a:r>
            <a:endParaRPr lang="en-US" sz="4050" dirty="0"/>
          </a:p>
        </p:txBody>
      </p:sp>
      <p:sp>
        <p:nvSpPr>
          <p:cNvPr id="3" name="Text 1"/>
          <p:cNvSpPr/>
          <p:nvPr/>
        </p:nvSpPr>
        <p:spPr>
          <a:xfrm>
            <a:off x="726519" y="2026087"/>
            <a:ext cx="207526" cy="259437"/>
          </a:xfrm>
          <a:prstGeom prst="rect">
            <a:avLst/>
          </a:prstGeom>
          <a:noFill/>
          <a:ln/>
        </p:spPr>
        <p:txBody>
          <a:bodyPr wrap="none" lIns="0" tIns="0" rIns="0" bIns="0" rtlCol="0" anchor="t"/>
          <a:lstStyle/>
          <a:p>
            <a:pPr marL="0" indent="0" algn="l">
              <a:lnSpc>
                <a:spcPts val="2500"/>
              </a:lnSpc>
              <a:buNone/>
            </a:pPr>
            <a:r>
              <a:rPr lang="en-US" sz="1600" dirty="0">
                <a:solidFill>
                  <a:srgbClr val="15213F"/>
                </a:solidFill>
                <a:latin typeface="Roboto Slab Light" pitchFamily="34" charset="0"/>
                <a:ea typeface="Roboto Slab Light" pitchFamily="34" charset="-122"/>
                <a:cs typeface="Roboto Slab Light" pitchFamily="34" charset="-120"/>
              </a:rPr>
              <a:t>01</a:t>
            </a:r>
            <a:endParaRPr lang="en-US" sz="1600" dirty="0"/>
          </a:p>
        </p:txBody>
      </p:sp>
      <p:pic>
        <p:nvPicPr>
          <p:cNvPr id="4" name="Image 0" descr="preencoded.png"/>
          <p:cNvPicPr>
            <a:picLocks noChangeAspect="1"/>
          </p:cNvPicPr>
          <p:nvPr/>
        </p:nvPicPr>
        <p:blipFill>
          <a:blip r:embed="rId3"/>
          <a:stretch>
            <a:fillRect/>
          </a:stretch>
        </p:blipFill>
        <p:spPr>
          <a:xfrm>
            <a:off x="726519" y="2355890"/>
            <a:ext cx="3151823" cy="22860"/>
          </a:xfrm>
          <a:prstGeom prst="rect">
            <a:avLst/>
          </a:prstGeom>
        </p:spPr>
      </p:pic>
      <p:sp>
        <p:nvSpPr>
          <p:cNvPr id="5" name="Text 2"/>
          <p:cNvSpPr/>
          <p:nvPr/>
        </p:nvSpPr>
        <p:spPr>
          <a:xfrm>
            <a:off x="726519" y="2505313"/>
            <a:ext cx="3151823" cy="648891"/>
          </a:xfrm>
          <a:prstGeom prst="rect">
            <a:avLst/>
          </a:prstGeom>
          <a:noFill/>
          <a:ln/>
        </p:spPr>
        <p:txBody>
          <a:bodyPr wrap="square" lIns="0" tIns="0" rIns="0" bIns="0" rtlCol="0" anchor="t"/>
          <a:lstStyle/>
          <a:p>
            <a:pPr marL="0" indent="0" algn="l">
              <a:lnSpc>
                <a:spcPts val="2550"/>
              </a:lnSpc>
              <a:buNone/>
            </a:pPr>
            <a:r>
              <a:rPr lang="en-US" sz="2000" dirty="0">
                <a:solidFill>
                  <a:srgbClr val="15213F"/>
                </a:solidFill>
                <a:latin typeface="Roboto Slab" pitchFamily="34" charset="0"/>
                <a:ea typeface="Roboto Slab" pitchFamily="34" charset="-122"/>
                <a:cs typeface="Roboto Slab" pitchFamily="34" charset="-120"/>
              </a:rPr>
              <a:t>OBJ 1: Novel Hinglish Educational Dataset</a:t>
            </a:r>
            <a:endParaRPr lang="en-US" sz="2000" dirty="0"/>
          </a:p>
        </p:txBody>
      </p:sp>
      <p:sp>
        <p:nvSpPr>
          <p:cNvPr id="6" name="Text 3"/>
          <p:cNvSpPr/>
          <p:nvPr/>
        </p:nvSpPr>
        <p:spPr>
          <a:xfrm>
            <a:off x="726519" y="3268147"/>
            <a:ext cx="3151823" cy="1590675"/>
          </a:xfrm>
          <a:prstGeom prst="rect">
            <a:avLst/>
          </a:prstGeom>
          <a:noFill/>
          <a:ln/>
        </p:spPr>
        <p:txBody>
          <a:bodyPr wrap="square" lIns="0" tIns="0" rIns="0" bIns="0" rtlCol="0" anchor="t"/>
          <a:lstStyle/>
          <a:p>
            <a:pPr marL="0" indent="0" algn="l">
              <a:lnSpc>
                <a:spcPts val="2500"/>
              </a:lnSpc>
              <a:buNone/>
            </a:pPr>
            <a:r>
              <a:rPr lang="en-US" sz="1600" dirty="0">
                <a:solidFill>
                  <a:srgbClr val="15213F"/>
                </a:solidFill>
                <a:latin typeface="Roboto" pitchFamily="34" charset="0"/>
                <a:ea typeface="Roboto" pitchFamily="34" charset="-122"/>
                <a:cs typeface="Roboto" pitchFamily="34" charset="-120"/>
              </a:rPr>
              <a:t>Curate 200-500 labeled Hinglish Q&amp;A pairs annotated with language tags, topic mapping, and difficulty level as a research contribution.</a:t>
            </a:r>
            <a:endParaRPr lang="en-US" sz="1600" dirty="0"/>
          </a:p>
        </p:txBody>
      </p:sp>
      <p:sp>
        <p:nvSpPr>
          <p:cNvPr id="7" name="Text 4"/>
          <p:cNvSpPr/>
          <p:nvPr/>
        </p:nvSpPr>
        <p:spPr>
          <a:xfrm>
            <a:off x="4068247" y="2026087"/>
            <a:ext cx="207526" cy="259437"/>
          </a:xfrm>
          <a:prstGeom prst="rect">
            <a:avLst/>
          </a:prstGeom>
          <a:noFill/>
          <a:ln/>
        </p:spPr>
        <p:txBody>
          <a:bodyPr wrap="none" lIns="0" tIns="0" rIns="0" bIns="0" rtlCol="0" anchor="t"/>
          <a:lstStyle/>
          <a:p>
            <a:pPr marL="0" indent="0" algn="l">
              <a:lnSpc>
                <a:spcPts val="2500"/>
              </a:lnSpc>
              <a:buNone/>
            </a:pPr>
            <a:r>
              <a:rPr lang="en-US" sz="1600" dirty="0">
                <a:solidFill>
                  <a:srgbClr val="15213F"/>
                </a:solidFill>
                <a:latin typeface="Roboto Slab Light" pitchFamily="34" charset="0"/>
                <a:ea typeface="Roboto Slab Light" pitchFamily="34" charset="-122"/>
                <a:cs typeface="Roboto Slab Light" pitchFamily="34" charset="-120"/>
              </a:rPr>
              <a:t>02</a:t>
            </a:r>
            <a:endParaRPr lang="en-US" sz="1600" dirty="0"/>
          </a:p>
        </p:txBody>
      </p:sp>
      <p:pic>
        <p:nvPicPr>
          <p:cNvPr id="8" name="Image 1" descr="preencoded.png"/>
          <p:cNvPicPr>
            <a:picLocks noChangeAspect="1"/>
          </p:cNvPicPr>
          <p:nvPr/>
        </p:nvPicPr>
        <p:blipFill>
          <a:blip r:embed="rId3"/>
          <a:stretch>
            <a:fillRect/>
          </a:stretch>
        </p:blipFill>
        <p:spPr>
          <a:xfrm>
            <a:off x="4068247" y="2355890"/>
            <a:ext cx="3151942" cy="22860"/>
          </a:xfrm>
          <a:prstGeom prst="rect">
            <a:avLst/>
          </a:prstGeom>
        </p:spPr>
      </p:pic>
      <p:sp>
        <p:nvSpPr>
          <p:cNvPr id="9" name="Text 5"/>
          <p:cNvSpPr/>
          <p:nvPr/>
        </p:nvSpPr>
        <p:spPr>
          <a:xfrm>
            <a:off x="4068247" y="2505313"/>
            <a:ext cx="3151942" cy="648891"/>
          </a:xfrm>
          <a:prstGeom prst="rect">
            <a:avLst/>
          </a:prstGeom>
          <a:noFill/>
          <a:ln/>
        </p:spPr>
        <p:txBody>
          <a:bodyPr wrap="square" lIns="0" tIns="0" rIns="0" bIns="0" rtlCol="0" anchor="t"/>
          <a:lstStyle/>
          <a:p>
            <a:pPr marL="0" indent="0" algn="l">
              <a:lnSpc>
                <a:spcPts val="2550"/>
              </a:lnSpc>
              <a:buNone/>
            </a:pPr>
            <a:r>
              <a:rPr lang="en-US" sz="2000" dirty="0">
                <a:solidFill>
                  <a:srgbClr val="15213F"/>
                </a:solidFill>
                <a:latin typeface="Roboto Slab" pitchFamily="34" charset="0"/>
                <a:ea typeface="Roboto Slab" pitchFamily="34" charset="-122"/>
                <a:cs typeface="Roboto Slab" pitchFamily="34" charset="-120"/>
              </a:rPr>
              <a:t>OBJ 2: Hinglish Input Processing Pipeline</a:t>
            </a:r>
            <a:endParaRPr lang="en-US" sz="2000" dirty="0"/>
          </a:p>
        </p:txBody>
      </p:sp>
      <p:sp>
        <p:nvSpPr>
          <p:cNvPr id="10" name="Text 6"/>
          <p:cNvSpPr/>
          <p:nvPr/>
        </p:nvSpPr>
        <p:spPr>
          <a:xfrm>
            <a:off x="4068247" y="3268147"/>
            <a:ext cx="3151942" cy="1590675"/>
          </a:xfrm>
          <a:prstGeom prst="rect">
            <a:avLst/>
          </a:prstGeom>
          <a:noFill/>
          <a:ln/>
        </p:spPr>
        <p:txBody>
          <a:bodyPr wrap="square" lIns="0" tIns="0" rIns="0" bIns="0" rtlCol="0" anchor="t"/>
          <a:lstStyle/>
          <a:p>
            <a:pPr marL="0" indent="0" algn="l">
              <a:lnSpc>
                <a:spcPts val="2500"/>
              </a:lnSpc>
              <a:buNone/>
            </a:pPr>
            <a:r>
              <a:rPr lang="en-US" sz="1600" dirty="0">
                <a:solidFill>
                  <a:srgbClr val="15213F"/>
                </a:solidFill>
                <a:latin typeface="Roboto" pitchFamily="34" charset="0"/>
                <a:ea typeface="Roboto" pitchFamily="34" charset="-122"/>
                <a:cs typeface="Roboto" pitchFamily="34" charset="-120"/>
              </a:rPr>
              <a:t>Design a pipeline to detect script, normalize spelling variations, identify language at word level, and extract student intent from informal Hinglish queries.</a:t>
            </a:r>
            <a:endParaRPr lang="en-US" sz="1600" dirty="0"/>
          </a:p>
        </p:txBody>
      </p:sp>
      <p:sp>
        <p:nvSpPr>
          <p:cNvPr id="11" name="Text 7"/>
          <p:cNvSpPr/>
          <p:nvPr/>
        </p:nvSpPr>
        <p:spPr>
          <a:xfrm>
            <a:off x="7410093" y="2026087"/>
            <a:ext cx="207526" cy="259437"/>
          </a:xfrm>
          <a:prstGeom prst="rect">
            <a:avLst/>
          </a:prstGeom>
          <a:noFill/>
          <a:ln/>
        </p:spPr>
        <p:txBody>
          <a:bodyPr wrap="none" lIns="0" tIns="0" rIns="0" bIns="0" rtlCol="0" anchor="t"/>
          <a:lstStyle/>
          <a:p>
            <a:pPr marL="0" indent="0" algn="l">
              <a:lnSpc>
                <a:spcPts val="2500"/>
              </a:lnSpc>
              <a:buNone/>
            </a:pPr>
            <a:r>
              <a:rPr lang="en-US" sz="1600" dirty="0">
                <a:solidFill>
                  <a:srgbClr val="15213F"/>
                </a:solidFill>
                <a:latin typeface="Roboto Slab Light" pitchFamily="34" charset="0"/>
                <a:ea typeface="Roboto Slab Light" pitchFamily="34" charset="-122"/>
                <a:cs typeface="Roboto Slab Light" pitchFamily="34" charset="-120"/>
              </a:rPr>
              <a:t>03</a:t>
            </a:r>
            <a:endParaRPr lang="en-US" sz="1600" dirty="0"/>
          </a:p>
        </p:txBody>
      </p:sp>
      <p:pic>
        <p:nvPicPr>
          <p:cNvPr id="12" name="Image 2" descr="preencoded.png"/>
          <p:cNvPicPr>
            <a:picLocks noChangeAspect="1"/>
          </p:cNvPicPr>
          <p:nvPr/>
        </p:nvPicPr>
        <p:blipFill>
          <a:blip r:embed="rId3"/>
          <a:stretch>
            <a:fillRect/>
          </a:stretch>
        </p:blipFill>
        <p:spPr>
          <a:xfrm>
            <a:off x="7410093" y="2355890"/>
            <a:ext cx="3151942" cy="22860"/>
          </a:xfrm>
          <a:prstGeom prst="rect">
            <a:avLst/>
          </a:prstGeom>
        </p:spPr>
      </p:pic>
      <p:sp>
        <p:nvSpPr>
          <p:cNvPr id="13" name="Text 8"/>
          <p:cNvSpPr/>
          <p:nvPr/>
        </p:nvSpPr>
        <p:spPr>
          <a:xfrm>
            <a:off x="7410093" y="2505313"/>
            <a:ext cx="3151942" cy="648891"/>
          </a:xfrm>
          <a:prstGeom prst="rect">
            <a:avLst/>
          </a:prstGeom>
          <a:noFill/>
          <a:ln/>
        </p:spPr>
        <p:txBody>
          <a:bodyPr wrap="square" lIns="0" tIns="0" rIns="0" bIns="0" rtlCol="0" anchor="t"/>
          <a:lstStyle/>
          <a:p>
            <a:pPr marL="0" indent="0" algn="l">
              <a:lnSpc>
                <a:spcPts val="2550"/>
              </a:lnSpc>
              <a:buNone/>
            </a:pPr>
            <a:r>
              <a:rPr lang="en-US" sz="2000" dirty="0">
                <a:solidFill>
                  <a:srgbClr val="15213F"/>
                </a:solidFill>
                <a:latin typeface="Roboto Slab" pitchFamily="34" charset="0"/>
                <a:ea typeface="Roboto Slab" pitchFamily="34" charset="-122"/>
                <a:cs typeface="Roboto Slab" pitchFamily="34" charset="-120"/>
              </a:rPr>
              <a:t>OBJ 3: NCERT Knowledge Retrieval using RAG </a:t>
            </a:r>
            <a:endParaRPr lang="en-US" sz="2000" dirty="0"/>
          </a:p>
        </p:txBody>
      </p:sp>
      <p:sp>
        <p:nvSpPr>
          <p:cNvPr id="14" name="Text 9"/>
          <p:cNvSpPr/>
          <p:nvPr/>
        </p:nvSpPr>
        <p:spPr>
          <a:xfrm>
            <a:off x="7410093" y="3268147"/>
            <a:ext cx="3151942" cy="1908810"/>
          </a:xfrm>
          <a:prstGeom prst="rect">
            <a:avLst/>
          </a:prstGeom>
          <a:noFill/>
          <a:ln/>
        </p:spPr>
        <p:txBody>
          <a:bodyPr wrap="square" lIns="0" tIns="0" rIns="0" bIns="0" rtlCol="0" anchor="t"/>
          <a:lstStyle/>
          <a:p>
            <a:pPr marL="0" indent="0" algn="l">
              <a:lnSpc>
                <a:spcPts val="2500"/>
              </a:lnSpc>
              <a:buNone/>
            </a:pPr>
            <a:r>
              <a:rPr lang="en-US" sz="1600" dirty="0">
                <a:solidFill>
                  <a:srgbClr val="15213F"/>
                </a:solidFill>
                <a:latin typeface="Roboto" pitchFamily="34" charset="0"/>
                <a:ea typeface="Roboto" pitchFamily="34" charset="-122"/>
                <a:cs typeface="Roboto" pitchFamily="34" charset="-120"/>
              </a:rPr>
              <a:t>Build a RAG(Retrieval Augmented Generation) system that searches NCERT textbook content using vector embeddings to ensure every answer is grounded in verified curriculum material.</a:t>
            </a:r>
            <a:endParaRPr lang="en-US" sz="1600" dirty="0"/>
          </a:p>
        </p:txBody>
      </p:sp>
      <p:sp>
        <p:nvSpPr>
          <p:cNvPr id="15" name="Text 10"/>
          <p:cNvSpPr/>
          <p:nvPr/>
        </p:nvSpPr>
        <p:spPr>
          <a:xfrm>
            <a:off x="10751939" y="2026087"/>
            <a:ext cx="207526" cy="259437"/>
          </a:xfrm>
          <a:prstGeom prst="rect">
            <a:avLst/>
          </a:prstGeom>
          <a:noFill/>
          <a:ln/>
        </p:spPr>
        <p:txBody>
          <a:bodyPr wrap="none" lIns="0" tIns="0" rIns="0" bIns="0" rtlCol="0" anchor="t"/>
          <a:lstStyle/>
          <a:p>
            <a:pPr marL="0" indent="0" algn="l">
              <a:lnSpc>
                <a:spcPts val="2500"/>
              </a:lnSpc>
              <a:buNone/>
            </a:pPr>
            <a:r>
              <a:rPr lang="en-US" sz="1600" dirty="0">
                <a:solidFill>
                  <a:srgbClr val="15213F"/>
                </a:solidFill>
                <a:latin typeface="Roboto Slab Light" pitchFamily="34" charset="0"/>
                <a:ea typeface="Roboto Slab Light" pitchFamily="34" charset="-122"/>
                <a:cs typeface="Roboto Slab Light" pitchFamily="34" charset="-120"/>
              </a:rPr>
              <a:t>04</a:t>
            </a:r>
            <a:endParaRPr lang="en-US" sz="1600" dirty="0"/>
          </a:p>
        </p:txBody>
      </p:sp>
      <p:pic>
        <p:nvPicPr>
          <p:cNvPr id="16" name="Image 3" descr="preencoded.png"/>
          <p:cNvPicPr>
            <a:picLocks noChangeAspect="1"/>
          </p:cNvPicPr>
          <p:nvPr/>
        </p:nvPicPr>
        <p:blipFill>
          <a:blip r:embed="rId3"/>
          <a:stretch>
            <a:fillRect/>
          </a:stretch>
        </p:blipFill>
        <p:spPr>
          <a:xfrm>
            <a:off x="10751939" y="2376607"/>
            <a:ext cx="3151942" cy="22860"/>
          </a:xfrm>
          <a:prstGeom prst="rect">
            <a:avLst/>
          </a:prstGeom>
        </p:spPr>
      </p:pic>
      <p:sp>
        <p:nvSpPr>
          <p:cNvPr id="17" name="Text 11"/>
          <p:cNvSpPr/>
          <p:nvPr/>
        </p:nvSpPr>
        <p:spPr>
          <a:xfrm>
            <a:off x="10751939" y="2505313"/>
            <a:ext cx="3151942" cy="648891"/>
          </a:xfrm>
          <a:prstGeom prst="rect">
            <a:avLst/>
          </a:prstGeom>
          <a:noFill/>
          <a:ln/>
        </p:spPr>
        <p:txBody>
          <a:bodyPr wrap="square" lIns="0" tIns="0" rIns="0" bIns="0" rtlCol="0" anchor="t"/>
          <a:lstStyle/>
          <a:p>
            <a:pPr marL="0" indent="0" algn="l">
              <a:lnSpc>
                <a:spcPts val="2550"/>
              </a:lnSpc>
              <a:buNone/>
            </a:pPr>
            <a:r>
              <a:rPr lang="en-US" sz="2000" dirty="0">
                <a:solidFill>
                  <a:srgbClr val="15213F"/>
                </a:solidFill>
                <a:latin typeface="Roboto Slab" pitchFamily="34" charset="0"/>
                <a:ea typeface="Roboto Slab" pitchFamily="34" charset="-122"/>
                <a:cs typeface="Roboto Slab" pitchFamily="34" charset="-120"/>
              </a:rPr>
              <a:t>OBJ 4: Hinglish Explanation Generation</a:t>
            </a:r>
            <a:endParaRPr lang="en-US" sz="2000" dirty="0"/>
          </a:p>
        </p:txBody>
      </p:sp>
      <p:sp>
        <p:nvSpPr>
          <p:cNvPr id="18" name="Text 12"/>
          <p:cNvSpPr/>
          <p:nvPr/>
        </p:nvSpPr>
        <p:spPr>
          <a:xfrm>
            <a:off x="10751939" y="3268147"/>
            <a:ext cx="3151942" cy="1590675"/>
          </a:xfrm>
          <a:prstGeom prst="rect">
            <a:avLst/>
          </a:prstGeom>
          <a:noFill/>
          <a:ln/>
        </p:spPr>
        <p:txBody>
          <a:bodyPr wrap="square" lIns="0" tIns="0" rIns="0" bIns="0" rtlCol="0" anchor="t"/>
          <a:lstStyle/>
          <a:p>
            <a:pPr marL="0" indent="0" algn="l">
              <a:lnSpc>
                <a:spcPts val="2500"/>
              </a:lnSpc>
              <a:buNone/>
            </a:pPr>
            <a:r>
              <a:rPr lang="en-US" sz="1600" dirty="0">
                <a:solidFill>
                  <a:srgbClr val="15213F"/>
                </a:solidFill>
                <a:latin typeface="Roboto" pitchFamily="34" charset="0"/>
                <a:ea typeface="Roboto" pitchFamily="34" charset="-122"/>
                <a:cs typeface="Roboto" pitchFamily="34" charset="-120"/>
              </a:rPr>
              <a:t>Develop an LLM-powered generator that converts formal NCERT English content into pedagogically structured, natural Hinglish explanations.</a:t>
            </a:r>
            <a:endParaRPr lang="en-US" sz="1600" dirty="0"/>
          </a:p>
        </p:txBody>
      </p:sp>
      <p:sp>
        <p:nvSpPr>
          <p:cNvPr id="19" name="Text 13"/>
          <p:cNvSpPr/>
          <p:nvPr/>
        </p:nvSpPr>
        <p:spPr>
          <a:xfrm>
            <a:off x="726519" y="5522476"/>
            <a:ext cx="207526" cy="259437"/>
          </a:xfrm>
          <a:prstGeom prst="rect">
            <a:avLst/>
          </a:prstGeom>
          <a:noFill/>
          <a:ln/>
        </p:spPr>
        <p:txBody>
          <a:bodyPr wrap="none" lIns="0" tIns="0" rIns="0" bIns="0" rtlCol="0" anchor="t"/>
          <a:lstStyle/>
          <a:p>
            <a:pPr marL="0" indent="0" algn="l">
              <a:lnSpc>
                <a:spcPts val="2500"/>
              </a:lnSpc>
              <a:buNone/>
            </a:pPr>
            <a:r>
              <a:rPr lang="en-US" sz="1600" dirty="0">
                <a:solidFill>
                  <a:srgbClr val="15213F"/>
                </a:solidFill>
                <a:latin typeface="Roboto Slab Light" pitchFamily="34" charset="0"/>
                <a:ea typeface="Roboto Slab Light" pitchFamily="34" charset="-122"/>
                <a:cs typeface="Roboto Slab Light" pitchFamily="34" charset="-120"/>
              </a:rPr>
              <a:t>05</a:t>
            </a:r>
            <a:endParaRPr lang="en-US" sz="1600" dirty="0"/>
          </a:p>
        </p:txBody>
      </p:sp>
      <p:pic>
        <p:nvPicPr>
          <p:cNvPr id="20" name="Image 4" descr="preencoded.png"/>
          <p:cNvPicPr>
            <a:picLocks noChangeAspect="1"/>
          </p:cNvPicPr>
          <p:nvPr/>
        </p:nvPicPr>
        <p:blipFill>
          <a:blip r:embed="rId4"/>
          <a:stretch>
            <a:fillRect/>
          </a:stretch>
        </p:blipFill>
        <p:spPr>
          <a:xfrm>
            <a:off x="726519" y="5831562"/>
            <a:ext cx="13177361" cy="22860"/>
          </a:xfrm>
          <a:prstGeom prst="rect">
            <a:avLst/>
          </a:prstGeom>
        </p:spPr>
      </p:pic>
      <p:sp>
        <p:nvSpPr>
          <p:cNvPr id="21" name="Text 14"/>
          <p:cNvSpPr/>
          <p:nvPr/>
        </p:nvSpPr>
        <p:spPr>
          <a:xfrm>
            <a:off x="726519" y="6001703"/>
            <a:ext cx="4437102" cy="324445"/>
          </a:xfrm>
          <a:prstGeom prst="rect">
            <a:avLst/>
          </a:prstGeom>
          <a:noFill/>
          <a:ln/>
        </p:spPr>
        <p:txBody>
          <a:bodyPr wrap="none" lIns="0" tIns="0" rIns="0" bIns="0" rtlCol="0" anchor="t"/>
          <a:lstStyle/>
          <a:p>
            <a:pPr marL="0" indent="0" algn="l">
              <a:lnSpc>
                <a:spcPts val="2550"/>
              </a:lnSpc>
              <a:buNone/>
            </a:pPr>
            <a:r>
              <a:rPr lang="en-US" sz="2000" dirty="0">
                <a:solidFill>
                  <a:srgbClr val="15213F"/>
                </a:solidFill>
                <a:latin typeface="Roboto Slab" pitchFamily="34" charset="0"/>
                <a:ea typeface="Roboto Slab" pitchFamily="34" charset="-122"/>
                <a:cs typeface="Roboto Slab" pitchFamily="34" charset="-120"/>
              </a:rPr>
              <a:t>OBJ 5: Code-Mix-Aware GEC Module</a:t>
            </a:r>
            <a:endParaRPr lang="en-US" sz="2000" dirty="0"/>
          </a:p>
        </p:txBody>
      </p:sp>
      <p:sp>
        <p:nvSpPr>
          <p:cNvPr id="22" name="Text 15"/>
          <p:cNvSpPr/>
          <p:nvPr/>
        </p:nvSpPr>
        <p:spPr>
          <a:xfrm>
            <a:off x="726519" y="6440091"/>
            <a:ext cx="13177361" cy="636270"/>
          </a:xfrm>
          <a:prstGeom prst="rect">
            <a:avLst/>
          </a:prstGeom>
          <a:noFill/>
          <a:ln/>
        </p:spPr>
        <p:txBody>
          <a:bodyPr wrap="square" lIns="0" tIns="0" rIns="0" bIns="0" rtlCol="0" anchor="t"/>
          <a:lstStyle/>
          <a:p>
            <a:pPr marL="0" indent="0" algn="l">
              <a:lnSpc>
                <a:spcPts val="2500"/>
              </a:lnSpc>
              <a:buNone/>
            </a:pPr>
            <a:r>
              <a:rPr lang="en-US" sz="1600" dirty="0">
                <a:solidFill>
                  <a:srgbClr val="15213F"/>
                </a:solidFill>
                <a:latin typeface="Roboto" pitchFamily="34" charset="0"/>
                <a:ea typeface="Roboto" pitchFamily="34" charset="-122"/>
                <a:cs typeface="Roboto" pitchFamily="34" charset="-120"/>
              </a:rPr>
              <a:t>Create a grammar correction module that fixes errors in Hinglish writing while preserving natural code-switches instead of flagging them as mistakes.</a:t>
            </a:r>
            <a:endParaRPr lang="en-US" sz="1600" dirty="0"/>
          </a:p>
        </p:txBody>
      </p:sp>
      <p:pic>
        <p:nvPicPr>
          <p:cNvPr id="24" name="Picture 23">
            <a:extLst>
              <a:ext uri="{FF2B5EF4-FFF2-40B4-BE49-F238E27FC236}">
                <a16:creationId xmlns:a16="http://schemas.microsoft.com/office/drawing/2014/main" id="{0460385D-078F-2857-2C53-E9B8385AEC42}"/>
              </a:ext>
            </a:extLst>
          </p:cNvPr>
          <p:cNvPicPr>
            <a:picLocks noChangeAspect="1"/>
          </p:cNvPicPr>
          <p:nvPr/>
        </p:nvPicPr>
        <p:blipFill>
          <a:blip r:embed="rId5"/>
          <a:stretch>
            <a:fillRect/>
          </a:stretch>
        </p:blipFill>
        <p:spPr>
          <a:xfrm>
            <a:off x="12839450" y="7715178"/>
            <a:ext cx="1790950" cy="51442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13303" y="707946"/>
            <a:ext cx="6182320" cy="573048"/>
          </a:xfrm>
          <a:prstGeom prst="rect">
            <a:avLst/>
          </a:prstGeom>
          <a:noFill/>
          <a:ln/>
        </p:spPr>
        <p:txBody>
          <a:bodyPr wrap="none" lIns="0" tIns="0" rIns="0" bIns="0" rtlCol="0" anchor="t"/>
          <a:lstStyle/>
          <a:p>
            <a:pPr marL="0" indent="0" algn="l">
              <a:lnSpc>
                <a:spcPts val="4500"/>
              </a:lnSpc>
              <a:buNone/>
            </a:pPr>
            <a:r>
              <a:rPr lang="en-US" sz="3600" dirty="0">
                <a:solidFill>
                  <a:srgbClr val="3257B8"/>
                </a:solidFill>
                <a:latin typeface="Roboto Slab" pitchFamily="34" charset="0"/>
                <a:ea typeface="Roboto Slab" pitchFamily="34" charset="-122"/>
                <a:cs typeface="Roboto Slab" pitchFamily="34" charset="-120"/>
              </a:rPr>
              <a:t>Dataset Created &amp; Next Steps</a:t>
            </a:r>
            <a:endParaRPr lang="en-US" sz="3600" dirty="0"/>
          </a:p>
        </p:txBody>
      </p:sp>
      <p:sp>
        <p:nvSpPr>
          <p:cNvPr id="3" name="Shape 1"/>
          <p:cNvSpPr/>
          <p:nvPr/>
        </p:nvSpPr>
        <p:spPr>
          <a:xfrm>
            <a:off x="713303" y="1670209"/>
            <a:ext cx="1534358" cy="322183"/>
          </a:xfrm>
          <a:prstGeom prst="roundRect">
            <a:avLst>
              <a:gd name="adj" fmla="val 6832"/>
            </a:avLst>
          </a:prstGeom>
          <a:solidFill>
            <a:srgbClr val="D7DFF4"/>
          </a:solidFill>
          <a:ln/>
        </p:spPr>
      </p:sp>
      <p:sp>
        <p:nvSpPr>
          <p:cNvPr id="4" name="Text 2"/>
          <p:cNvSpPr/>
          <p:nvPr/>
        </p:nvSpPr>
        <p:spPr>
          <a:xfrm>
            <a:off x="823317" y="1725216"/>
            <a:ext cx="1314331" cy="212169"/>
          </a:xfrm>
          <a:prstGeom prst="rect">
            <a:avLst/>
          </a:prstGeom>
          <a:noFill/>
          <a:ln/>
        </p:spPr>
        <p:txBody>
          <a:bodyPr wrap="none" lIns="0" tIns="0" rIns="0" bIns="0" rtlCol="0" anchor="t"/>
          <a:lstStyle/>
          <a:p>
            <a:pPr marL="0" indent="0" algn="l">
              <a:lnSpc>
                <a:spcPts val="1650"/>
              </a:lnSpc>
              <a:buNone/>
            </a:pPr>
            <a:r>
              <a:rPr lang="en-US" sz="1150" dirty="0">
                <a:solidFill>
                  <a:srgbClr val="15213F"/>
                </a:solidFill>
                <a:latin typeface="Roboto" pitchFamily="34" charset="0"/>
                <a:ea typeface="Roboto" pitchFamily="34" charset="-122"/>
                <a:cs typeface="Roboto" pitchFamily="34" charset="-120"/>
              </a:rPr>
              <a:t>HINGLISH DATASET</a:t>
            </a:r>
            <a:endParaRPr lang="en-US" sz="1150" dirty="0"/>
          </a:p>
        </p:txBody>
      </p:sp>
      <p:sp>
        <p:nvSpPr>
          <p:cNvPr id="5" name="Text 3"/>
          <p:cNvSpPr/>
          <p:nvPr/>
        </p:nvSpPr>
        <p:spPr>
          <a:xfrm>
            <a:off x="713303" y="2051685"/>
            <a:ext cx="6378178" cy="573167"/>
          </a:xfrm>
          <a:prstGeom prst="rect">
            <a:avLst/>
          </a:prstGeom>
          <a:noFill/>
          <a:ln/>
        </p:spPr>
        <p:txBody>
          <a:bodyPr wrap="square" lIns="0" tIns="0" rIns="0" bIns="0" rtlCol="0" anchor="t"/>
          <a:lstStyle/>
          <a:p>
            <a:pPr marL="0" indent="0" algn="l">
              <a:lnSpc>
                <a:spcPts val="2250"/>
              </a:lnSpc>
              <a:buNone/>
            </a:pPr>
            <a:r>
              <a:rPr lang="en-US" sz="1800" dirty="0">
                <a:solidFill>
                  <a:srgbClr val="3257B8"/>
                </a:solidFill>
                <a:latin typeface="Roboto Slab" pitchFamily="34" charset="0"/>
                <a:ea typeface="Roboto Slab" pitchFamily="34" charset="-122"/>
                <a:cs typeface="Roboto Slab" pitchFamily="34" charset="-120"/>
              </a:rPr>
              <a:t>15 Labeled Sentences — Biology Ch5: "The Fundamental Unit of Life"</a:t>
            </a:r>
            <a:endParaRPr lang="en-US" sz="1800" dirty="0"/>
          </a:p>
        </p:txBody>
      </p:sp>
      <p:sp>
        <p:nvSpPr>
          <p:cNvPr id="6" name="Text 4"/>
          <p:cNvSpPr/>
          <p:nvPr/>
        </p:nvSpPr>
        <p:spPr>
          <a:xfrm>
            <a:off x="713303" y="2773085"/>
            <a:ext cx="6378178" cy="1748076"/>
          </a:xfrm>
          <a:prstGeom prst="rect">
            <a:avLst/>
          </a:prstGeom>
          <a:noFill/>
          <a:ln/>
        </p:spPr>
        <p:txBody>
          <a:bodyPr wrap="square" lIns="0" tIns="0" rIns="0" bIns="0" rtlCol="0" anchor="t"/>
          <a:lstStyle/>
          <a:p>
            <a:pPr marL="342900" indent="-342900" algn="l">
              <a:lnSpc>
                <a:spcPts val="2050"/>
              </a:lnSpc>
              <a:buSzPct val="100000"/>
              <a:buChar char="•"/>
            </a:pPr>
            <a:r>
              <a:rPr lang="en-US" sz="1400" dirty="0">
                <a:solidFill>
                  <a:srgbClr val="15213F"/>
                </a:solidFill>
                <a:latin typeface="Roboto" pitchFamily="34" charset="0"/>
                <a:ea typeface="Roboto" pitchFamily="34" charset="-122"/>
                <a:cs typeface="Roboto" pitchFamily="34" charset="-120"/>
              </a:rPr>
              <a:t>12 concept statements + 2 student queries + 1 GEC test sample</a:t>
            </a:r>
            <a:endParaRPr lang="en-US" sz="1400" dirty="0"/>
          </a:p>
          <a:p>
            <a:pPr marL="342900" indent="-342900" algn="l">
              <a:lnSpc>
                <a:spcPts val="2050"/>
              </a:lnSpc>
              <a:buSzPct val="100000"/>
              <a:buChar char="•"/>
            </a:pPr>
            <a:r>
              <a:rPr lang="en-US" sz="1400" dirty="0">
                <a:solidFill>
                  <a:srgbClr val="15213F"/>
                </a:solidFill>
                <a:latin typeface="Roboto" pitchFamily="34" charset="0"/>
                <a:ea typeface="Roboto" pitchFamily="34" charset="-122"/>
                <a:cs typeface="Roboto" pitchFamily="34" charset="-120"/>
              </a:rPr>
              <a:t>Topics: Cell, Membrane, Nucleus, Osmosis, Mitochondria, Prokaryotic/Eukaryotic, Lysosomes, Golgi, Vacuoles, Plastids</a:t>
            </a:r>
            <a:endParaRPr lang="en-US" sz="1400" dirty="0"/>
          </a:p>
          <a:p>
            <a:pPr marL="342900" indent="-342900" algn="l">
              <a:lnSpc>
                <a:spcPts val="2050"/>
              </a:lnSpc>
              <a:buSzPct val="100000"/>
              <a:buChar char="•"/>
            </a:pPr>
            <a:r>
              <a:rPr lang="en-US" sz="1400" dirty="0">
                <a:solidFill>
                  <a:srgbClr val="15213F"/>
                </a:solidFill>
                <a:latin typeface="Roboto" pitchFamily="34" charset="0"/>
                <a:ea typeface="Roboto" pitchFamily="34" charset="-122"/>
                <a:cs typeface="Roboto" pitchFamily="34" charset="-120"/>
              </a:rPr>
              <a:t>Each entry has: English original, Hinglish (Roman + Devanagari + Mixed), word-level language labels, topic mapping</a:t>
            </a:r>
            <a:endParaRPr lang="en-US" sz="1400" dirty="0"/>
          </a:p>
          <a:p>
            <a:pPr marL="342900" indent="-342900" algn="l">
              <a:lnSpc>
                <a:spcPts val="2050"/>
              </a:lnSpc>
              <a:buSzPct val="100000"/>
              <a:buChar char="•"/>
            </a:pPr>
            <a:r>
              <a:rPr lang="en-US" sz="1400" dirty="0">
                <a:solidFill>
                  <a:srgbClr val="15213F"/>
                </a:solidFill>
                <a:latin typeface="Roboto" pitchFamily="34" charset="0"/>
                <a:ea typeface="Roboto" pitchFamily="34" charset="-122"/>
                <a:cs typeface="Roboto" pitchFamily="34" charset="-120"/>
              </a:rPr>
              <a:t>Average CMI: ~40% (natural Hinglish range)</a:t>
            </a:r>
            <a:endParaRPr lang="en-US" sz="1400" dirty="0"/>
          </a:p>
        </p:txBody>
      </p:sp>
      <p:sp>
        <p:nvSpPr>
          <p:cNvPr id="7" name="Shape 5"/>
          <p:cNvSpPr/>
          <p:nvPr/>
        </p:nvSpPr>
        <p:spPr>
          <a:xfrm>
            <a:off x="7546538" y="1670209"/>
            <a:ext cx="967026" cy="337423"/>
          </a:xfrm>
          <a:prstGeom prst="roundRect">
            <a:avLst>
              <a:gd name="adj" fmla="val 6523"/>
            </a:avLst>
          </a:prstGeom>
          <a:noFill/>
          <a:ln w="7620">
            <a:solidFill>
              <a:srgbClr val="3257B8"/>
            </a:solidFill>
            <a:prstDash val="solid"/>
          </a:ln>
        </p:spPr>
      </p:sp>
      <p:sp>
        <p:nvSpPr>
          <p:cNvPr id="8" name="Text 6"/>
          <p:cNvSpPr/>
          <p:nvPr/>
        </p:nvSpPr>
        <p:spPr>
          <a:xfrm>
            <a:off x="7664172" y="1732836"/>
            <a:ext cx="731758" cy="212169"/>
          </a:xfrm>
          <a:prstGeom prst="rect">
            <a:avLst/>
          </a:prstGeom>
          <a:noFill/>
          <a:ln/>
        </p:spPr>
        <p:txBody>
          <a:bodyPr wrap="none" lIns="0" tIns="0" rIns="0" bIns="0" rtlCol="0" anchor="t"/>
          <a:lstStyle/>
          <a:p>
            <a:pPr marL="0" indent="0" algn="l">
              <a:lnSpc>
                <a:spcPts val="1650"/>
              </a:lnSpc>
              <a:buNone/>
            </a:pPr>
            <a:r>
              <a:rPr lang="en-US" sz="1150" dirty="0">
                <a:solidFill>
                  <a:srgbClr val="3257B8"/>
                </a:solidFill>
                <a:latin typeface="Roboto" pitchFamily="34" charset="0"/>
                <a:ea typeface="Roboto" pitchFamily="34" charset="-122"/>
                <a:cs typeface="Roboto" pitchFamily="34" charset="-120"/>
              </a:rPr>
              <a:t>PROGRESS</a:t>
            </a:r>
            <a:endParaRPr lang="en-US" sz="1150" dirty="0"/>
          </a:p>
        </p:txBody>
      </p:sp>
      <p:sp>
        <p:nvSpPr>
          <p:cNvPr id="9" name="Text 7"/>
          <p:cNvSpPr/>
          <p:nvPr/>
        </p:nvSpPr>
        <p:spPr>
          <a:xfrm>
            <a:off x="7546538" y="2066925"/>
            <a:ext cx="2646759" cy="286583"/>
          </a:xfrm>
          <a:prstGeom prst="rect">
            <a:avLst/>
          </a:prstGeom>
          <a:noFill/>
          <a:ln/>
        </p:spPr>
        <p:txBody>
          <a:bodyPr wrap="none" lIns="0" tIns="0" rIns="0" bIns="0" rtlCol="0" anchor="t"/>
          <a:lstStyle/>
          <a:p>
            <a:pPr marL="0" indent="0" algn="l">
              <a:lnSpc>
                <a:spcPts val="2250"/>
              </a:lnSpc>
              <a:buNone/>
            </a:pPr>
            <a:r>
              <a:rPr lang="en-US" sz="1800" dirty="0">
                <a:solidFill>
                  <a:srgbClr val="3257B8"/>
                </a:solidFill>
                <a:latin typeface="Roboto Slab" pitchFamily="34" charset="0"/>
                <a:ea typeface="Roboto Slab" pitchFamily="34" charset="-122"/>
                <a:cs typeface="Roboto Slab" pitchFamily="34" charset="-120"/>
              </a:rPr>
              <a:t>Completed → Next Steps</a:t>
            </a:r>
            <a:endParaRPr lang="en-US" sz="1800" dirty="0"/>
          </a:p>
        </p:txBody>
      </p:sp>
      <p:pic>
        <p:nvPicPr>
          <p:cNvPr id="1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15357" y="2529483"/>
            <a:ext cx="275034" cy="275034"/>
          </a:xfrm>
          <a:prstGeom prst="rect">
            <a:avLst/>
          </a:prstGeom>
        </p:spPr>
      </p:pic>
      <p:sp>
        <p:nvSpPr>
          <p:cNvPr id="11" name="Text 8"/>
          <p:cNvSpPr/>
          <p:nvPr/>
        </p:nvSpPr>
        <p:spPr>
          <a:xfrm>
            <a:off x="8142565" y="2520315"/>
            <a:ext cx="5782151" cy="265390"/>
          </a:xfrm>
          <a:prstGeom prst="rect">
            <a:avLst/>
          </a:prstGeom>
          <a:noFill/>
          <a:ln/>
        </p:spPr>
        <p:txBody>
          <a:bodyPr wrap="none" lIns="0" tIns="0" rIns="0" bIns="0" rtlCol="0" anchor="t"/>
          <a:lstStyle/>
          <a:p>
            <a:pPr marL="0" indent="0" algn="l">
              <a:lnSpc>
                <a:spcPts val="2050"/>
              </a:lnSpc>
              <a:buNone/>
            </a:pPr>
            <a:r>
              <a:rPr lang="en-US" sz="1400" dirty="0">
                <a:solidFill>
                  <a:srgbClr val="15213F"/>
                </a:solidFill>
                <a:latin typeface="Roboto" pitchFamily="34" charset="0"/>
                <a:ea typeface="Roboto" pitchFamily="34" charset="-122"/>
                <a:cs typeface="Roboto" pitchFamily="34" charset="-120"/>
              </a:rPr>
              <a:t>Literature survey (11 papers) → NCERT vector database + RAG</a:t>
            </a:r>
            <a:endParaRPr lang="en-US" sz="1400" dirty="0"/>
          </a:p>
        </p:txBody>
      </p:sp>
      <p:pic>
        <p:nvPicPr>
          <p:cNvPr id="12"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15357" y="3385423"/>
            <a:ext cx="275034" cy="275034"/>
          </a:xfrm>
          <a:prstGeom prst="rect">
            <a:avLst/>
          </a:prstGeom>
        </p:spPr>
      </p:pic>
      <p:sp>
        <p:nvSpPr>
          <p:cNvPr id="13" name="Text 9"/>
          <p:cNvSpPr/>
          <p:nvPr/>
        </p:nvSpPr>
        <p:spPr>
          <a:xfrm>
            <a:off x="8142565" y="3376255"/>
            <a:ext cx="5782151" cy="265390"/>
          </a:xfrm>
          <a:prstGeom prst="rect">
            <a:avLst/>
          </a:prstGeom>
          <a:noFill/>
          <a:ln/>
        </p:spPr>
        <p:txBody>
          <a:bodyPr wrap="none" lIns="0" tIns="0" rIns="0" bIns="0" rtlCol="0" anchor="t"/>
          <a:lstStyle/>
          <a:p>
            <a:pPr marL="0" indent="0" algn="l">
              <a:lnSpc>
                <a:spcPts val="2050"/>
              </a:lnSpc>
              <a:buNone/>
            </a:pPr>
            <a:r>
              <a:rPr lang="en-US" sz="1400" dirty="0">
                <a:solidFill>
                  <a:srgbClr val="15213F"/>
                </a:solidFill>
                <a:latin typeface="Roboto" pitchFamily="34" charset="0"/>
                <a:ea typeface="Roboto" pitchFamily="34" charset="-122"/>
                <a:cs typeface="Roboto" pitchFamily="34" charset="-120"/>
              </a:rPr>
              <a:t>Market &amp; gap analysis (7 gaps identified) → LLM Hinglish generation</a:t>
            </a:r>
            <a:endParaRPr lang="en-US" sz="1400" dirty="0"/>
          </a:p>
        </p:txBody>
      </p:sp>
      <p:pic>
        <p:nvPicPr>
          <p:cNvPr id="14"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15357" y="4241363"/>
            <a:ext cx="275034" cy="275034"/>
          </a:xfrm>
          <a:prstGeom prst="rect">
            <a:avLst/>
          </a:prstGeom>
        </p:spPr>
      </p:pic>
      <p:sp>
        <p:nvSpPr>
          <p:cNvPr id="15" name="Text 10"/>
          <p:cNvSpPr/>
          <p:nvPr/>
        </p:nvSpPr>
        <p:spPr>
          <a:xfrm>
            <a:off x="8142565" y="4232196"/>
            <a:ext cx="5782151" cy="530781"/>
          </a:xfrm>
          <a:prstGeom prst="rect">
            <a:avLst/>
          </a:prstGeom>
          <a:noFill/>
          <a:ln/>
        </p:spPr>
        <p:txBody>
          <a:bodyPr wrap="square" lIns="0" tIns="0" rIns="0" bIns="0" rtlCol="0" anchor="t"/>
          <a:lstStyle/>
          <a:p>
            <a:pPr marL="0" indent="0" algn="l">
              <a:lnSpc>
                <a:spcPts val="2050"/>
              </a:lnSpc>
              <a:buNone/>
            </a:pPr>
            <a:r>
              <a:rPr lang="en-US" sz="1400" dirty="0">
                <a:solidFill>
                  <a:srgbClr val="15213F"/>
                </a:solidFill>
                <a:latin typeface="Roboto" pitchFamily="34" charset="0"/>
                <a:ea typeface="Roboto" pitchFamily="34" charset="-122"/>
                <a:cs typeface="Roboto" pitchFamily="34" charset="-120"/>
              </a:rPr>
              <a:t>Preprocessing pipeline (8-step, both EN &amp; HI) → GEC module with code-switch awareness</a:t>
            </a:r>
            <a:endParaRPr lang="en-US" sz="1400" dirty="0"/>
          </a:p>
        </p:txBody>
      </p:sp>
      <p:pic>
        <p:nvPicPr>
          <p:cNvPr id="16"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15357" y="5097304"/>
            <a:ext cx="275034" cy="275034"/>
          </a:xfrm>
          <a:prstGeom prst="rect">
            <a:avLst/>
          </a:prstGeom>
        </p:spPr>
      </p:pic>
      <p:sp>
        <p:nvSpPr>
          <p:cNvPr id="17" name="Text 11"/>
          <p:cNvSpPr/>
          <p:nvPr/>
        </p:nvSpPr>
        <p:spPr>
          <a:xfrm>
            <a:off x="8142565" y="5088136"/>
            <a:ext cx="5782151" cy="265390"/>
          </a:xfrm>
          <a:prstGeom prst="rect">
            <a:avLst/>
          </a:prstGeom>
          <a:noFill/>
          <a:ln/>
        </p:spPr>
        <p:txBody>
          <a:bodyPr wrap="none" lIns="0" tIns="0" rIns="0" bIns="0" rtlCol="0" anchor="t"/>
          <a:lstStyle/>
          <a:p>
            <a:pPr marL="0" indent="0" algn="l">
              <a:lnSpc>
                <a:spcPts val="2050"/>
              </a:lnSpc>
              <a:buNone/>
            </a:pPr>
            <a:r>
              <a:rPr lang="en-US" sz="1400" dirty="0">
                <a:solidFill>
                  <a:srgbClr val="15213F"/>
                </a:solidFill>
                <a:latin typeface="Roboto" pitchFamily="34" charset="0"/>
                <a:ea typeface="Roboto" pitchFamily="34" charset="-122"/>
                <a:cs typeface="Roboto" pitchFamily="34" charset="-120"/>
              </a:rPr>
              <a:t>Hinglish dataset (15 labeled sentences) → Web interface</a:t>
            </a:r>
            <a:endParaRPr lang="en-US" sz="1400" dirty="0"/>
          </a:p>
        </p:txBody>
      </p:sp>
      <p:pic>
        <p:nvPicPr>
          <p:cNvPr id="18"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15357" y="5953244"/>
            <a:ext cx="275034" cy="275034"/>
          </a:xfrm>
          <a:prstGeom prst="rect">
            <a:avLst/>
          </a:prstGeom>
        </p:spPr>
      </p:pic>
      <p:sp>
        <p:nvSpPr>
          <p:cNvPr id="19" name="Text 12"/>
          <p:cNvSpPr/>
          <p:nvPr/>
        </p:nvSpPr>
        <p:spPr>
          <a:xfrm>
            <a:off x="8142565" y="5944076"/>
            <a:ext cx="5782151" cy="265390"/>
          </a:xfrm>
          <a:prstGeom prst="rect">
            <a:avLst/>
          </a:prstGeom>
          <a:noFill/>
          <a:ln/>
        </p:spPr>
        <p:txBody>
          <a:bodyPr wrap="none" lIns="0" tIns="0" rIns="0" bIns="0" rtlCol="0" anchor="t"/>
          <a:lstStyle/>
          <a:p>
            <a:pPr marL="0" indent="0" algn="l">
              <a:lnSpc>
                <a:spcPts val="2050"/>
              </a:lnSpc>
              <a:buNone/>
            </a:pPr>
            <a:r>
              <a:rPr lang="en-US" sz="1400" dirty="0">
                <a:solidFill>
                  <a:srgbClr val="15213F"/>
                </a:solidFill>
                <a:latin typeface="Roboto" pitchFamily="34" charset="0"/>
                <a:ea typeface="Roboto" pitchFamily="34" charset="-122"/>
                <a:cs typeface="Roboto" pitchFamily="34" charset="-120"/>
              </a:rPr>
              <a:t>EN vs HI comparison → Evaluation with students</a:t>
            </a:r>
            <a:endParaRPr lang="en-US" sz="1400" dirty="0"/>
          </a:p>
        </p:txBody>
      </p:sp>
      <p:sp>
        <p:nvSpPr>
          <p:cNvPr id="20" name="Shape 13"/>
          <p:cNvSpPr/>
          <p:nvPr/>
        </p:nvSpPr>
        <p:spPr>
          <a:xfrm>
            <a:off x="713303" y="6837045"/>
            <a:ext cx="13203793" cy="684609"/>
          </a:xfrm>
          <a:prstGeom prst="roundRect">
            <a:avLst>
              <a:gd name="adj" fmla="val 4019"/>
            </a:avLst>
          </a:prstGeom>
          <a:solidFill>
            <a:srgbClr val="C3CFEF"/>
          </a:solidFill>
          <a:ln/>
        </p:spPr>
      </p:sp>
      <p:pic>
        <p:nvPicPr>
          <p:cNvPr id="21" name="Image 5" descr="preencoded.png"/>
          <p:cNvPicPr>
            <a:picLocks noChangeAspect="1"/>
          </p:cNvPicPr>
          <p:nvPr/>
        </p:nvPicPr>
        <p:blipFill>
          <a:blip r:embed="rId4"/>
          <a:stretch>
            <a:fillRect/>
          </a:stretch>
        </p:blipFill>
        <p:spPr>
          <a:xfrm>
            <a:off x="896660" y="7096244"/>
            <a:ext cx="229195" cy="183356"/>
          </a:xfrm>
          <a:prstGeom prst="rect">
            <a:avLst/>
          </a:prstGeom>
        </p:spPr>
      </p:pic>
      <p:sp>
        <p:nvSpPr>
          <p:cNvPr id="22" name="Text 14"/>
          <p:cNvSpPr/>
          <p:nvPr/>
        </p:nvSpPr>
        <p:spPr>
          <a:xfrm>
            <a:off x="1309211" y="7031117"/>
            <a:ext cx="12424529" cy="265390"/>
          </a:xfrm>
          <a:prstGeom prst="rect">
            <a:avLst/>
          </a:prstGeom>
          <a:noFill/>
          <a:ln/>
        </p:spPr>
        <p:txBody>
          <a:bodyPr wrap="none" lIns="0" tIns="0" rIns="0" bIns="0" rtlCol="0" anchor="t"/>
          <a:lstStyle/>
          <a:p>
            <a:pPr marL="0" indent="0" algn="l">
              <a:lnSpc>
                <a:spcPts val="2050"/>
              </a:lnSpc>
              <a:buNone/>
            </a:pPr>
            <a:r>
              <a:rPr lang="en-US" sz="1400" b="1" dirty="0">
                <a:solidFill>
                  <a:srgbClr val="000000"/>
                </a:solidFill>
                <a:latin typeface="Roboto" pitchFamily="34" charset="0"/>
                <a:ea typeface="Roboto" pitchFamily="34" charset="-122"/>
                <a:cs typeface="Roboto" pitchFamily="34" charset="-120"/>
              </a:rPr>
              <a:t>Tools:</a:t>
            </a:r>
            <a:r>
              <a:rPr lang="en-US" sz="1400" dirty="0">
                <a:solidFill>
                  <a:srgbClr val="000000"/>
                </a:solidFill>
                <a:latin typeface="Roboto" pitchFamily="34" charset="0"/>
                <a:ea typeface="Roboto" pitchFamily="34" charset="-122"/>
                <a:cs typeface="Roboto" pitchFamily="34" charset="-120"/>
              </a:rPr>
              <a:t> Python 3.10 | NLTK | spaCy | pdfplumber</a:t>
            </a:r>
            <a:endParaRPr lang="en-US" sz="1400" dirty="0"/>
          </a:p>
        </p:txBody>
      </p:sp>
      <p:pic>
        <p:nvPicPr>
          <p:cNvPr id="24" name="Picture 23">
            <a:extLst>
              <a:ext uri="{FF2B5EF4-FFF2-40B4-BE49-F238E27FC236}">
                <a16:creationId xmlns:a16="http://schemas.microsoft.com/office/drawing/2014/main" id="{A181D682-8233-F446-DB47-231BC69DDECE}"/>
              </a:ext>
            </a:extLst>
          </p:cNvPr>
          <p:cNvPicPr>
            <a:picLocks noChangeAspect="1"/>
          </p:cNvPicPr>
          <p:nvPr/>
        </p:nvPicPr>
        <p:blipFill>
          <a:blip r:embed="rId5"/>
          <a:stretch>
            <a:fillRect/>
          </a:stretch>
        </p:blipFill>
        <p:spPr>
          <a:xfrm>
            <a:off x="12838265" y="7692985"/>
            <a:ext cx="1790950" cy="51442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63667" y="600075"/>
            <a:ext cx="8283892" cy="545544"/>
          </a:xfrm>
          <a:prstGeom prst="rect">
            <a:avLst/>
          </a:prstGeom>
          <a:noFill/>
          <a:ln/>
        </p:spPr>
        <p:txBody>
          <a:bodyPr wrap="none" lIns="0" tIns="0" rIns="0" bIns="0" rtlCol="0" anchor="t"/>
          <a:lstStyle/>
          <a:p>
            <a:pPr marL="0" indent="0" algn="l">
              <a:lnSpc>
                <a:spcPts val="4250"/>
              </a:lnSpc>
              <a:buNone/>
            </a:pPr>
            <a:r>
              <a:rPr lang="en-US" sz="3400" dirty="0">
                <a:solidFill>
                  <a:srgbClr val="3257B8"/>
                </a:solidFill>
                <a:latin typeface="Roboto Slab" pitchFamily="34" charset="0"/>
                <a:ea typeface="Roboto Slab" pitchFamily="34" charset="-122"/>
                <a:cs typeface="Roboto Slab" pitchFamily="34" charset="-120"/>
              </a:rPr>
              <a:t>System Architecture — End-to-End Flow</a:t>
            </a:r>
            <a:endParaRPr lang="en-US" sz="3400" dirty="0"/>
          </a:p>
        </p:txBody>
      </p:sp>
      <p:pic>
        <p:nvPicPr>
          <p:cNvPr id="3" name="Image 0" descr="preencoded.png"/>
          <p:cNvPicPr>
            <a:picLocks noChangeAspect="1"/>
          </p:cNvPicPr>
          <p:nvPr/>
        </p:nvPicPr>
        <p:blipFill>
          <a:blip r:embed="rId3"/>
          <a:stretch>
            <a:fillRect/>
          </a:stretch>
        </p:blipFill>
        <p:spPr>
          <a:xfrm>
            <a:off x="763667" y="1414343"/>
            <a:ext cx="10482382" cy="5850612"/>
          </a:xfrm>
          <a:prstGeom prst="rect">
            <a:avLst/>
          </a:prstGeom>
        </p:spPr>
      </p:pic>
      <p:pic>
        <p:nvPicPr>
          <p:cNvPr id="4" name="Image 1" descr="preencoded.png"/>
          <p:cNvPicPr>
            <a:picLocks noChangeAspect="1"/>
          </p:cNvPicPr>
          <p:nvPr/>
        </p:nvPicPr>
        <p:blipFill>
          <a:blip r:embed="rId4"/>
          <a:stretch>
            <a:fillRect/>
          </a:stretch>
        </p:blipFill>
        <p:spPr>
          <a:xfrm>
            <a:off x="763667" y="1414343"/>
            <a:ext cx="10482382" cy="5850612"/>
          </a:xfrm>
          <a:prstGeom prst="rect">
            <a:avLst/>
          </a:prstGeom>
        </p:spPr>
      </p:pic>
      <p:sp>
        <p:nvSpPr>
          <p:cNvPr id="5" name="Text 1"/>
          <p:cNvSpPr/>
          <p:nvPr/>
        </p:nvSpPr>
        <p:spPr>
          <a:xfrm>
            <a:off x="773094" y="7416046"/>
            <a:ext cx="13103066" cy="247055"/>
          </a:xfrm>
          <a:prstGeom prst="rect">
            <a:avLst/>
          </a:prstGeom>
          <a:noFill/>
          <a:ln/>
        </p:spPr>
        <p:txBody>
          <a:bodyPr wrap="none" lIns="0" tIns="0" rIns="0" bIns="0" rtlCol="0" anchor="t"/>
          <a:lstStyle/>
          <a:p>
            <a:pPr marL="0" indent="0" algn="l">
              <a:lnSpc>
                <a:spcPts val="1900"/>
              </a:lnSpc>
              <a:buNone/>
            </a:pPr>
            <a:r>
              <a:rPr lang="en-US" sz="1350" dirty="0">
                <a:solidFill>
                  <a:srgbClr val="15213F"/>
                </a:solidFill>
                <a:latin typeface="Roboto" pitchFamily="34" charset="0"/>
                <a:ea typeface="Roboto" pitchFamily="34" charset="-122"/>
                <a:cs typeface="Roboto" pitchFamily="34" charset="-120"/>
              </a:rPr>
              <a:t>Scope: NCERT Class 9 Biology, Ch. 5 | Current Status: M1 (Preprocessing Pipeline) Complete</a:t>
            </a:r>
            <a:endParaRPr lang="en-US" sz="1350" dirty="0"/>
          </a:p>
        </p:txBody>
      </p:sp>
      <p:pic>
        <p:nvPicPr>
          <p:cNvPr id="7" name="Picture 6">
            <a:extLst>
              <a:ext uri="{FF2B5EF4-FFF2-40B4-BE49-F238E27FC236}">
                <a16:creationId xmlns:a16="http://schemas.microsoft.com/office/drawing/2014/main" id="{918E93AB-CCD4-1023-7D24-24346F8552CA}"/>
              </a:ext>
            </a:extLst>
          </p:cNvPr>
          <p:cNvPicPr>
            <a:picLocks noChangeAspect="1"/>
          </p:cNvPicPr>
          <p:nvPr/>
        </p:nvPicPr>
        <p:blipFill>
          <a:blip r:embed="rId5"/>
          <a:stretch>
            <a:fillRect/>
          </a:stretch>
        </p:blipFill>
        <p:spPr>
          <a:xfrm>
            <a:off x="12839450" y="7663101"/>
            <a:ext cx="1790950" cy="51442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54737" y="677347"/>
            <a:ext cx="4667964" cy="538996"/>
          </a:xfrm>
          <a:prstGeom prst="rect">
            <a:avLst/>
          </a:prstGeom>
          <a:noFill/>
          <a:ln/>
        </p:spPr>
        <p:txBody>
          <a:bodyPr wrap="none" lIns="0" tIns="0" rIns="0" bIns="0" rtlCol="0" anchor="t"/>
          <a:lstStyle/>
          <a:p>
            <a:pPr marL="0" indent="0" algn="l">
              <a:lnSpc>
                <a:spcPts val="4200"/>
              </a:lnSpc>
              <a:buNone/>
            </a:pPr>
            <a:r>
              <a:rPr lang="en-US" sz="3350" dirty="0">
                <a:solidFill>
                  <a:srgbClr val="3257B8"/>
                </a:solidFill>
                <a:latin typeface="Roboto Slab" pitchFamily="34" charset="0"/>
                <a:ea typeface="Roboto Slab" pitchFamily="34" charset="-122"/>
                <a:cs typeface="Roboto Slab" pitchFamily="34" charset="-120"/>
              </a:rPr>
              <a:t>Preprocessing Pipeline</a:t>
            </a:r>
            <a:endParaRPr lang="en-US" sz="3350" dirty="0"/>
          </a:p>
        </p:txBody>
      </p:sp>
      <p:sp>
        <p:nvSpPr>
          <p:cNvPr id="3" name="Text 1"/>
          <p:cNvSpPr/>
          <p:nvPr/>
        </p:nvSpPr>
        <p:spPr>
          <a:xfrm>
            <a:off x="754737" y="1478756"/>
            <a:ext cx="13120926" cy="242888"/>
          </a:xfrm>
          <a:prstGeom prst="rect">
            <a:avLst/>
          </a:prstGeom>
          <a:noFill/>
          <a:ln/>
        </p:spPr>
        <p:txBody>
          <a:bodyPr wrap="none" lIns="0" tIns="0" rIns="0" bIns="0" rtlCol="0" anchor="t"/>
          <a:lstStyle/>
          <a:p>
            <a:pPr marL="0" indent="0" algn="l">
              <a:lnSpc>
                <a:spcPts val="1900"/>
              </a:lnSpc>
              <a:buNone/>
            </a:pPr>
            <a:r>
              <a:rPr lang="en-US" sz="1350" b="1" dirty="0">
                <a:solidFill>
                  <a:srgbClr val="15213F"/>
                </a:solidFill>
                <a:latin typeface="Roboto" pitchFamily="34" charset="0"/>
                <a:ea typeface="Roboto" pitchFamily="34" charset="-122"/>
                <a:cs typeface="Roboto" pitchFamily="34" charset="-120"/>
              </a:rPr>
              <a:t>Preprocessing Pipeline — What We Built</a:t>
            </a:r>
            <a:endParaRPr lang="en-US" sz="1350" dirty="0"/>
          </a:p>
        </p:txBody>
      </p:sp>
      <p:pic>
        <p:nvPicPr>
          <p:cNvPr id="4" name="Image 0" descr="preencoded.png"/>
          <p:cNvPicPr>
            <a:picLocks noChangeAspect="1"/>
          </p:cNvPicPr>
          <p:nvPr/>
        </p:nvPicPr>
        <p:blipFill>
          <a:blip r:embed="rId3"/>
          <a:stretch>
            <a:fillRect/>
          </a:stretch>
        </p:blipFill>
        <p:spPr>
          <a:xfrm>
            <a:off x="2066806" y="1869162"/>
            <a:ext cx="10496669" cy="2777490"/>
          </a:xfrm>
          <a:prstGeom prst="rect">
            <a:avLst/>
          </a:prstGeom>
        </p:spPr>
      </p:pic>
      <p:sp>
        <p:nvSpPr>
          <p:cNvPr id="5" name="Text 2"/>
          <p:cNvSpPr/>
          <p:nvPr/>
        </p:nvSpPr>
        <p:spPr>
          <a:xfrm>
            <a:off x="2876471" y="2808286"/>
            <a:ext cx="1586676" cy="568192"/>
          </a:xfrm>
          <a:prstGeom prst="rect">
            <a:avLst/>
          </a:prstGeom>
          <a:noFill/>
          <a:ln/>
        </p:spPr>
        <p:txBody>
          <a:bodyPr wrap="square" lIns="0" tIns="0" rIns="0" bIns="0" rtlCol="0" anchor="t"/>
          <a:lstStyle/>
          <a:p>
            <a:pPr marL="0" indent="0" algn="ctr">
              <a:lnSpc>
                <a:spcPts val="2200"/>
              </a:lnSpc>
              <a:buNone/>
            </a:pPr>
            <a:r>
              <a:rPr lang="en-US" sz="1750" dirty="0">
                <a:solidFill>
                  <a:srgbClr val="3257B8"/>
                </a:solidFill>
                <a:latin typeface="Roboto Slab" pitchFamily="34" charset="0"/>
                <a:ea typeface="Roboto Slab" pitchFamily="34" charset="-122"/>
                <a:cs typeface="Roboto Slab" pitchFamily="34" charset="-120"/>
              </a:rPr>
              <a:t>Script Detection</a:t>
            </a:r>
            <a:endParaRPr lang="en-US" sz="1750" dirty="0"/>
          </a:p>
        </p:txBody>
      </p:sp>
      <p:sp>
        <p:nvSpPr>
          <p:cNvPr id="6" name="Text 3"/>
          <p:cNvSpPr/>
          <p:nvPr/>
        </p:nvSpPr>
        <p:spPr>
          <a:xfrm>
            <a:off x="2876471" y="3457287"/>
            <a:ext cx="1586676" cy="599916"/>
          </a:xfrm>
          <a:prstGeom prst="rect">
            <a:avLst/>
          </a:prstGeom>
          <a:noFill/>
          <a:ln/>
        </p:spPr>
        <p:txBody>
          <a:bodyPr wrap="square" lIns="0" tIns="0" rIns="0" bIns="0" rtlCol="0" anchor="t"/>
          <a:lstStyle/>
          <a:p>
            <a:pPr marL="0" indent="0" algn="ctr">
              <a:lnSpc>
                <a:spcPts val="1550"/>
              </a:lnSpc>
              <a:buNone/>
            </a:pPr>
            <a:r>
              <a:rPr lang="en-US" sz="1400" dirty="0">
                <a:solidFill>
                  <a:srgbClr val="15213F"/>
                </a:solidFill>
                <a:latin typeface="Roboto" pitchFamily="34" charset="0"/>
                <a:ea typeface="Roboto" pitchFamily="34" charset="-122"/>
                <a:cs typeface="Roboto" pitchFamily="34" charset="-120"/>
              </a:rPr>
              <a:t>Unicode analysis: Roman/Devanagari/Mixed</a:t>
            </a:r>
            <a:endParaRPr lang="en-US" sz="1400" dirty="0"/>
          </a:p>
        </p:txBody>
      </p:sp>
      <p:sp>
        <p:nvSpPr>
          <p:cNvPr id="7" name="Text 4"/>
          <p:cNvSpPr/>
          <p:nvPr/>
        </p:nvSpPr>
        <p:spPr>
          <a:xfrm>
            <a:off x="4694686" y="2742470"/>
            <a:ext cx="1586675" cy="284096"/>
          </a:xfrm>
          <a:prstGeom prst="rect">
            <a:avLst/>
          </a:prstGeom>
          <a:noFill/>
          <a:ln/>
        </p:spPr>
        <p:txBody>
          <a:bodyPr wrap="none" lIns="0" tIns="0" rIns="0" bIns="0" rtlCol="0" anchor="t"/>
          <a:lstStyle/>
          <a:p>
            <a:pPr marL="0" indent="0" algn="ctr">
              <a:lnSpc>
                <a:spcPts val="2200"/>
              </a:lnSpc>
              <a:buNone/>
            </a:pPr>
            <a:r>
              <a:rPr lang="en-US" sz="1750" dirty="0">
                <a:solidFill>
                  <a:srgbClr val="3257B8"/>
                </a:solidFill>
                <a:latin typeface="Roboto Slab" pitchFamily="34" charset="0"/>
                <a:ea typeface="Roboto Slab" pitchFamily="34" charset="-122"/>
                <a:cs typeface="Roboto Slab" pitchFamily="34" charset="-120"/>
              </a:rPr>
              <a:t>Normalization</a:t>
            </a:r>
            <a:endParaRPr lang="en-US" sz="1750" dirty="0"/>
          </a:p>
        </p:txBody>
      </p:sp>
      <p:sp>
        <p:nvSpPr>
          <p:cNvPr id="8" name="Text 5"/>
          <p:cNvSpPr/>
          <p:nvPr/>
        </p:nvSpPr>
        <p:spPr>
          <a:xfrm>
            <a:off x="4694686" y="3107376"/>
            <a:ext cx="1586675" cy="599916"/>
          </a:xfrm>
          <a:prstGeom prst="rect">
            <a:avLst/>
          </a:prstGeom>
          <a:noFill/>
          <a:ln/>
        </p:spPr>
        <p:txBody>
          <a:bodyPr wrap="square" lIns="0" tIns="0" rIns="0" bIns="0" rtlCol="0" anchor="t"/>
          <a:lstStyle/>
          <a:p>
            <a:pPr marL="0" indent="0" algn="ctr">
              <a:lnSpc>
                <a:spcPts val="1550"/>
              </a:lnSpc>
              <a:buNone/>
            </a:pPr>
            <a:r>
              <a:rPr lang="en-US" sz="1400" dirty="0">
                <a:solidFill>
                  <a:srgbClr val="15213F"/>
                </a:solidFill>
                <a:latin typeface="Roboto" pitchFamily="34" charset="0"/>
                <a:ea typeface="Roboto" pitchFamily="34" charset="-122"/>
                <a:cs typeface="Roboto" pitchFamily="34" charset="-120"/>
              </a:rPr>
              <a:t>Standardize spellings and abbreviations</a:t>
            </a:r>
            <a:endParaRPr lang="en-US" sz="1400" dirty="0"/>
          </a:p>
        </p:txBody>
      </p:sp>
      <p:sp>
        <p:nvSpPr>
          <p:cNvPr id="9" name="Text 6"/>
          <p:cNvSpPr/>
          <p:nvPr/>
        </p:nvSpPr>
        <p:spPr>
          <a:xfrm>
            <a:off x="6512899" y="2808286"/>
            <a:ext cx="1586675" cy="568192"/>
          </a:xfrm>
          <a:prstGeom prst="rect">
            <a:avLst/>
          </a:prstGeom>
          <a:noFill/>
          <a:ln/>
        </p:spPr>
        <p:txBody>
          <a:bodyPr wrap="square" lIns="0" tIns="0" rIns="0" bIns="0" rtlCol="0" anchor="t"/>
          <a:lstStyle/>
          <a:p>
            <a:pPr marL="0" indent="0" algn="ctr">
              <a:lnSpc>
                <a:spcPts val="2200"/>
              </a:lnSpc>
              <a:buNone/>
            </a:pPr>
            <a:r>
              <a:rPr lang="en-US" sz="1750" dirty="0">
                <a:solidFill>
                  <a:srgbClr val="3257B8"/>
                </a:solidFill>
                <a:latin typeface="Roboto Slab" pitchFamily="34" charset="0"/>
                <a:ea typeface="Roboto Slab" pitchFamily="34" charset="-122"/>
                <a:cs typeface="Roboto Slab" pitchFamily="34" charset="-120"/>
              </a:rPr>
              <a:t>Word-Level LID</a:t>
            </a:r>
            <a:endParaRPr lang="en-US" sz="1750" dirty="0"/>
          </a:p>
        </p:txBody>
      </p:sp>
      <p:sp>
        <p:nvSpPr>
          <p:cNvPr id="10" name="Text 7"/>
          <p:cNvSpPr/>
          <p:nvPr/>
        </p:nvSpPr>
        <p:spPr>
          <a:xfrm>
            <a:off x="6512899" y="3457287"/>
            <a:ext cx="1586675" cy="599916"/>
          </a:xfrm>
          <a:prstGeom prst="rect">
            <a:avLst/>
          </a:prstGeom>
          <a:noFill/>
          <a:ln/>
        </p:spPr>
        <p:txBody>
          <a:bodyPr wrap="square" lIns="0" tIns="0" rIns="0" bIns="0" rtlCol="0" anchor="t"/>
          <a:lstStyle/>
          <a:p>
            <a:pPr marL="0" indent="0" algn="ctr">
              <a:lnSpc>
                <a:spcPts val="1550"/>
              </a:lnSpc>
              <a:buNone/>
            </a:pPr>
            <a:r>
              <a:rPr lang="en-US" sz="1400" dirty="0">
                <a:solidFill>
                  <a:srgbClr val="15213F"/>
                </a:solidFill>
                <a:latin typeface="Roboto" pitchFamily="34" charset="0"/>
                <a:ea typeface="Roboto" pitchFamily="34" charset="-122"/>
                <a:cs typeface="Roboto" pitchFamily="34" charset="-120"/>
              </a:rPr>
              <a:t>Tag words HI/EN/NE/UNIV and compute CMI</a:t>
            </a:r>
            <a:endParaRPr lang="en-US" sz="1400" dirty="0"/>
          </a:p>
        </p:txBody>
      </p:sp>
      <p:sp>
        <p:nvSpPr>
          <p:cNvPr id="11" name="Text 8"/>
          <p:cNvSpPr/>
          <p:nvPr/>
        </p:nvSpPr>
        <p:spPr>
          <a:xfrm>
            <a:off x="8331113" y="2942442"/>
            <a:ext cx="1586675" cy="284096"/>
          </a:xfrm>
          <a:prstGeom prst="rect">
            <a:avLst/>
          </a:prstGeom>
          <a:noFill/>
          <a:ln/>
        </p:spPr>
        <p:txBody>
          <a:bodyPr wrap="none" lIns="0" tIns="0" rIns="0" bIns="0" rtlCol="0" anchor="t"/>
          <a:lstStyle/>
          <a:p>
            <a:pPr marL="0" indent="0" algn="ctr">
              <a:lnSpc>
                <a:spcPts val="2200"/>
              </a:lnSpc>
              <a:buNone/>
            </a:pPr>
            <a:r>
              <a:rPr lang="en-US" sz="1750" dirty="0">
                <a:solidFill>
                  <a:srgbClr val="3257B8"/>
                </a:solidFill>
                <a:latin typeface="Roboto Slab" pitchFamily="34" charset="0"/>
                <a:ea typeface="Roboto Slab" pitchFamily="34" charset="-122"/>
                <a:cs typeface="Roboto Slab" pitchFamily="34" charset="-120"/>
              </a:rPr>
              <a:t>Tokenization</a:t>
            </a:r>
            <a:endParaRPr lang="en-US" sz="1750" dirty="0"/>
          </a:p>
        </p:txBody>
      </p:sp>
      <p:sp>
        <p:nvSpPr>
          <p:cNvPr id="12" name="Text 9"/>
          <p:cNvSpPr/>
          <p:nvPr/>
        </p:nvSpPr>
        <p:spPr>
          <a:xfrm>
            <a:off x="8331113" y="3307348"/>
            <a:ext cx="1586675" cy="399944"/>
          </a:xfrm>
          <a:prstGeom prst="rect">
            <a:avLst/>
          </a:prstGeom>
          <a:noFill/>
          <a:ln/>
        </p:spPr>
        <p:txBody>
          <a:bodyPr wrap="square" lIns="0" tIns="0" rIns="0" bIns="0" rtlCol="0" anchor="t"/>
          <a:lstStyle/>
          <a:p>
            <a:pPr marL="0" indent="0" algn="ctr">
              <a:lnSpc>
                <a:spcPts val="1550"/>
              </a:lnSpc>
              <a:buNone/>
            </a:pPr>
            <a:r>
              <a:rPr lang="en-US" sz="1400" dirty="0">
                <a:solidFill>
                  <a:srgbClr val="15213F"/>
                </a:solidFill>
                <a:latin typeface="Roboto" pitchFamily="34" charset="0"/>
                <a:ea typeface="Roboto" pitchFamily="34" charset="-122"/>
                <a:cs typeface="Roboto" pitchFamily="34" charset="-120"/>
              </a:rPr>
              <a:t>Split text into individual tokens</a:t>
            </a:r>
            <a:endParaRPr lang="en-US" sz="1400" dirty="0"/>
          </a:p>
        </p:txBody>
      </p:sp>
      <p:sp>
        <p:nvSpPr>
          <p:cNvPr id="13" name="Text 10"/>
          <p:cNvSpPr/>
          <p:nvPr/>
        </p:nvSpPr>
        <p:spPr>
          <a:xfrm>
            <a:off x="10159428" y="2808286"/>
            <a:ext cx="1586675" cy="568192"/>
          </a:xfrm>
          <a:prstGeom prst="rect">
            <a:avLst/>
          </a:prstGeom>
          <a:noFill/>
          <a:ln/>
        </p:spPr>
        <p:txBody>
          <a:bodyPr wrap="square" lIns="0" tIns="0" rIns="0" bIns="0" rtlCol="0" anchor="t"/>
          <a:lstStyle/>
          <a:p>
            <a:pPr marL="0" indent="0" algn="ctr">
              <a:lnSpc>
                <a:spcPts val="2200"/>
              </a:lnSpc>
              <a:buNone/>
            </a:pPr>
            <a:r>
              <a:rPr lang="en-US" sz="1750" dirty="0">
                <a:solidFill>
                  <a:srgbClr val="3257B8"/>
                </a:solidFill>
                <a:latin typeface="Roboto Slab" pitchFamily="34" charset="0"/>
                <a:ea typeface="Roboto Slab" pitchFamily="34" charset="-122"/>
                <a:cs typeface="Roboto Slab" pitchFamily="34" charset="-120"/>
              </a:rPr>
              <a:t>Stop Word Removal</a:t>
            </a:r>
            <a:endParaRPr lang="en-US" sz="1750" dirty="0"/>
          </a:p>
        </p:txBody>
      </p:sp>
      <p:sp>
        <p:nvSpPr>
          <p:cNvPr id="14" name="Text 11"/>
          <p:cNvSpPr/>
          <p:nvPr/>
        </p:nvSpPr>
        <p:spPr>
          <a:xfrm>
            <a:off x="10159428" y="3457287"/>
            <a:ext cx="1586675" cy="599916"/>
          </a:xfrm>
          <a:prstGeom prst="rect">
            <a:avLst/>
          </a:prstGeom>
          <a:noFill/>
          <a:ln/>
        </p:spPr>
        <p:txBody>
          <a:bodyPr wrap="square" lIns="0" tIns="0" rIns="0" bIns="0" rtlCol="0" anchor="t"/>
          <a:lstStyle/>
          <a:p>
            <a:pPr marL="0" indent="0" algn="ctr">
              <a:lnSpc>
                <a:spcPts val="1550"/>
              </a:lnSpc>
              <a:buNone/>
            </a:pPr>
            <a:r>
              <a:rPr lang="en-US" sz="1400" dirty="0">
                <a:solidFill>
                  <a:srgbClr val="15213F"/>
                </a:solidFill>
                <a:latin typeface="Roboto" pitchFamily="34" charset="0"/>
                <a:ea typeface="Roboto" pitchFamily="34" charset="-122"/>
                <a:cs typeface="Roboto" pitchFamily="34" charset="-120"/>
              </a:rPr>
              <a:t>Language-aware; protect scientific terms</a:t>
            </a:r>
            <a:endParaRPr lang="en-US" sz="1400" dirty="0"/>
          </a:p>
        </p:txBody>
      </p:sp>
      <p:sp>
        <p:nvSpPr>
          <p:cNvPr id="15" name="Shape 12"/>
          <p:cNvSpPr/>
          <p:nvPr/>
        </p:nvSpPr>
        <p:spPr>
          <a:xfrm>
            <a:off x="754737" y="4794171"/>
            <a:ext cx="3181826" cy="1448157"/>
          </a:xfrm>
          <a:prstGeom prst="roundRect">
            <a:avLst>
              <a:gd name="adj" fmla="val 1787"/>
            </a:avLst>
          </a:prstGeom>
          <a:solidFill>
            <a:srgbClr val="E9ECF2"/>
          </a:solidFill>
          <a:ln/>
        </p:spPr>
      </p:sp>
      <p:sp>
        <p:nvSpPr>
          <p:cNvPr id="16" name="Text 13"/>
          <p:cNvSpPr/>
          <p:nvPr/>
        </p:nvSpPr>
        <p:spPr>
          <a:xfrm>
            <a:off x="927140" y="4966573"/>
            <a:ext cx="2296120" cy="269438"/>
          </a:xfrm>
          <a:prstGeom prst="rect">
            <a:avLst/>
          </a:prstGeom>
          <a:noFill/>
          <a:ln/>
        </p:spPr>
        <p:txBody>
          <a:bodyPr wrap="none" lIns="0" tIns="0" rIns="0" bIns="0" rtlCol="0" anchor="t"/>
          <a:lstStyle/>
          <a:p>
            <a:pPr marL="0" indent="0" algn="l">
              <a:lnSpc>
                <a:spcPts val="2100"/>
              </a:lnSpc>
              <a:buNone/>
            </a:pPr>
            <a:r>
              <a:rPr lang="en-US" sz="1650" dirty="0">
                <a:solidFill>
                  <a:srgbClr val="15213F"/>
                </a:solidFill>
                <a:latin typeface="Roboto Slab" pitchFamily="34" charset="0"/>
                <a:ea typeface="Roboto Slab" pitchFamily="34" charset="-122"/>
                <a:cs typeface="Roboto Slab" pitchFamily="34" charset="-120"/>
              </a:rPr>
              <a:t>Step 1: Script Detection</a:t>
            </a:r>
            <a:endParaRPr lang="en-US" sz="1650" dirty="0"/>
          </a:p>
        </p:txBody>
      </p:sp>
      <p:sp>
        <p:nvSpPr>
          <p:cNvPr id="17" name="Text 14"/>
          <p:cNvSpPr/>
          <p:nvPr/>
        </p:nvSpPr>
        <p:spPr>
          <a:xfrm>
            <a:off x="927140" y="5314712"/>
            <a:ext cx="2837021" cy="728662"/>
          </a:xfrm>
          <a:prstGeom prst="rect">
            <a:avLst/>
          </a:prstGeom>
          <a:noFill/>
          <a:ln/>
        </p:spPr>
        <p:txBody>
          <a:bodyPr wrap="square" lIns="0" tIns="0" rIns="0" bIns="0" rtlCol="0" anchor="t"/>
          <a:lstStyle/>
          <a:p>
            <a:pPr marL="0" indent="0" algn="l">
              <a:lnSpc>
                <a:spcPts val="1900"/>
              </a:lnSpc>
              <a:buNone/>
            </a:pPr>
            <a:r>
              <a:rPr lang="en-US" sz="1350" dirty="0">
                <a:solidFill>
                  <a:srgbClr val="15213F"/>
                </a:solidFill>
                <a:latin typeface="Roboto" pitchFamily="34" charset="0"/>
                <a:ea typeface="Roboto" pitchFamily="34" charset="-122"/>
                <a:cs typeface="Roboto" pitchFamily="34" charset="-120"/>
              </a:rPr>
              <a:t>Unicode analysis (Devanagari: U+0900–U+097F) → Classifies: Roman / Devanagari / Mixed</a:t>
            </a:r>
            <a:endParaRPr lang="en-US" sz="1350" dirty="0"/>
          </a:p>
        </p:txBody>
      </p:sp>
      <p:sp>
        <p:nvSpPr>
          <p:cNvPr id="18" name="Shape 15"/>
          <p:cNvSpPr/>
          <p:nvPr/>
        </p:nvSpPr>
        <p:spPr>
          <a:xfrm>
            <a:off x="4067770" y="4794171"/>
            <a:ext cx="3181826" cy="1448157"/>
          </a:xfrm>
          <a:prstGeom prst="roundRect">
            <a:avLst>
              <a:gd name="adj" fmla="val 1787"/>
            </a:avLst>
          </a:prstGeom>
          <a:solidFill>
            <a:srgbClr val="E9ECF2"/>
          </a:solidFill>
          <a:ln/>
        </p:spPr>
      </p:sp>
      <p:sp>
        <p:nvSpPr>
          <p:cNvPr id="19" name="Text 16"/>
          <p:cNvSpPr/>
          <p:nvPr/>
        </p:nvSpPr>
        <p:spPr>
          <a:xfrm>
            <a:off x="4240173" y="4966573"/>
            <a:ext cx="2183368" cy="269438"/>
          </a:xfrm>
          <a:prstGeom prst="rect">
            <a:avLst/>
          </a:prstGeom>
          <a:noFill/>
          <a:ln/>
        </p:spPr>
        <p:txBody>
          <a:bodyPr wrap="none" lIns="0" tIns="0" rIns="0" bIns="0" rtlCol="0" anchor="t"/>
          <a:lstStyle/>
          <a:p>
            <a:pPr marL="0" indent="0" algn="l">
              <a:lnSpc>
                <a:spcPts val="2100"/>
              </a:lnSpc>
              <a:buNone/>
            </a:pPr>
            <a:r>
              <a:rPr lang="en-US" sz="1650" dirty="0">
                <a:solidFill>
                  <a:srgbClr val="15213F"/>
                </a:solidFill>
                <a:latin typeface="Roboto Slab" pitchFamily="34" charset="0"/>
                <a:ea typeface="Roboto Slab" pitchFamily="34" charset="-122"/>
                <a:cs typeface="Roboto Slab" pitchFamily="34" charset="-120"/>
              </a:rPr>
              <a:t>Step 2: Normalization</a:t>
            </a:r>
            <a:endParaRPr lang="en-US" sz="1650" dirty="0"/>
          </a:p>
        </p:txBody>
      </p:sp>
      <p:sp>
        <p:nvSpPr>
          <p:cNvPr id="20" name="Text 17"/>
          <p:cNvSpPr/>
          <p:nvPr/>
        </p:nvSpPr>
        <p:spPr>
          <a:xfrm>
            <a:off x="4240173" y="5314712"/>
            <a:ext cx="2837021" cy="728662"/>
          </a:xfrm>
          <a:prstGeom prst="rect">
            <a:avLst/>
          </a:prstGeom>
          <a:noFill/>
          <a:ln/>
        </p:spPr>
        <p:txBody>
          <a:bodyPr wrap="square" lIns="0" tIns="0" rIns="0" bIns="0" rtlCol="0" anchor="t"/>
          <a:lstStyle/>
          <a:p>
            <a:pPr marL="0" indent="0" algn="l">
              <a:lnSpc>
                <a:spcPts val="1900"/>
              </a:lnSpc>
              <a:buNone/>
            </a:pPr>
            <a:r>
              <a:rPr lang="en-US" sz="1350" dirty="0">
                <a:solidFill>
                  <a:srgbClr val="15213F"/>
                </a:solidFill>
                <a:latin typeface="Roboto" pitchFamily="34" charset="0"/>
                <a:ea typeface="Roboto" pitchFamily="34" charset="-122"/>
                <a:cs typeface="Roboto" pitchFamily="34" charset="-120"/>
              </a:rPr>
              <a:t>"kia"→"kya" | "h"→"hai" | "plz"→"please" | Whitespace + punctuation cleanup</a:t>
            </a:r>
            <a:endParaRPr lang="en-US" sz="1350" dirty="0"/>
          </a:p>
        </p:txBody>
      </p:sp>
      <p:sp>
        <p:nvSpPr>
          <p:cNvPr id="21" name="Shape 18"/>
          <p:cNvSpPr/>
          <p:nvPr/>
        </p:nvSpPr>
        <p:spPr>
          <a:xfrm>
            <a:off x="7380803" y="4794171"/>
            <a:ext cx="3181826" cy="1448157"/>
          </a:xfrm>
          <a:prstGeom prst="roundRect">
            <a:avLst>
              <a:gd name="adj" fmla="val 1787"/>
            </a:avLst>
          </a:prstGeom>
          <a:solidFill>
            <a:srgbClr val="E9ECF2"/>
          </a:solidFill>
          <a:ln/>
        </p:spPr>
      </p:sp>
      <p:sp>
        <p:nvSpPr>
          <p:cNvPr id="22" name="Text 19"/>
          <p:cNvSpPr/>
          <p:nvPr/>
        </p:nvSpPr>
        <p:spPr>
          <a:xfrm>
            <a:off x="7553206" y="4966573"/>
            <a:ext cx="2837021" cy="538877"/>
          </a:xfrm>
          <a:prstGeom prst="rect">
            <a:avLst/>
          </a:prstGeom>
          <a:noFill/>
          <a:ln/>
        </p:spPr>
        <p:txBody>
          <a:bodyPr wrap="square" lIns="0" tIns="0" rIns="0" bIns="0" rtlCol="0" anchor="t"/>
          <a:lstStyle/>
          <a:p>
            <a:pPr marL="0" indent="0" algn="l">
              <a:lnSpc>
                <a:spcPts val="2100"/>
              </a:lnSpc>
              <a:buNone/>
            </a:pPr>
            <a:r>
              <a:rPr lang="en-US" sz="1650" dirty="0">
                <a:solidFill>
                  <a:srgbClr val="15213F"/>
                </a:solidFill>
                <a:latin typeface="Roboto Slab" pitchFamily="34" charset="0"/>
                <a:ea typeface="Roboto Slab" pitchFamily="34" charset="-122"/>
                <a:cs typeface="Roboto Slab" pitchFamily="34" charset="-120"/>
              </a:rPr>
              <a:t>Step 3: Word-Level Language ID</a:t>
            </a:r>
            <a:endParaRPr lang="en-US" sz="1650" dirty="0"/>
          </a:p>
        </p:txBody>
      </p:sp>
      <p:sp>
        <p:nvSpPr>
          <p:cNvPr id="23" name="Text 20"/>
          <p:cNvSpPr/>
          <p:nvPr/>
        </p:nvSpPr>
        <p:spPr>
          <a:xfrm>
            <a:off x="7553206" y="5584150"/>
            <a:ext cx="2837021" cy="485775"/>
          </a:xfrm>
          <a:prstGeom prst="rect">
            <a:avLst/>
          </a:prstGeom>
          <a:noFill/>
          <a:ln/>
        </p:spPr>
        <p:txBody>
          <a:bodyPr wrap="square" lIns="0" tIns="0" rIns="0" bIns="0" rtlCol="0" anchor="t"/>
          <a:lstStyle/>
          <a:p>
            <a:pPr marL="0" indent="0" algn="l">
              <a:lnSpc>
                <a:spcPts val="1900"/>
              </a:lnSpc>
              <a:buNone/>
            </a:pPr>
            <a:r>
              <a:rPr lang="en-US" sz="1350" dirty="0">
                <a:solidFill>
                  <a:srgbClr val="15213F"/>
                </a:solidFill>
                <a:latin typeface="Roboto" pitchFamily="34" charset="0"/>
                <a:ea typeface="Roboto" pitchFamily="34" charset="-122"/>
                <a:cs typeface="Roboto" pitchFamily="34" charset="-120"/>
              </a:rPr>
              <a:t>Tag each word: HI / EN / NE / UNIV | Calculate Code-Mixing Index (CMI)</a:t>
            </a:r>
            <a:endParaRPr lang="en-US" sz="1350" dirty="0"/>
          </a:p>
        </p:txBody>
      </p:sp>
      <p:sp>
        <p:nvSpPr>
          <p:cNvPr id="24" name="Shape 21"/>
          <p:cNvSpPr/>
          <p:nvPr/>
        </p:nvSpPr>
        <p:spPr>
          <a:xfrm>
            <a:off x="10693837" y="4794171"/>
            <a:ext cx="3181826" cy="1448157"/>
          </a:xfrm>
          <a:prstGeom prst="roundRect">
            <a:avLst>
              <a:gd name="adj" fmla="val 1787"/>
            </a:avLst>
          </a:prstGeom>
          <a:solidFill>
            <a:srgbClr val="E9ECF2"/>
          </a:solidFill>
          <a:ln/>
        </p:spPr>
      </p:sp>
      <p:sp>
        <p:nvSpPr>
          <p:cNvPr id="25" name="Text 22"/>
          <p:cNvSpPr/>
          <p:nvPr/>
        </p:nvSpPr>
        <p:spPr>
          <a:xfrm>
            <a:off x="10866239" y="4966573"/>
            <a:ext cx="2156460" cy="269438"/>
          </a:xfrm>
          <a:prstGeom prst="rect">
            <a:avLst/>
          </a:prstGeom>
          <a:noFill/>
          <a:ln/>
        </p:spPr>
        <p:txBody>
          <a:bodyPr wrap="none" lIns="0" tIns="0" rIns="0" bIns="0" rtlCol="0" anchor="t"/>
          <a:lstStyle/>
          <a:p>
            <a:pPr marL="0" indent="0" algn="l">
              <a:lnSpc>
                <a:spcPts val="2100"/>
              </a:lnSpc>
              <a:buNone/>
            </a:pPr>
            <a:r>
              <a:rPr lang="en-US" sz="1650" dirty="0">
                <a:solidFill>
                  <a:srgbClr val="15213F"/>
                </a:solidFill>
                <a:latin typeface="Roboto Slab" pitchFamily="34" charset="0"/>
                <a:ea typeface="Roboto Slab" pitchFamily="34" charset="-122"/>
                <a:cs typeface="Roboto Slab" pitchFamily="34" charset="-120"/>
              </a:rPr>
              <a:t>Step 4: Tokenization</a:t>
            </a:r>
            <a:endParaRPr lang="en-US" sz="1650" dirty="0"/>
          </a:p>
        </p:txBody>
      </p:sp>
      <p:sp>
        <p:nvSpPr>
          <p:cNvPr id="26" name="Text 23"/>
          <p:cNvSpPr/>
          <p:nvPr/>
        </p:nvSpPr>
        <p:spPr>
          <a:xfrm>
            <a:off x="10866239" y="5314712"/>
            <a:ext cx="2837021" cy="242888"/>
          </a:xfrm>
          <a:prstGeom prst="rect">
            <a:avLst/>
          </a:prstGeom>
          <a:noFill/>
          <a:ln/>
        </p:spPr>
        <p:txBody>
          <a:bodyPr wrap="none" lIns="0" tIns="0" rIns="0" bIns="0" rtlCol="0" anchor="t"/>
          <a:lstStyle/>
          <a:p>
            <a:pPr marL="0" indent="0" algn="l">
              <a:lnSpc>
                <a:spcPts val="1900"/>
              </a:lnSpc>
              <a:buNone/>
            </a:pPr>
            <a:r>
              <a:rPr lang="en-US" sz="1350" dirty="0">
                <a:solidFill>
                  <a:srgbClr val="15213F"/>
                </a:solidFill>
                <a:latin typeface="Roboto" pitchFamily="34" charset="0"/>
                <a:ea typeface="Roboto" pitchFamily="34" charset="-122"/>
                <a:cs typeface="Roboto" pitchFamily="34" charset="-120"/>
              </a:rPr>
              <a:t>Split into individual tokens</a:t>
            </a:r>
            <a:endParaRPr lang="en-US" sz="1350" dirty="0"/>
          </a:p>
        </p:txBody>
      </p:sp>
      <p:sp>
        <p:nvSpPr>
          <p:cNvPr id="27" name="Shape 24"/>
          <p:cNvSpPr/>
          <p:nvPr/>
        </p:nvSpPr>
        <p:spPr>
          <a:xfrm>
            <a:off x="754737" y="6373535"/>
            <a:ext cx="4286131" cy="1178719"/>
          </a:xfrm>
          <a:prstGeom prst="roundRect">
            <a:avLst>
              <a:gd name="adj" fmla="val 2195"/>
            </a:avLst>
          </a:prstGeom>
          <a:solidFill>
            <a:srgbClr val="E9ECF2"/>
          </a:solidFill>
          <a:ln/>
        </p:spPr>
      </p:sp>
      <p:sp>
        <p:nvSpPr>
          <p:cNvPr id="28" name="Text 25"/>
          <p:cNvSpPr/>
          <p:nvPr/>
        </p:nvSpPr>
        <p:spPr>
          <a:xfrm>
            <a:off x="927140" y="6545937"/>
            <a:ext cx="2700814" cy="269438"/>
          </a:xfrm>
          <a:prstGeom prst="rect">
            <a:avLst/>
          </a:prstGeom>
          <a:noFill/>
          <a:ln/>
        </p:spPr>
        <p:txBody>
          <a:bodyPr wrap="none" lIns="0" tIns="0" rIns="0" bIns="0" rtlCol="0" anchor="t"/>
          <a:lstStyle/>
          <a:p>
            <a:pPr marL="0" indent="0" algn="l">
              <a:lnSpc>
                <a:spcPts val="2100"/>
              </a:lnSpc>
              <a:buNone/>
            </a:pPr>
            <a:r>
              <a:rPr lang="en-US" sz="1650" dirty="0">
                <a:solidFill>
                  <a:srgbClr val="15213F"/>
                </a:solidFill>
                <a:latin typeface="Roboto Slab" pitchFamily="34" charset="0"/>
                <a:ea typeface="Roboto Slab" pitchFamily="34" charset="-122"/>
                <a:cs typeface="Roboto Slab" pitchFamily="34" charset="-120"/>
              </a:rPr>
              <a:t>Step 5: Stop Word Removal</a:t>
            </a:r>
            <a:endParaRPr lang="en-US" sz="1650" dirty="0"/>
          </a:p>
        </p:txBody>
      </p:sp>
      <p:sp>
        <p:nvSpPr>
          <p:cNvPr id="29" name="Text 26"/>
          <p:cNvSpPr/>
          <p:nvPr/>
        </p:nvSpPr>
        <p:spPr>
          <a:xfrm>
            <a:off x="927140" y="6894076"/>
            <a:ext cx="3941326" cy="485775"/>
          </a:xfrm>
          <a:prstGeom prst="rect">
            <a:avLst/>
          </a:prstGeom>
          <a:noFill/>
          <a:ln/>
        </p:spPr>
        <p:txBody>
          <a:bodyPr wrap="square" lIns="0" tIns="0" rIns="0" bIns="0" rtlCol="0" anchor="t"/>
          <a:lstStyle/>
          <a:p>
            <a:pPr marL="0" indent="0" algn="l">
              <a:lnSpc>
                <a:spcPts val="1900"/>
              </a:lnSpc>
              <a:buNone/>
            </a:pPr>
            <a:r>
              <a:rPr lang="en-US" sz="1350" dirty="0">
                <a:solidFill>
                  <a:srgbClr val="15213F"/>
                </a:solidFill>
                <a:latin typeface="Roboto" pitchFamily="34" charset="0"/>
                <a:ea typeface="Roboto" pitchFamily="34" charset="-122"/>
                <a:cs typeface="Roboto" pitchFamily="34" charset="-120"/>
              </a:rPr>
              <a:t>Language-aware (EN stops + HI stops) | Protect scientific terms</a:t>
            </a:r>
            <a:endParaRPr lang="en-US" sz="1350" dirty="0"/>
          </a:p>
        </p:txBody>
      </p:sp>
      <p:sp>
        <p:nvSpPr>
          <p:cNvPr id="30" name="Shape 27"/>
          <p:cNvSpPr/>
          <p:nvPr/>
        </p:nvSpPr>
        <p:spPr>
          <a:xfrm>
            <a:off x="5172075" y="6373535"/>
            <a:ext cx="4286131" cy="1178719"/>
          </a:xfrm>
          <a:prstGeom prst="roundRect">
            <a:avLst>
              <a:gd name="adj" fmla="val 2195"/>
            </a:avLst>
          </a:prstGeom>
          <a:solidFill>
            <a:srgbClr val="E9ECF2"/>
          </a:solidFill>
          <a:ln/>
        </p:spPr>
      </p:sp>
      <p:sp>
        <p:nvSpPr>
          <p:cNvPr id="31" name="Text 28"/>
          <p:cNvSpPr/>
          <p:nvPr/>
        </p:nvSpPr>
        <p:spPr>
          <a:xfrm>
            <a:off x="5344478" y="6545937"/>
            <a:ext cx="3554135" cy="269438"/>
          </a:xfrm>
          <a:prstGeom prst="rect">
            <a:avLst/>
          </a:prstGeom>
          <a:noFill/>
          <a:ln/>
        </p:spPr>
        <p:txBody>
          <a:bodyPr wrap="none" lIns="0" tIns="0" rIns="0" bIns="0" rtlCol="0" anchor="t"/>
          <a:lstStyle/>
          <a:p>
            <a:pPr marL="0" indent="0" algn="l">
              <a:lnSpc>
                <a:spcPts val="2100"/>
              </a:lnSpc>
              <a:buNone/>
            </a:pPr>
            <a:r>
              <a:rPr lang="en-US" sz="1650" dirty="0">
                <a:solidFill>
                  <a:srgbClr val="15213F"/>
                </a:solidFill>
                <a:latin typeface="Roboto Slab" pitchFamily="34" charset="0"/>
                <a:ea typeface="Roboto Slab" pitchFamily="34" charset="-122"/>
                <a:cs typeface="Roboto Slab" pitchFamily="34" charset="-120"/>
              </a:rPr>
              <a:t>Step 6: Stemming + Lemmatization</a:t>
            </a:r>
            <a:endParaRPr lang="en-US" sz="1650" dirty="0"/>
          </a:p>
        </p:txBody>
      </p:sp>
      <p:sp>
        <p:nvSpPr>
          <p:cNvPr id="32" name="Text 29"/>
          <p:cNvSpPr/>
          <p:nvPr/>
        </p:nvSpPr>
        <p:spPr>
          <a:xfrm>
            <a:off x="5344478" y="6894076"/>
            <a:ext cx="3941326" cy="485775"/>
          </a:xfrm>
          <a:prstGeom prst="rect">
            <a:avLst/>
          </a:prstGeom>
          <a:noFill/>
          <a:ln/>
        </p:spPr>
        <p:txBody>
          <a:bodyPr wrap="square" lIns="0" tIns="0" rIns="0" bIns="0" rtlCol="0" anchor="t"/>
          <a:lstStyle/>
          <a:p>
            <a:pPr marL="0" indent="0" algn="l">
              <a:lnSpc>
                <a:spcPts val="1900"/>
              </a:lnSpc>
              <a:buNone/>
            </a:pPr>
            <a:r>
              <a:rPr lang="en-US" sz="1350" dirty="0">
                <a:solidFill>
                  <a:srgbClr val="15213F"/>
                </a:solidFill>
                <a:latin typeface="Roboto" pitchFamily="34" charset="0"/>
                <a:ea typeface="Roboto" pitchFamily="34" charset="-122"/>
                <a:cs typeface="Roboto" pitchFamily="34" charset="-120"/>
              </a:rPr>
              <a:t>English words only (Hindi words preserved) | "cells"→"cell" | "organisms"→"organism"</a:t>
            </a:r>
            <a:endParaRPr lang="en-US" sz="1350" dirty="0"/>
          </a:p>
        </p:txBody>
      </p:sp>
      <p:sp>
        <p:nvSpPr>
          <p:cNvPr id="33" name="Shape 30"/>
          <p:cNvSpPr/>
          <p:nvPr/>
        </p:nvSpPr>
        <p:spPr>
          <a:xfrm>
            <a:off x="9589413" y="6373535"/>
            <a:ext cx="4286250" cy="1178719"/>
          </a:xfrm>
          <a:prstGeom prst="roundRect">
            <a:avLst>
              <a:gd name="adj" fmla="val 2195"/>
            </a:avLst>
          </a:prstGeom>
          <a:solidFill>
            <a:srgbClr val="E9ECF2"/>
          </a:solidFill>
          <a:ln/>
        </p:spPr>
      </p:sp>
      <p:sp>
        <p:nvSpPr>
          <p:cNvPr id="34" name="Text 31"/>
          <p:cNvSpPr/>
          <p:nvPr/>
        </p:nvSpPr>
        <p:spPr>
          <a:xfrm>
            <a:off x="9761815" y="6545937"/>
            <a:ext cx="2156460" cy="269438"/>
          </a:xfrm>
          <a:prstGeom prst="rect">
            <a:avLst/>
          </a:prstGeom>
          <a:noFill/>
          <a:ln/>
        </p:spPr>
        <p:txBody>
          <a:bodyPr wrap="none" lIns="0" tIns="0" rIns="0" bIns="0" rtlCol="0" anchor="t"/>
          <a:lstStyle/>
          <a:p>
            <a:pPr marL="0" indent="0" algn="l">
              <a:lnSpc>
                <a:spcPts val="2100"/>
              </a:lnSpc>
              <a:buNone/>
            </a:pPr>
            <a:r>
              <a:rPr lang="en-US" sz="1650" dirty="0">
                <a:solidFill>
                  <a:srgbClr val="15213F"/>
                </a:solidFill>
                <a:latin typeface="Roboto Slab" pitchFamily="34" charset="0"/>
                <a:ea typeface="Roboto Slab" pitchFamily="34" charset="-122"/>
                <a:cs typeface="Roboto Slab" pitchFamily="34" charset="-120"/>
              </a:rPr>
              <a:t>Step 7: POS Tagging</a:t>
            </a:r>
            <a:endParaRPr lang="en-US" sz="1650" dirty="0"/>
          </a:p>
        </p:txBody>
      </p:sp>
      <p:sp>
        <p:nvSpPr>
          <p:cNvPr id="35" name="Text 32"/>
          <p:cNvSpPr/>
          <p:nvPr/>
        </p:nvSpPr>
        <p:spPr>
          <a:xfrm>
            <a:off x="9761815" y="6894076"/>
            <a:ext cx="3941445" cy="485775"/>
          </a:xfrm>
          <a:prstGeom prst="rect">
            <a:avLst/>
          </a:prstGeom>
          <a:noFill/>
          <a:ln/>
        </p:spPr>
        <p:txBody>
          <a:bodyPr wrap="square" lIns="0" tIns="0" rIns="0" bIns="0" rtlCol="0" anchor="t"/>
          <a:lstStyle/>
          <a:p>
            <a:pPr marL="0" indent="0" algn="l">
              <a:lnSpc>
                <a:spcPts val="1900"/>
              </a:lnSpc>
              <a:buNone/>
            </a:pPr>
            <a:r>
              <a:rPr lang="en-US" sz="1350" dirty="0">
                <a:solidFill>
                  <a:srgbClr val="15213F"/>
                </a:solidFill>
                <a:latin typeface="Roboto" pitchFamily="34" charset="0"/>
                <a:ea typeface="Roboto" pitchFamily="34" charset="-122"/>
                <a:cs typeface="Roboto" pitchFamily="34" charset="-120"/>
              </a:rPr>
              <a:t>Subject-Object-Word analysis | Nouns / Verbs / Adjectives extraction</a:t>
            </a:r>
            <a:endParaRPr lang="en-US" sz="1350" dirty="0"/>
          </a:p>
        </p:txBody>
      </p:sp>
      <p:pic>
        <p:nvPicPr>
          <p:cNvPr id="37" name="Picture 36">
            <a:extLst>
              <a:ext uri="{FF2B5EF4-FFF2-40B4-BE49-F238E27FC236}">
                <a16:creationId xmlns:a16="http://schemas.microsoft.com/office/drawing/2014/main" id="{2DE966F9-7D97-69F9-6EF8-874480A05164}"/>
              </a:ext>
            </a:extLst>
          </p:cNvPr>
          <p:cNvPicPr>
            <a:picLocks noChangeAspect="1"/>
          </p:cNvPicPr>
          <p:nvPr/>
        </p:nvPicPr>
        <p:blipFill>
          <a:blip r:embed="rId4"/>
          <a:stretch>
            <a:fillRect/>
          </a:stretch>
        </p:blipFill>
        <p:spPr>
          <a:xfrm>
            <a:off x="12839450" y="7683461"/>
            <a:ext cx="1790950" cy="51442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1015" y="1113115"/>
            <a:ext cx="5386388" cy="447318"/>
          </a:xfrm>
          <a:prstGeom prst="rect">
            <a:avLst/>
          </a:prstGeom>
          <a:noFill/>
          <a:ln/>
        </p:spPr>
        <p:txBody>
          <a:bodyPr wrap="none" lIns="0" tIns="0" rIns="0" bIns="0" rtlCol="0" anchor="t"/>
          <a:lstStyle/>
          <a:p>
            <a:pPr marL="0" indent="0" algn="l">
              <a:lnSpc>
                <a:spcPts val="3500"/>
              </a:lnSpc>
              <a:buNone/>
            </a:pPr>
            <a:r>
              <a:rPr lang="en-US" sz="2800" dirty="0">
                <a:solidFill>
                  <a:srgbClr val="3257B8"/>
                </a:solidFill>
                <a:latin typeface="Roboto Slab" pitchFamily="34" charset="0"/>
                <a:ea typeface="Roboto Slab" pitchFamily="34" charset="-122"/>
                <a:cs typeface="Roboto Slab" pitchFamily="34" charset="-120"/>
              </a:rPr>
              <a:t>Challenges &amp; Anticipated Issues</a:t>
            </a:r>
            <a:endParaRPr lang="en-US" sz="2800" dirty="0"/>
          </a:p>
        </p:txBody>
      </p:sp>
      <p:sp>
        <p:nvSpPr>
          <p:cNvPr id="3" name="Shape 1"/>
          <p:cNvSpPr/>
          <p:nvPr/>
        </p:nvSpPr>
        <p:spPr>
          <a:xfrm>
            <a:off x="501015" y="1741170"/>
            <a:ext cx="322064" cy="322064"/>
          </a:xfrm>
          <a:prstGeom prst="roundRect">
            <a:avLst>
              <a:gd name="adj" fmla="val 6668"/>
            </a:avLst>
          </a:prstGeom>
          <a:solidFill>
            <a:srgbClr val="E9ECF2"/>
          </a:solidFill>
          <a:ln/>
        </p:spPr>
      </p:sp>
      <p:sp>
        <p:nvSpPr>
          <p:cNvPr id="4" name="Text 2"/>
          <p:cNvSpPr/>
          <p:nvPr/>
        </p:nvSpPr>
        <p:spPr>
          <a:xfrm>
            <a:off x="554653" y="1767959"/>
            <a:ext cx="214670" cy="268367"/>
          </a:xfrm>
          <a:prstGeom prst="rect">
            <a:avLst/>
          </a:prstGeom>
          <a:noFill/>
          <a:ln/>
        </p:spPr>
        <p:txBody>
          <a:bodyPr wrap="none" lIns="0" tIns="0" rIns="0" bIns="0" rtlCol="0" anchor="t"/>
          <a:lstStyle/>
          <a:p>
            <a:pPr marL="0" indent="0" algn="ctr">
              <a:lnSpc>
                <a:spcPts val="1650"/>
              </a:lnSpc>
              <a:buNone/>
            </a:pPr>
            <a:r>
              <a:rPr lang="en-US" sz="1650" dirty="0">
                <a:solidFill>
                  <a:srgbClr val="15213F"/>
                </a:solidFill>
                <a:latin typeface="Roboto Slab" pitchFamily="34" charset="0"/>
                <a:ea typeface="Roboto Slab" pitchFamily="34" charset="-122"/>
                <a:cs typeface="Roboto Slab" pitchFamily="34" charset="-120"/>
              </a:rPr>
              <a:t>1</a:t>
            </a:r>
            <a:endParaRPr lang="en-US" sz="1650" dirty="0"/>
          </a:p>
        </p:txBody>
      </p:sp>
      <p:sp>
        <p:nvSpPr>
          <p:cNvPr id="5" name="Text 3"/>
          <p:cNvSpPr/>
          <p:nvPr/>
        </p:nvSpPr>
        <p:spPr>
          <a:xfrm>
            <a:off x="913448" y="1790343"/>
            <a:ext cx="4337209" cy="223599"/>
          </a:xfrm>
          <a:prstGeom prst="rect">
            <a:avLst/>
          </a:prstGeom>
          <a:noFill/>
          <a:ln/>
        </p:spPr>
        <p:txBody>
          <a:bodyPr wrap="none" lIns="0" tIns="0" rIns="0" bIns="0" rtlCol="0" anchor="t"/>
          <a:lstStyle/>
          <a:p>
            <a:pPr marL="0" indent="0" algn="l">
              <a:lnSpc>
                <a:spcPts val="1750"/>
              </a:lnSpc>
              <a:buNone/>
            </a:pPr>
            <a:r>
              <a:rPr lang="en-US" sz="1400" dirty="0">
                <a:solidFill>
                  <a:srgbClr val="15213F"/>
                </a:solidFill>
                <a:latin typeface="Roboto Slab" pitchFamily="34" charset="0"/>
                <a:ea typeface="Roboto Slab" pitchFamily="34" charset="-122"/>
                <a:cs typeface="Roboto Slab" pitchFamily="34" charset="-120"/>
              </a:rPr>
              <a:t>TOKENIZATION ERRORS CASCADE DOWNSTREAM</a:t>
            </a:r>
            <a:endParaRPr lang="en-US" sz="1400" dirty="0"/>
          </a:p>
        </p:txBody>
      </p:sp>
      <p:sp>
        <p:nvSpPr>
          <p:cNvPr id="6" name="Text 4"/>
          <p:cNvSpPr/>
          <p:nvPr/>
        </p:nvSpPr>
        <p:spPr>
          <a:xfrm>
            <a:off x="913448" y="2068116"/>
            <a:ext cx="13215938" cy="186809"/>
          </a:xfrm>
          <a:prstGeom prst="rect">
            <a:avLst/>
          </a:prstGeom>
          <a:noFill/>
          <a:ln/>
        </p:spPr>
        <p:txBody>
          <a:bodyPr wrap="none" lIns="0" tIns="0" rIns="0" bIns="0" rtlCol="0" anchor="t"/>
          <a:lstStyle/>
          <a:p>
            <a:pPr marL="0" indent="0" algn="l">
              <a:lnSpc>
                <a:spcPts val="1450"/>
              </a:lnSpc>
              <a:buNone/>
            </a:pPr>
            <a:r>
              <a:rPr lang="en-US" sz="1100" dirty="0">
                <a:solidFill>
                  <a:srgbClr val="15213F"/>
                </a:solidFill>
                <a:latin typeface="Roboto" pitchFamily="34" charset="0"/>
                <a:ea typeface="Roboto" pitchFamily="34" charset="-122"/>
                <a:cs typeface="Roboto" pitchFamily="34" charset="-120"/>
              </a:rPr>
              <a:t>Wrong splits (ATP-dependent, "hai,") change all counts, percentages, and CMI scores.</a:t>
            </a:r>
            <a:endParaRPr lang="en-US" sz="1100" dirty="0"/>
          </a:p>
        </p:txBody>
      </p:sp>
      <p:sp>
        <p:nvSpPr>
          <p:cNvPr id="7" name="Shape 5"/>
          <p:cNvSpPr/>
          <p:nvPr/>
        </p:nvSpPr>
        <p:spPr>
          <a:xfrm>
            <a:off x="501015" y="2435662"/>
            <a:ext cx="322064" cy="322064"/>
          </a:xfrm>
          <a:prstGeom prst="roundRect">
            <a:avLst>
              <a:gd name="adj" fmla="val 6668"/>
            </a:avLst>
          </a:prstGeom>
          <a:solidFill>
            <a:srgbClr val="E9ECF2"/>
          </a:solidFill>
          <a:ln/>
        </p:spPr>
      </p:sp>
      <p:sp>
        <p:nvSpPr>
          <p:cNvPr id="8" name="Text 6"/>
          <p:cNvSpPr/>
          <p:nvPr/>
        </p:nvSpPr>
        <p:spPr>
          <a:xfrm>
            <a:off x="554653" y="2462451"/>
            <a:ext cx="214670" cy="268367"/>
          </a:xfrm>
          <a:prstGeom prst="rect">
            <a:avLst/>
          </a:prstGeom>
          <a:noFill/>
          <a:ln/>
        </p:spPr>
        <p:txBody>
          <a:bodyPr wrap="none" lIns="0" tIns="0" rIns="0" bIns="0" rtlCol="0" anchor="t"/>
          <a:lstStyle/>
          <a:p>
            <a:pPr marL="0" indent="0" algn="ctr">
              <a:lnSpc>
                <a:spcPts val="1650"/>
              </a:lnSpc>
              <a:buNone/>
            </a:pPr>
            <a:r>
              <a:rPr lang="en-US" sz="1650" dirty="0">
                <a:solidFill>
                  <a:srgbClr val="15213F"/>
                </a:solidFill>
                <a:latin typeface="Roboto Slab" pitchFamily="34" charset="0"/>
                <a:ea typeface="Roboto Slab" pitchFamily="34" charset="-122"/>
                <a:cs typeface="Roboto Slab" pitchFamily="34" charset="-120"/>
              </a:rPr>
              <a:t>2</a:t>
            </a:r>
            <a:endParaRPr lang="en-US" sz="1650" dirty="0"/>
          </a:p>
        </p:txBody>
      </p:sp>
      <p:sp>
        <p:nvSpPr>
          <p:cNvPr id="9" name="Text 7"/>
          <p:cNvSpPr/>
          <p:nvPr/>
        </p:nvSpPr>
        <p:spPr>
          <a:xfrm>
            <a:off x="913448" y="2484834"/>
            <a:ext cx="4269700" cy="223599"/>
          </a:xfrm>
          <a:prstGeom prst="rect">
            <a:avLst/>
          </a:prstGeom>
          <a:noFill/>
          <a:ln/>
        </p:spPr>
        <p:txBody>
          <a:bodyPr wrap="none" lIns="0" tIns="0" rIns="0" bIns="0" rtlCol="0" anchor="t"/>
          <a:lstStyle/>
          <a:p>
            <a:pPr marL="0" indent="0" algn="l">
              <a:lnSpc>
                <a:spcPts val="1750"/>
              </a:lnSpc>
              <a:buNone/>
            </a:pPr>
            <a:r>
              <a:rPr lang="en-US" sz="1400" dirty="0">
                <a:solidFill>
                  <a:srgbClr val="15213F"/>
                </a:solidFill>
                <a:latin typeface="Roboto Slab" pitchFamily="34" charset="0"/>
                <a:ea typeface="Roboto Slab" pitchFamily="34" charset="-122"/>
                <a:cs typeface="Roboto Slab" pitchFamily="34" charset="-120"/>
              </a:rPr>
              <a:t>AMBIGUOUS WORDS BETWEEN HINDI &amp; ENGLISH</a:t>
            </a:r>
            <a:endParaRPr lang="en-US" sz="1400" dirty="0"/>
          </a:p>
        </p:txBody>
      </p:sp>
      <p:sp>
        <p:nvSpPr>
          <p:cNvPr id="10" name="Text 8"/>
          <p:cNvSpPr/>
          <p:nvPr/>
        </p:nvSpPr>
        <p:spPr>
          <a:xfrm>
            <a:off x="913448" y="2762607"/>
            <a:ext cx="13215938" cy="186809"/>
          </a:xfrm>
          <a:prstGeom prst="rect">
            <a:avLst/>
          </a:prstGeom>
          <a:noFill/>
          <a:ln/>
        </p:spPr>
        <p:txBody>
          <a:bodyPr wrap="none" lIns="0" tIns="0" rIns="0" bIns="0" rtlCol="0" anchor="t"/>
          <a:lstStyle/>
          <a:p>
            <a:pPr marL="0" indent="0" algn="l">
              <a:lnSpc>
                <a:spcPts val="1450"/>
              </a:lnSpc>
              <a:buNone/>
            </a:pPr>
            <a:r>
              <a:rPr lang="en-US" sz="1100" dirty="0">
                <a:solidFill>
                  <a:srgbClr val="15213F"/>
                </a:solidFill>
                <a:latin typeface="Roboto" pitchFamily="34" charset="0"/>
                <a:ea typeface="Roboto" pitchFamily="34" charset="-122"/>
                <a:cs typeface="Roboto" pitchFamily="34" charset="-120"/>
              </a:rPr>
              <a:t>"to", "me" are valid in both languages — mislabeled without context.</a:t>
            </a:r>
            <a:endParaRPr lang="en-US" sz="1100" dirty="0"/>
          </a:p>
        </p:txBody>
      </p:sp>
      <p:sp>
        <p:nvSpPr>
          <p:cNvPr id="11" name="Shape 9"/>
          <p:cNvSpPr/>
          <p:nvPr/>
        </p:nvSpPr>
        <p:spPr>
          <a:xfrm>
            <a:off x="501015" y="3130153"/>
            <a:ext cx="322064" cy="322064"/>
          </a:xfrm>
          <a:prstGeom prst="roundRect">
            <a:avLst>
              <a:gd name="adj" fmla="val 6668"/>
            </a:avLst>
          </a:prstGeom>
          <a:solidFill>
            <a:srgbClr val="E9ECF2"/>
          </a:solidFill>
          <a:ln/>
        </p:spPr>
      </p:sp>
      <p:sp>
        <p:nvSpPr>
          <p:cNvPr id="12" name="Text 10"/>
          <p:cNvSpPr/>
          <p:nvPr/>
        </p:nvSpPr>
        <p:spPr>
          <a:xfrm>
            <a:off x="554653" y="3156942"/>
            <a:ext cx="214670" cy="268367"/>
          </a:xfrm>
          <a:prstGeom prst="rect">
            <a:avLst/>
          </a:prstGeom>
          <a:noFill/>
          <a:ln/>
        </p:spPr>
        <p:txBody>
          <a:bodyPr wrap="none" lIns="0" tIns="0" rIns="0" bIns="0" rtlCol="0" anchor="t"/>
          <a:lstStyle/>
          <a:p>
            <a:pPr marL="0" indent="0" algn="ctr">
              <a:lnSpc>
                <a:spcPts val="1650"/>
              </a:lnSpc>
              <a:buNone/>
            </a:pPr>
            <a:r>
              <a:rPr lang="en-US" sz="1650" dirty="0">
                <a:solidFill>
                  <a:srgbClr val="15213F"/>
                </a:solidFill>
                <a:latin typeface="Roboto Slab" pitchFamily="34" charset="0"/>
                <a:ea typeface="Roboto Slab" pitchFamily="34" charset="-122"/>
                <a:cs typeface="Roboto Slab" pitchFamily="34" charset="-120"/>
              </a:rPr>
              <a:t>3</a:t>
            </a:r>
            <a:endParaRPr lang="en-US" sz="1650" dirty="0"/>
          </a:p>
        </p:txBody>
      </p:sp>
      <p:sp>
        <p:nvSpPr>
          <p:cNvPr id="13" name="Text 11"/>
          <p:cNvSpPr/>
          <p:nvPr/>
        </p:nvSpPr>
        <p:spPr>
          <a:xfrm>
            <a:off x="913448" y="3179326"/>
            <a:ext cx="4429720" cy="223599"/>
          </a:xfrm>
          <a:prstGeom prst="rect">
            <a:avLst/>
          </a:prstGeom>
          <a:noFill/>
          <a:ln/>
        </p:spPr>
        <p:txBody>
          <a:bodyPr wrap="none" lIns="0" tIns="0" rIns="0" bIns="0" rtlCol="0" anchor="t"/>
          <a:lstStyle/>
          <a:p>
            <a:pPr marL="0" indent="0" algn="l">
              <a:lnSpc>
                <a:spcPts val="1750"/>
              </a:lnSpc>
              <a:buNone/>
            </a:pPr>
            <a:r>
              <a:rPr lang="en-US" sz="1400" dirty="0">
                <a:solidFill>
                  <a:srgbClr val="15213F"/>
                </a:solidFill>
                <a:latin typeface="Roboto Slab" pitchFamily="34" charset="0"/>
                <a:ea typeface="Roboto Slab" pitchFamily="34" charset="-122"/>
                <a:cs typeface="Roboto Slab" pitchFamily="34" charset="-120"/>
              </a:rPr>
              <a:t>HIGH SPELLING VARIABILITY IN ROMAN HINGLISH</a:t>
            </a:r>
            <a:endParaRPr lang="en-US" sz="1400" dirty="0"/>
          </a:p>
        </p:txBody>
      </p:sp>
      <p:sp>
        <p:nvSpPr>
          <p:cNvPr id="14" name="Text 12"/>
          <p:cNvSpPr/>
          <p:nvPr/>
        </p:nvSpPr>
        <p:spPr>
          <a:xfrm>
            <a:off x="913448" y="3457099"/>
            <a:ext cx="13215938" cy="186809"/>
          </a:xfrm>
          <a:prstGeom prst="rect">
            <a:avLst/>
          </a:prstGeom>
          <a:noFill/>
          <a:ln/>
        </p:spPr>
        <p:txBody>
          <a:bodyPr wrap="none" lIns="0" tIns="0" rIns="0" bIns="0" rtlCol="0" anchor="t"/>
          <a:lstStyle/>
          <a:p>
            <a:pPr marL="0" indent="0" algn="l">
              <a:lnSpc>
                <a:spcPts val="1450"/>
              </a:lnSpc>
              <a:buNone/>
            </a:pPr>
            <a:r>
              <a:rPr lang="en-US" sz="1100" dirty="0">
                <a:solidFill>
                  <a:srgbClr val="15213F"/>
                </a:solidFill>
                <a:latin typeface="Roboto" pitchFamily="34" charset="0"/>
                <a:ea typeface="Roboto" pitchFamily="34" charset="-122"/>
                <a:cs typeface="Roboto" pitchFamily="34" charset="-120"/>
              </a:rPr>
              <a:t>"kyunki/kyonki/kyoki" — fixed dictionaries fail without fuzzy matching &amp; normalization.</a:t>
            </a:r>
            <a:endParaRPr lang="en-US" sz="1100" dirty="0"/>
          </a:p>
        </p:txBody>
      </p:sp>
      <p:sp>
        <p:nvSpPr>
          <p:cNvPr id="15" name="Shape 13"/>
          <p:cNvSpPr/>
          <p:nvPr/>
        </p:nvSpPr>
        <p:spPr>
          <a:xfrm>
            <a:off x="501015" y="3824645"/>
            <a:ext cx="322064" cy="322064"/>
          </a:xfrm>
          <a:prstGeom prst="roundRect">
            <a:avLst>
              <a:gd name="adj" fmla="val 6668"/>
            </a:avLst>
          </a:prstGeom>
          <a:solidFill>
            <a:srgbClr val="E9ECF2"/>
          </a:solidFill>
          <a:ln/>
        </p:spPr>
      </p:sp>
      <p:sp>
        <p:nvSpPr>
          <p:cNvPr id="16" name="Text 14"/>
          <p:cNvSpPr/>
          <p:nvPr/>
        </p:nvSpPr>
        <p:spPr>
          <a:xfrm>
            <a:off x="554653" y="3851434"/>
            <a:ext cx="214670" cy="268367"/>
          </a:xfrm>
          <a:prstGeom prst="rect">
            <a:avLst/>
          </a:prstGeom>
          <a:noFill/>
          <a:ln/>
        </p:spPr>
        <p:txBody>
          <a:bodyPr wrap="none" lIns="0" tIns="0" rIns="0" bIns="0" rtlCol="0" anchor="t"/>
          <a:lstStyle/>
          <a:p>
            <a:pPr marL="0" indent="0" algn="ctr">
              <a:lnSpc>
                <a:spcPts val="1650"/>
              </a:lnSpc>
              <a:buNone/>
            </a:pPr>
            <a:r>
              <a:rPr lang="en-US" sz="1650" dirty="0">
                <a:solidFill>
                  <a:srgbClr val="15213F"/>
                </a:solidFill>
                <a:latin typeface="Roboto Slab" pitchFamily="34" charset="0"/>
                <a:ea typeface="Roboto Slab" pitchFamily="34" charset="-122"/>
                <a:cs typeface="Roboto Slab" pitchFamily="34" charset="-120"/>
              </a:rPr>
              <a:t>4</a:t>
            </a:r>
            <a:endParaRPr lang="en-US" sz="1650" dirty="0"/>
          </a:p>
        </p:txBody>
      </p:sp>
      <p:sp>
        <p:nvSpPr>
          <p:cNvPr id="17" name="Text 15"/>
          <p:cNvSpPr/>
          <p:nvPr/>
        </p:nvSpPr>
        <p:spPr>
          <a:xfrm>
            <a:off x="913448" y="3873818"/>
            <a:ext cx="4083368" cy="223599"/>
          </a:xfrm>
          <a:prstGeom prst="rect">
            <a:avLst/>
          </a:prstGeom>
          <a:noFill/>
          <a:ln/>
        </p:spPr>
        <p:txBody>
          <a:bodyPr wrap="none" lIns="0" tIns="0" rIns="0" bIns="0" rtlCol="0" anchor="t"/>
          <a:lstStyle/>
          <a:p>
            <a:pPr marL="0" indent="0" algn="l">
              <a:lnSpc>
                <a:spcPts val="1750"/>
              </a:lnSpc>
              <a:buNone/>
            </a:pPr>
            <a:r>
              <a:rPr lang="en-US" sz="1400" dirty="0">
                <a:solidFill>
                  <a:srgbClr val="15213F"/>
                </a:solidFill>
                <a:latin typeface="Roboto Slab" pitchFamily="34" charset="0"/>
                <a:ea typeface="Roboto Slab" pitchFamily="34" charset="-122"/>
                <a:cs typeface="Roboto Slab" pitchFamily="34" charset="-120"/>
              </a:rPr>
              <a:t>SCIENTIFIC TERMS INFLATE ENGLISH COUNTS</a:t>
            </a:r>
            <a:endParaRPr lang="en-US" sz="1400" dirty="0"/>
          </a:p>
        </p:txBody>
      </p:sp>
      <p:sp>
        <p:nvSpPr>
          <p:cNvPr id="18" name="Text 16"/>
          <p:cNvSpPr/>
          <p:nvPr/>
        </p:nvSpPr>
        <p:spPr>
          <a:xfrm>
            <a:off x="913448" y="4151590"/>
            <a:ext cx="13215938" cy="186809"/>
          </a:xfrm>
          <a:prstGeom prst="rect">
            <a:avLst/>
          </a:prstGeom>
          <a:noFill/>
          <a:ln/>
        </p:spPr>
        <p:txBody>
          <a:bodyPr wrap="none" lIns="0" tIns="0" rIns="0" bIns="0" rtlCol="0" anchor="t"/>
          <a:lstStyle/>
          <a:p>
            <a:pPr marL="0" indent="0" algn="l">
              <a:lnSpc>
                <a:spcPts val="1450"/>
              </a:lnSpc>
              <a:buNone/>
            </a:pPr>
            <a:r>
              <a:rPr lang="en-US" sz="1100" dirty="0">
                <a:solidFill>
                  <a:srgbClr val="15213F"/>
                </a:solidFill>
                <a:latin typeface="Roboto" pitchFamily="34" charset="0"/>
                <a:ea typeface="Roboto" pitchFamily="34" charset="-122"/>
                <a:cs typeface="Roboto" pitchFamily="34" charset="-120"/>
              </a:rPr>
              <a:t>"Mitochondria", "ATP", "DNA" skew CMI higher than what the sentence actually feels like.</a:t>
            </a:r>
            <a:endParaRPr lang="en-US" sz="1100" dirty="0"/>
          </a:p>
        </p:txBody>
      </p:sp>
      <p:sp>
        <p:nvSpPr>
          <p:cNvPr id="19" name="Shape 17"/>
          <p:cNvSpPr/>
          <p:nvPr/>
        </p:nvSpPr>
        <p:spPr>
          <a:xfrm>
            <a:off x="501015" y="4519136"/>
            <a:ext cx="322064" cy="322064"/>
          </a:xfrm>
          <a:prstGeom prst="roundRect">
            <a:avLst>
              <a:gd name="adj" fmla="val 6668"/>
            </a:avLst>
          </a:prstGeom>
          <a:solidFill>
            <a:srgbClr val="E9ECF2"/>
          </a:solidFill>
          <a:ln/>
        </p:spPr>
      </p:sp>
      <p:sp>
        <p:nvSpPr>
          <p:cNvPr id="20" name="Text 18"/>
          <p:cNvSpPr/>
          <p:nvPr/>
        </p:nvSpPr>
        <p:spPr>
          <a:xfrm>
            <a:off x="554653" y="4545925"/>
            <a:ext cx="214670" cy="268367"/>
          </a:xfrm>
          <a:prstGeom prst="rect">
            <a:avLst/>
          </a:prstGeom>
          <a:noFill/>
          <a:ln/>
        </p:spPr>
        <p:txBody>
          <a:bodyPr wrap="none" lIns="0" tIns="0" rIns="0" bIns="0" rtlCol="0" anchor="t"/>
          <a:lstStyle/>
          <a:p>
            <a:pPr marL="0" indent="0" algn="ctr">
              <a:lnSpc>
                <a:spcPts val="1650"/>
              </a:lnSpc>
              <a:buNone/>
            </a:pPr>
            <a:r>
              <a:rPr lang="en-US" sz="1650" dirty="0">
                <a:solidFill>
                  <a:srgbClr val="15213F"/>
                </a:solidFill>
                <a:latin typeface="Roboto Slab" pitchFamily="34" charset="0"/>
                <a:ea typeface="Roboto Slab" pitchFamily="34" charset="-122"/>
                <a:cs typeface="Roboto Slab" pitchFamily="34" charset="-120"/>
              </a:rPr>
              <a:t>5</a:t>
            </a:r>
            <a:endParaRPr lang="en-US" sz="1650" dirty="0"/>
          </a:p>
        </p:txBody>
      </p:sp>
      <p:sp>
        <p:nvSpPr>
          <p:cNvPr id="21" name="Text 19"/>
          <p:cNvSpPr/>
          <p:nvPr/>
        </p:nvSpPr>
        <p:spPr>
          <a:xfrm>
            <a:off x="913448" y="4568309"/>
            <a:ext cx="4067889" cy="223599"/>
          </a:xfrm>
          <a:prstGeom prst="rect">
            <a:avLst/>
          </a:prstGeom>
          <a:noFill/>
          <a:ln/>
        </p:spPr>
        <p:txBody>
          <a:bodyPr wrap="none" lIns="0" tIns="0" rIns="0" bIns="0" rtlCol="0" anchor="t"/>
          <a:lstStyle/>
          <a:p>
            <a:pPr marL="0" indent="0" algn="l">
              <a:lnSpc>
                <a:spcPts val="1750"/>
              </a:lnSpc>
              <a:buNone/>
            </a:pPr>
            <a:r>
              <a:rPr lang="en-US" sz="1400" dirty="0">
                <a:solidFill>
                  <a:srgbClr val="15213F"/>
                </a:solidFill>
                <a:latin typeface="Roboto Slab" pitchFamily="34" charset="0"/>
                <a:ea typeface="Roboto Slab" pitchFamily="34" charset="-122"/>
                <a:cs typeface="Roboto Slab" pitchFamily="34" charset="-120"/>
              </a:rPr>
              <a:t>INCONSISTENT CMI FROM "OTHER" CATEGORY</a:t>
            </a:r>
            <a:endParaRPr lang="en-US" sz="1400" dirty="0"/>
          </a:p>
        </p:txBody>
      </p:sp>
      <p:sp>
        <p:nvSpPr>
          <p:cNvPr id="22" name="Text 20"/>
          <p:cNvSpPr/>
          <p:nvPr/>
        </p:nvSpPr>
        <p:spPr>
          <a:xfrm>
            <a:off x="913448" y="4846082"/>
            <a:ext cx="13215938" cy="186809"/>
          </a:xfrm>
          <a:prstGeom prst="rect">
            <a:avLst/>
          </a:prstGeom>
          <a:noFill/>
          <a:ln/>
        </p:spPr>
        <p:txBody>
          <a:bodyPr wrap="none" lIns="0" tIns="0" rIns="0" bIns="0" rtlCol="0" anchor="t"/>
          <a:lstStyle/>
          <a:p>
            <a:pPr marL="0" indent="0" algn="l">
              <a:lnSpc>
                <a:spcPts val="1450"/>
              </a:lnSpc>
              <a:buNone/>
            </a:pPr>
            <a:r>
              <a:rPr lang="en-US" sz="1100" dirty="0">
                <a:solidFill>
                  <a:srgbClr val="15213F"/>
                </a:solidFill>
                <a:latin typeface="Roboto" pitchFamily="34" charset="0"/>
                <a:ea typeface="Roboto" pitchFamily="34" charset="-122"/>
                <a:cs typeface="Roboto" pitchFamily="34" charset="-120"/>
              </a:rPr>
              <a:t>Numbers, symbols, units — include or exclude? Different papers calculate CMI differently.</a:t>
            </a:r>
            <a:endParaRPr lang="en-US" sz="1100" dirty="0"/>
          </a:p>
        </p:txBody>
      </p:sp>
      <p:sp>
        <p:nvSpPr>
          <p:cNvPr id="23" name="Shape 21"/>
          <p:cNvSpPr/>
          <p:nvPr/>
        </p:nvSpPr>
        <p:spPr>
          <a:xfrm>
            <a:off x="501015" y="5213628"/>
            <a:ext cx="322064" cy="322064"/>
          </a:xfrm>
          <a:prstGeom prst="roundRect">
            <a:avLst>
              <a:gd name="adj" fmla="val 6668"/>
            </a:avLst>
          </a:prstGeom>
          <a:solidFill>
            <a:srgbClr val="E9ECF2"/>
          </a:solidFill>
          <a:ln/>
        </p:spPr>
      </p:sp>
      <p:sp>
        <p:nvSpPr>
          <p:cNvPr id="24" name="Text 22"/>
          <p:cNvSpPr/>
          <p:nvPr/>
        </p:nvSpPr>
        <p:spPr>
          <a:xfrm>
            <a:off x="554653" y="5240417"/>
            <a:ext cx="214670" cy="268367"/>
          </a:xfrm>
          <a:prstGeom prst="rect">
            <a:avLst/>
          </a:prstGeom>
          <a:noFill/>
          <a:ln/>
        </p:spPr>
        <p:txBody>
          <a:bodyPr wrap="none" lIns="0" tIns="0" rIns="0" bIns="0" rtlCol="0" anchor="t"/>
          <a:lstStyle/>
          <a:p>
            <a:pPr marL="0" indent="0" algn="ctr">
              <a:lnSpc>
                <a:spcPts val="1650"/>
              </a:lnSpc>
              <a:buNone/>
            </a:pPr>
            <a:r>
              <a:rPr lang="en-US" sz="1650" dirty="0">
                <a:solidFill>
                  <a:srgbClr val="15213F"/>
                </a:solidFill>
                <a:latin typeface="Roboto Slab" pitchFamily="34" charset="0"/>
                <a:ea typeface="Roboto Slab" pitchFamily="34" charset="-122"/>
                <a:cs typeface="Roboto Slab" pitchFamily="34" charset="-120"/>
              </a:rPr>
              <a:t>6</a:t>
            </a:r>
            <a:endParaRPr lang="en-US" sz="1650" dirty="0"/>
          </a:p>
        </p:txBody>
      </p:sp>
      <p:sp>
        <p:nvSpPr>
          <p:cNvPr id="25" name="Text 23"/>
          <p:cNvSpPr/>
          <p:nvPr/>
        </p:nvSpPr>
        <p:spPr>
          <a:xfrm>
            <a:off x="913448" y="5262801"/>
            <a:ext cx="4152067" cy="223599"/>
          </a:xfrm>
          <a:prstGeom prst="rect">
            <a:avLst/>
          </a:prstGeom>
          <a:noFill/>
          <a:ln/>
        </p:spPr>
        <p:txBody>
          <a:bodyPr wrap="none" lIns="0" tIns="0" rIns="0" bIns="0" rtlCol="0" anchor="t"/>
          <a:lstStyle/>
          <a:p>
            <a:pPr marL="0" indent="0" algn="l">
              <a:lnSpc>
                <a:spcPts val="1750"/>
              </a:lnSpc>
              <a:buNone/>
            </a:pPr>
            <a:r>
              <a:rPr lang="en-US" sz="1400" dirty="0">
                <a:solidFill>
                  <a:srgbClr val="15213F"/>
                </a:solidFill>
                <a:latin typeface="Roboto Slab" pitchFamily="34" charset="0"/>
                <a:ea typeface="Roboto Slab" pitchFamily="34" charset="-122"/>
                <a:cs typeface="Roboto Slab" pitchFamily="34" charset="-120"/>
              </a:rPr>
              <a:t>HINDI STOP WORDS DOMINATE TOKEN COUNTS</a:t>
            </a:r>
            <a:endParaRPr lang="en-US" sz="1400" dirty="0"/>
          </a:p>
        </p:txBody>
      </p:sp>
      <p:sp>
        <p:nvSpPr>
          <p:cNvPr id="26" name="Text 24"/>
          <p:cNvSpPr/>
          <p:nvPr/>
        </p:nvSpPr>
        <p:spPr>
          <a:xfrm>
            <a:off x="913448" y="5540573"/>
            <a:ext cx="13215938" cy="186809"/>
          </a:xfrm>
          <a:prstGeom prst="rect">
            <a:avLst/>
          </a:prstGeom>
          <a:noFill/>
          <a:ln/>
        </p:spPr>
        <p:txBody>
          <a:bodyPr wrap="none" lIns="0" tIns="0" rIns="0" bIns="0" rtlCol="0" anchor="t"/>
          <a:lstStyle/>
          <a:p>
            <a:pPr marL="0" indent="0" algn="l">
              <a:lnSpc>
                <a:spcPts val="1450"/>
              </a:lnSpc>
              <a:buNone/>
            </a:pPr>
            <a:r>
              <a:rPr lang="en-US" sz="1100" dirty="0">
                <a:solidFill>
                  <a:srgbClr val="15213F"/>
                </a:solidFill>
                <a:latin typeface="Roboto" pitchFamily="34" charset="0"/>
                <a:ea typeface="Roboto" pitchFamily="34" charset="-122"/>
                <a:cs typeface="Roboto" pitchFamily="34" charset="-120"/>
              </a:rPr>
              <a:t>"ka", "ke", "ko", "mein", "hai" inflate Hindi% even when content words are all English.</a:t>
            </a:r>
            <a:endParaRPr lang="en-US" sz="1100" dirty="0"/>
          </a:p>
        </p:txBody>
      </p:sp>
      <p:sp>
        <p:nvSpPr>
          <p:cNvPr id="27" name="Shape 25"/>
          <p:cNvSpPr/>
          <p:nvPr/>
        </p:nvSpPr>
        <p:spPr>
          <a:xfrm>
            <a:off x="501015" y="5908119"/>
            <a:ext cx="322064" cy="322064"/>
          </a:xfrm>
          <a:prstGeom prst="roundRect">
            <a:avLst>
              <a:gd name="adj" fmla="val 6668"/>
            </a:avLst>
          </a:prstGeom>
          <a:solidFill>
            <a:srgbClr val="E9ECF2"/>
          </a:solidFill>
          <a:ln/>
        </p:spPr>
      </p:sp>
      <p:sp>
        <p:nvSpPr>
          <p:cNvPr id="28" name="Text 26"/>
          <p:cNvSpPr/>
          <p:nvPr/>
        </p:nvSpPr>
        <p:spPr>
          <a:xfrm>
            <a:off x="554653" y="5934908"/>
            <a:ext cx="214670" cy="268367"/>
          </a:xfrm>
          <a:prstGeom prst="rect">
            <a:avLst/>
          </a:prstGeom>
          <a:noFill/>
          <a:ln/>
        </p:spPr>
        <p:txBody>
          <a:bodyPr wrap="none" lIns="0" tIns="0" rIns="0" bIns="0" rtlCol="0" anchor="t"/>
          <a:lstStyle/>
          <a:p>
            <a:pPr marL="0" indent="0" algn="ctr">
              <a:lnSpc>
                <a:spcPts val="1650"/>
              </a:lnSpc>
              <a:buNone/>
            </a:pPr>
            <a:r>
              <a:rPr lang="en-US" sz="1650" dirty="0">
                <a:solidFill>
                  <a:srgbClr val="15213F"/>
                </a:solidFill>
                <a:latin typeface="Roboto Slab" pitchFamily="34" charset="0"/>
                <a:ea typeface="Roboto Slab" pitchFamily="34" charset="-122"/>
                <a:cs typeface="Roboto Slab" pitchFamily="34" charset="-120"/>
              </a:rPr>
              <a:t>7</a:t>
            </a:r>
            <a:endParaRPr lang="en-US" sz="1650" dirty="0"/>
          </a:p>
        </p:txBody>
      </p:sp>
      <p:sp>
        <p:nvSpPr>
          <p:cNvPr id="29" name="Text 27"/>
          <p:cNvSpPr/>
          <p:nvPr/>
        </p:nvSpPr>
        <p:spPr>
          <a:xfrm>
            <a:off x="913448" y="5957292"/>
            <a:ext cx="3956804" cy="223599"/>
          </a:xfrm>
          <a:prstGeom prst="rect">
            <a:avLst/>
          </a:prstGeom>
          <a:noFill/>
          <a:ln/>
        </p:spPr>
        <p:txBody>
          <a:bodyPr wrap="none" lIns="0" tIns="0" rIns="0" bIns="0" rtlCol="0" anchor="t"/>
          <a:lstStyle/>
          <a:p>
            <a:pPr marL="0" indent="0" algn="l">
              <a:lnSpc>
                <a:spcPts val="1750"/>
              </a:lnSpc>
              <a:buNone/>
            </a:pPr>
            <a:r>
              <a:rPr lang="en-US" sz="1400" dirty="0">
                <a:solidFill>
                  <a:srgbClr val="15213F"/>
                </a:solidFill>
                <a:latin typeface="Roboto Slab" pitchFamily="34" charset="0"/>
                <a:ea typeface="Roboto Slab" pitchFamily="34" charset="-122"/>
                <a:cs typeface="Roboto Slab" pitchFamily="34" charset="-120"/>
              </a:rPr>
              <a:t>DOMAIN DRIFT: NCERT vs STUDENT QUERIES</a:t>
            </a:r>
            <a:endParaRPr lang="en-US" sz="1400" dirty="0"/>
          </a:p>
        </p:txBody>
      </p:sp>
      <p:sp>
        <p:nvSpPr>
          <p:cNvPr id="30" name="Text 28"/>
          <p:cNvSpPr/>
          <p:nvPr/>
        </p:nvSpPr>
        <p:spPr>
          <a:xfrm>
            <a:off x="913448" y="6235065"/>
            <a:ext cx="13215938" cy="186809"/>
          </a:xfrm>
          <a:prstGeom prst="rect">
            <a:avLst/>
          </a:prstGeom>
          <a:noFill/>
          <a:ln/>
        </p:spPr>
        <p:txBody>
          <a:bodyPr wrap="none" lIns="0" tIns="0" rIns="0" bIns="0" rtlCol="0" anchor="t"/>
          <a:lstStyle/>
          <a:p>
            <a:pPr marL="0" indent="0" algn="l">
              <a:lnSpc>
                <a:spcPts val="1450"/>
              </a:lnSpc>
              <a:buNone/>
            </a:pPr>
            <a:r>
              <a:rPr lang="en-US" sz="1100" dirty="0">
                <a:solidFill>
                  <a:srgbClr val="15213F"/>
                </a:solidFill>
                <a:latin typeface="Roboto" pitchFamily="34" charset="0"/>
                <a:ea typeface="Roboto" pitchFamily="34" charset="-122"/>
                <a:cs typeface="Roboto" pitchFamily="34" charset="-120"/>
              </a:rPr>
              <a:t>Model trained on formal text but students type "plz", "bro", "idk" with mixed scripts.</a:t>
            </a:r>
            <a:endParaRPr lang="en-US" sz="1100" dirty="0"/>
          </a:p>
        </p:txBody>
      </p:sp>
      <p:sp>
        <p:nvSpPr>
          <p:cNvPr id="31" name="Shape 29"/>
          <p:cNvSpPr/>
          <p:nvPr/>
        </p:nvSpPr>
        <p:spPr>
          <a:xfrm>
            <a:off x="501015" y="6602611"/>
            <a:ext cx="322064" cy="322064"/>
          </a:xfrm>
          <a:prstGeom prst="roundRect">
            <a:avLst>
              <a:gd name="adj" fmla="val 6668"/>
            </a:avLst>
          </a:prstGeom>
          <a:solidFill>
            <a:srgbClr val="E9ECF2"/>
          </a:solidFill>
          <a:ln/>
        </p:spPr>
      </p:sp>
      <p:sp>
        <p:nvSpPr>
          <p:cNvPr id="32" name="Text 30"/>
          <p:cNvSpPr/>
          <p:nvPr/>
        </p:nvSpPr>
        <p:spPr>
          <a:xfrm>
            <a:off x="554653" y="6629400"/>
            <a:ext cx="214670" cy="268367"/>
          </a:xfrm>
          <a:prstGeom prst="rect">
            <a:avLst/>
          </a:prstGeom>
          <a:noFill/>
          <a:ln/>
        </p:spPr>
        <p:txBody>
          <a:bodyPr wrap="none" lIns="0" tIns="0" rIns="0" bIns="0" rtlCol="0" anchor="t"/>
          <a:lstStyle/>
          <a:p>
            <a:pPr marL="0" indent="0" algn="ctr">
              <a:lnSpc>
                <a:spcPts val="1650"/>
              </a:lnSpc>
              <a:buNone/>
            </a:pPr>
            <a:r>
              <a:rPr lang="en-US" sz="1650" dirty="0">
                <a:solidFill>
                  <a:srgbClr val="15213F"/>
                </a:solidFill>
                <a:latin typeface="Roboto Slab" pitchFamily="34" charset="0"/>
                <a:ea typeface="Roboto Slab" pitchFamily="34" charset="-122"/>
                <a:cs typeface="Roboto Slab" pitchFamily="34" charset="-120"/>
              </a:rPr>
              <a:t>8</a:t>
            </a:r>
            <a:endParaRPr lang="en-US" sz="1650" dirty="0"/>
          </a:p>
        </p:txBody>
      </p:sp>
      <p:sp>
        <p:nvSpPr>
          <p:cNvPr id="33" name="Text 31"/>
          <p:cNvSpPr/>
          <p:nvPr/>
        </p:nvSpPr>
        <p:spPr>
          <a:xfrm>
            <a:off x="913448" y="6651784"/>
            <a:ext cx="3933349" cy="223599"/>
          </a:xfrm>
          <a:prstGeom prst="rect">
            <a:avLst/>
          </a:prstGeom>
          <a:noFill/>
          <a:ln/>
        </p:spPr>
        <p:txBody>
          <a:bodyPr wrap="none" lIns="0" tIns="0" rIns="0" bIns="0" rtlCol="0" anchor="t"/>
          <a:lstStyle/>
          <a:p>
            <a:pPr marL="0" indent="0" algn="l">
              <a:lnSpc>
                <a:spcPts val="1750"/>
              </a:lnSpc>
              <a:buNone/>
            </a:pPr>
            <a:r>
              <a:rPr lang="en-US" sz="1400" dirty="0">
                <a:solidFill>
                  <a:srgbClr val="15213F"/>
                </a:solidFill>
                <a:latin typeface="Roboto Slab" pitchFamily="34" charset="0"/>
                <a:ea typeface="Roboto Slab" pitchFamily="34" charset="-122"/>
                <a:cs typeface="Roboto Slab" pitchFamily="34" charset="-120"/>
              </a:rPr>
              <a:t>GROUND TRUTH ANNOTATION IS EXPENSIVE</a:t>
            </a:r>
            <a:endParaRPr lang="en-US" sz="1400" dirty="0"/>
          </a:p>
        </p:txBody>
      </p:sp>
      <p:sp>
        <p:nvSpPr>
          <p:cNvPr id="34" name="Text 32"/>
          <p:cNvSpPr/>
          <p:nvPr/>
        </p:nvSpPr>
        <p:spPr>
          <a:xfrm>
            <a:off x="913448" y="6929557"/>
            <a:ext cx="13215938" cy="186809"/>
          </a:xfrm>
          <a:prstGeom prst="rect">
            <a:avLst/>
          </a:prstGeom>
          <a:noFill/>
          <a:ln/>
        </p:spPr>
        <p:txBody>
          <a:bodyPr wrap="none" lIns="0" tIns="0" rIns="0" bIns="0" rtlCol="0" anchor="t"/>
          <a:lstStyle/>
          <a:p>
            <a:pPr marL="0" indent="0" algn="l">
              <a:lnSpc>
                <a:spcPts val="1450"/>
              </a:lnSpc>
              <a:buNone/>
            </a:pPr>
            <a:r>
              <a:rPr lang="en-US" sz="1100" dirty="0">
                <a:solidFill>
                  <a:srgbClr val="15213F"/>
                </a:solidFill>
                <a:latin typeface="Roboto" pitchFamily="34" charset="0"/>
                <a:ea typeface="Roboto" pitchFamily="34" charset="-122"/>
                <a:cs typeface="Roboto" pitchFamily="34" charset="-120"/>
              </a:rPr>
              <a:t>Human word-level labeling is slow, subjective, and annotators disagree on edge cases.</a:t>
            </a:r>
            <a:endParaRPr lang="en-US" sz="1100" dirty="0"/>
          </a:p>
        </p:txBody>
      </p:sp>
      <p:pic>
        <p:nvPicPr>
          <p:cNvPr id="36" name="Picture 35">
            <a:extLst>
              <a:ext uri="{FF2B5EF4-FFF2-40B4-BE49-F238E27FC236}">
                <a16:creationId xmlns:a16="http://schemas.microsoft.com/office/drawing/2014/main" id="{A255D27D-7B8C-4772-A035-7A2E63372520}"/>
              </a:ext>
            </a:extLst>
          </p:cNvPr>
          <p:cNvPicPr>
            <a:picLocks noChangeAspect="1"/>
          </p:cNvPicPr>
          <p:nvPr/>
        </p:nvPicPr>
        <p:blipFill>
          <a:blip r:embed="rId3"/>
          <a:stretch>
            <a:fillRect/>
          </a:stretch>
        </p:blipFill>
        <p:spPr>
          <a:xfrm>
            <a:off x="12839450" y="7715178"/>
            <a:ext cx="1790950" cy="51442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801886"/>
            <a:ext cx="8341519" cy="566976"/>
          </a:xfrm>
          <a:prstGeom prst="rect">
            <a:avLst/>
          </a:prstGeom>
          <a:noFill/>
          <a:ln/>
        </p:spPr>
        <p:txBody>
          <a:bodyPr wrap="none" lIns="0" tIns="0" rIns="0" bIns="0" rtlCol="0" anchor="t"/>
          <a:lstStyle/>
          <a:p>
            <a:pPr marL="0" indent="0" algn="l">
              <a:lnSpc>
                <a:spcPts val="4450"/>
              </a:lnSpc>
              <a:buNone/>
            </a:pPr>
            <a:r>
              <a:rPr lang="en-US" sz="3550" dirty="0">
                <a:solidFill>
                  <a:srgbClr val="3257B8"/>
                </a:solidFill>
                <a:latin typeface="Roboto Slab" pitchFamily="34" charset="0"/>
                <a:ea typeface="Roboto Slab" pitchFamily="34" charset="-122"/>
                <a:cs typeface="Roboto Slab" pitchFamily="34" charset="-120"/>
              </a:rPr>
              <a:t>Script Detection &amp; Normalization Demo</a:t>
            </a:r>
            <a:endParaRPr lang="en-US" sz="3550" dirty="0"/>
          </a:p>
        </p:txBody>
      </p:sp>
      <p:sp>
        <p:nvSpPr>
          <p:cNvPr id="3" name="Shape 1"/>
          <p:cNvSpPr/>
          <p:nvPr/>
        </p:nvSpPr>
        <p:spPr>
          <a:xfrm>
            <a:off x="663178" y="1586508"/>
            <a:ext cx="6561296" cy="5124450"/>
          </a:xfrm>
          <a:prstGeom prst="roundRect">
            <a:avLst>
              <a:gd name="adj" fmla="val 531"/>
            </a:avLst>
          </a:prstGeom>
          <a:solidFill>
            <a:srgbClr val="3257B8"/>
          </a:solidFill>
          <a:ln/>
        </p:spPr>
      </p:sp>
      <p:sp>
        <p:nvSpPr>
          <p:cNvPr id="4" name="Text 2"/>
          <p:cNvSpPr/>
          <p:nvPr/>
        </p:nvSpPr>
        <p:spPr>
          <a:xfrm>
            <a:off x="844629" y="1731645"/>
            <a:ext cx="2544247" cy="283488"/>
          </a:xfrm>
          <a:prstGeom prst="rect">
            <a:avLst/>
          </a:prstGeom>
          <a:noFill/>
          <a:ln/>
        </p:spPr>
        <p:txBody>
          <a:bodyPr wrap="none" lIns="0" tIns="0" rIns="0" bIns="0" rtlCol="0" anchor="t"/>
          <a:lstStyle/>
          <a:p>
            <a:pPr marL="0" indent="0" algn="l">
              <a:lnSpc>
                <a:spcPts val="2200"/>
              </a:lnSpc>
              <a:buNone/>
            </a:pPr>
            <a:r>
              <a:rPr lang="en-US" sz="1750" dirty="0">
                <a:solidFill>
                  <a:srgbClr val="FFFFFF"/>
                </a:solidFill>
                <a:latin typeface="Roboto Slab" pitchFamily="34" charset="0"/>
                <a:ea typeface="Roboto Slab" pitchFamily="34" charset="-122"/>
                <a:cs typeface="Roboto Slab" pitchFamily="34" charset="-120"/>
              </a:rPr>
              <a:t>Script Detection Results</a:t>
            </a:r>
            <a:endParaRPr lang="en-US" sz="1750" dirty="0"/>
          </a:p>
        </p:txBody>
      </p:sp>
      <p:sp>
        <p:nvSpPr>
          <p:cNvPr id="5" name="Shape 3"/>
          <p:cNvSpPr/>
          <p:nvPr/>
        </p:nvSpPr>
        <p:spPr>
          <a:xfrm>
            <a:off x="844629" y="2178368"/>
            <a:ext cx="6198394" cy="1359694"/>
          </a:xfrm>
          <a:prstGeom prst="roundRect">
            <a:avLst>
              <a:gd name="adj" fmla="val 8070"/>
            </a:avLst>
          </a:prstGeom>
          <a:solidFill>
            <a:srgbClr val="3257B8"/>
          </a:solidFill>
          <a:ln w="22860">
            <a:solidFill>
              <a:srgbClr val="CFD2D8"/>
            </a:solidFill>
            <a:prstDash val="solid"/>
          </a:ln>
        </p:spPr>
      </p:sp>
      <p:pic>
        <p:nvPicPr>
          <p:cNvPr id="6" name="Image 0" descr="preencoded.png"/>
          <p:cNvPicPr>
            <a:picLocks noChangeAspect="1"/>
          </p:cNvPicPr>
          <p:nvPr/>
        </p:nvPicPr>
        <p:blipFill>
          <a:blip r:embed="rId3"/>
          <a:stretch>
            <a:fillRect/>
          </a:stretch>
        </p:blipFill>
        <p:spPr>
          <a:xfrm>
            <a:off x="821769" y="2178368"/>
            <a:ext cx="91440" cy="1359694"/>
          </a:xfrm>
          <a:prstGeom prst="rect">
            <a:avLst/>
          </a:prstGeom>
        </p:spPr>
      </p:pic>
      <p:sp>
        <p:nvSpPr>
          <p:cNvPr id="7" name="Text 4"/>
          <p:cNvSpPr/>
          <p:nvPr/>
        </p:nvSpPr>
        <p:spPr>
          <a:xfrm>
            <a:off x="1117521" y="2382679"/>
            <a:ext cx="2268260" cy="283488"/>
          </a:xfrm>
          <a:prstGeom prst="rect">
            <a:avLst/>
          </a:prstGeom>
          <a:noFill/>
          <a:ln/>
        </p:spPr>
        <p:txBody>
          <a:bodyPr wrap="none" lIns="0" tIns="0" rIns="0" bIns="0" rtlCol="0" anchor="t"/>
          <a:lstStyle/>
          <a:p>
            <a:pPr marL="0" indent="0" algn="l">
              <a:lnSpc>
                <a:spcPts val="2200"/>
              </a:lnSpc>
              <a:buNone/>
            </a:pPr>
            <a:r>
              <a:rPr lang="en-US" sz="1750" dirty="0">
                <a:solidFill>
                  <a:srgbClr val="FFFFFF"/>
                </a:solidFill>
                <a:latin typeface="Roboto Slab" pitchFamily="34" charset="0"/>
                <a:ea typeface="Roboto Slab" pitchFamily="34" charset="-122"/>
                <a:cs typeface="Roboto Slab" pitchFamily="34" charset="-120"/>
              </a:rPr>
              <a:t>Input 1 (Roman)</a:t>
            </a:r>
            <a:endParaRPr lang="en-US" sz="1750" dirty="0"/>
          </a:p>
        </p:txBody>
      </p:sp>
      <p:sp>
        <p:nvSpPr>
          <p:cNvPr id="8" name="Text 5"/>
          <p:cNvSpPr/>
          <p:nvPr/>
        </p:nvSpPr>
        <p:spPr>
          <a:xfrm>
            <a:off x="1117521" y="2811304"/>
            <a:ext cx="5721191" cy="522446"/>
          </a:xfrm>
          <a:prstGeom prst="rect">
            <a:avLst/>
          </a:prstGeom>
          <a:noFill/>
          <a:ln/>
        </p:spPr>
        <p:txBody>
          <a:bodyPr wrap="square" lIns="0" tIns="0" rIns="0" bIns="0" rtlCol="0" anchor="t"/>
          <a:lstStyle/>
          <a:p>
            <a:pPr marL="0" indent="0" algn="l">
              <a:lnSpc>
                <a:spcPts val="2050"/>
              </a:lnSpc>
              <a:buNone/>
            </a:pPr>
            <a:r>
              <a:rPr lang="en-US" sz="1400" dirty="0">
                <a:solidFill>
                  <a:srgbClr val="FFFFFF"/>
                </a:solidFill>
                <a:latin typeface="Roboto" pitchFamily="34" charset="0"/>
                <a:ea typeface="Roboto" pitchFamily="34" charset="-122"/>
                <a:cs typeface="Roboto" pitchFamily="34" charset="-120"/>
              </a:rPr>
              <a:t>"Sabhi living organisms cells se bane hote hain"</a:t>
            </a:r>
            <a:endParaRPr lang="en-US" sz="1400" dirty="0"/>
          </a:p>
          <a:p>
            <a:pPr marL="0" indent="0" algn="l">
              <a:lnSpc>
                <a:spcPts val="2050"/>
              </a:lnSpc>
              <a:buNone/>
            </a:pPr>
            <a:r>
              <a:rPr lang="en-US" sz="1400" dirty="0">
                <a:solidFill>
                  <a:srgbClr val="FFFFFF"/>
                </a:solidFill>
                <a:latin typeface="Roboto" pitchFamily="34" charset="0"/>
                <a:ea typeface="Roboto" pitchFamily="34" charset="-122"/>
                <a:cs typeface="Roboto" pitchFamily="34" charset="-120"/>
              </a:rPr>
              <a:t>→ </a:t>
            </a:r>
            <a:r>
              <a:rPr lang="en-US" sz="1400" b="1" dirty="0">
                <a:solidFill>
                  <a:srgbClr val="FFFFFF"/>
                </a:solidFill>
                <a:latin typeface="Roboto" pitchFamily="34" charset="0"/>
                <a:ea typeface="Roboto" pitchFamily="34" charset="-122"/>
                <a:cs typeface="Roboto" pitchFamily="34" charset="-120"/>
              </a:rPr>
              <a:t>ROMAN (100% Latin) </a:t>
            </a:r>
            <a:r>
              <a:rPr lang="en-US" sz="1400" dirty="0">
                <a:solidFill>
                  <a:srgbClr val="000000"/>
                </a:solidFill>
                <a:latin typeface="Roboto" pitchFamily="34" charset="0"/>
                <a:ea typeface="Roboto" pitchFamily="34" charset="-122"/>
                <a:cs typeface="Roboto" pitchFamily="34" charset="-120"/>
              </a:rPr>
              <a:t>✅</a:t>
            </a:r>
            <a:endParaRPr lang="en-US" sz="1400" dirty="0"/>
          </a:p>
        </p:txBody>
      </p:sp>
      <p:sp>
        <p:nvSpPr>
          <p:cNvPr id="9" name="Shape 6"/>
          <p:cNvSpPr/>
          <p:nvPr/>
        </p:nvSpPr>
        <p:spPr>
          <a:xfrm>
            <a:off x="844629" y="3683198"/>
            <a:ext cx="6198394" cy="1359694"/>
          </a:xfrm>
          <a:prstGeom prst="roundRect">
            <a:avLst>
              <a:gd name="adj" fmla="val 8070"/>
            </a:avLst>
          </a:prstGeom>
          <a:solidFill>
            <a:srgbClr val="3257B8"/>
          </a:solidFill>
          <a:ln w="22860">
            <a:solidFill>
              <a:srgbClr val="CFD2D8"/>
            </a:solidFill>
            <a:prstDash val="solid"/>
          </a:ln>
        </p:spPr>
      </p:sp>
      <p:pic>
        <p:nvPicPr>
          <p:cNvPr id="10" name="Image 1" descr="preencoded.png"/>
          <p:cNvPicPr>
            <a:picLocks noChangeAspect="1"/>
          </p:cNvPicPr>
          <p:nvPr/>
        </p:nvPicPr>
        <p:blipFill>
          <a:blip r:embed="rId3"/>
          <a:stretch>
            <a:fillRect/>
          </a:stretch>
        </p:blipFill>
        <p:spPr>
          <a:xfrm>
            <a:off x="821769" y="3683198"/>
            <a:ext cx="91440" cy="1359694"/>
          </a:xfrm>
          <a:prstGeom prst="rect">
            <a:avLst/>
          </a:prstGeom>
        </p:spPr>
      </p:pic>
      <p:sp>
        <p:nvSpPr>
          <p:cNvPr id="11" name="Text 7"/>
          <p:cNvSpPr/>
          <p:nvPr/>
        </p:nvSpPr>
        <p:spPr>
          <a:xfrm>
            <a:off x="1117521" y="3887510"/>
            <a:ext cx="2268260" cy="283488"/>
          </a:xfrm>
          <a:prstGeom prst="rect">
            <a:avLst/>
          </a:prstGeom>
          <a:noFill/>
          <a:ln/>
        </p:spPr>
        <p:txBody>
          <a:bodyPr wrap="none" lIns="0" tIns="0" rIns="0" bIns="0" rtlCol="0" anchor="t"/>
          <a:lstStyle/>
          <a:p>
            <a:pPr marL="0" indent="0" algn="l">
              <a:lnSpc>
                <a:spcPts val="2200"/>
              </a:lnSpc>
              <a:buNone/>
            </a:pPr>
            <a:r>
              <a:rPr lang="en-US" sz="1750" dirty="0">
                <a:solidFill>
                  <a:srgbClr val="FFFFFF"/>
                </a:solidFill>
                <a:latin typeface="Roboto Slab" pitchFamily="34" charset="0"/>
                <a:ea typeface="Roboto Slab" pitchFamily="34" charset="-122"/>
                <a:cs typeface="Roboto Slab" pitchFamily="34" charset="-120"/>
              </a:rPr>
              <a:t>Input 2 (Mixed)</a:t>
            </a:r>
            <a:endParaRPr lang="en-US" sz="1750" dirty="0"/>
          </a:p>
        </p:txBody>
      </p:sp>
      <p:sp>
        <p:nvSpPr>
          <p:cNvPr id="12" name="Text 8"/>
          <p:cNvSpPr/>
          <p:nvPr/>
        </p:nvSpPr>
        <p:spPr>
          <a:xfrm>
            <a:off x="1117521" y="4316135"/>
            <a:ext cx="5721191" cy="522446"/>
          </a:xfrm>
          <a:prstGeom prst="rect">
            <a:avLst/>
          </a:prstGeom>
          <a:noFill/>
          <a:ln/>
        </p:spPr>
        <p:txBody>
          <a:bodyPr wrap="square" lIns="0" tIns="0" rIns="0" bIns="0" rtlCol="0" anchor="t"/>
          <a:lstStyle/>
          <a:p>
            <a:pPr marL="0" indent="0" algn="l">
              <a:lnSpc>
                <a:spcPts val="2050"/>
              </a:lnSpc>
              <a:buNone/>
            </a:pPr>
            <a:r>
              <a:rPr lang="en-US" sz="1400" dirty="0">
                <a:solidFill>
                  <a:srgbClr val="FFFFFF"/>
                </a:solidFill>
                <a:latin typeface="Roboto" pitchFamily="34" charset="0"/>
                <a:ea typeface="Roboto" pitchFamily="34" charset="-122"/>
                <a:cs typeface="Roboto" pitchFamily="34" charset="-120"/>
              </a:rPr>
              <a:t>"सभी living organisms cells से बने होते हैं"</a:t>
            </a:r>
            <a:endParaRPr lang="en-US" sz="1400" dirty="0"/>
          </a:p>
          <a:p>
            <a:pPr marL="0" indent="0" algn="l">
              <a:lnSpc>
                <a:spcPts val="2050"/>
              </a:lnSpc>
              <a:buNone/>
            </a:pPr>
            <a:r>
              <a:rPr lang="en-US" sz="1400" dirty="0">
                <a:solidFill>
                  <a:srgbClr val="FFFFFF"/>
                </a:solidFill>
                <a:latin typeface="Roboto" pitchFamily="34" charset="0"/>
                <a:ea typeface="Roboto" pitchFamily="34" charset="-122"/>
                <a:cs typeface="Roboto" pitchFamily="34" charset="-120"/>
              </a:rPr>
              <a:t>→ </a:t>
            </a:r>
            <a:r>
              <a:rPr lang="en-US" sz="1400" b="1" dirty="0">
                <a:solidFill>
                  <a:srgbClr val="FFFFFF"/>
                </a:solidFill>
                <a:latin typeface="Roboto" pitchFamily="34" charset="0"/>
                <a:ea typeface="Roboto" pitchFamily="34" charset="-122"/>
                <a:cs typeface="Roboto" pitchFamily="34" charset="-120"/>
              </a:rPr>
              <a:t>MIXED (Roman: 37.5% | Devanagari: 62.5%) </a:t>
            </a:r>
            <a:r>
              <a:rPr lang="en-US" sz="1400" dirty="0">
                <a:solidFill>
                  <a:srgbClr val="000000"/>
                </a:solidFill>
                <a:latin typeface="Roboto" pitchFamily="34" charset="0"/>
                <a:ea typeface="Roboto" pitchFamily="34" charset="-122"/>
                <a:cs typeface="Roboto" pitchFamily="34" charset="-120"/>
              </a:rPr>
              <a:t>✅</a:t>
            </a:r>
            <a:endParaRPr lang="en-US" sz="1400" dirty="0"/>
          </a:p>
        </p:txBody>
      </p:sp>
      <p:sp>
        <p:nvSpPr>
          <p:cNvPr id="13" name="Shape 9"/>
          <p:cNvSpPr/>
          <p:nvPr/>
        </p:nvSpPr>
        <p:spPr>
          <a:xfrm>
            <a:off x="844629" y="5188029"/>
            <a:ext cx="6198394" cy="1359694"/>
          </a:xfrm>
          <a:prstGeom prst="roundRect">
            <a:avLst>
              <a:gd name="adj" fmla="val 8070"/>
            </a:avLst>
          </a:prstGeom>
          <a:solidFill>
            <a:srgbClr val="3257B8"/>
          </a:solidFill>
          <a:ln w="22860">
            <a:solidFill>
              <a:srgbClr val="CFD2D8"/>
            </a:solidFill>
            <a:prstDash val="solid"/>
          </a:ln>
        </p:spPr>
      </p:sp>
      <p:pic>
        <p:nvPicPr>
          <p:cNvPr id="14" name="Image 2" descr="preencoded.png"/>
          <p:cNvPicPr>
            <a:picLocks noChangeAspect="1"/>
          </p:cNvPicPr>
          <p:nvPr/>
        </p:nvPicPr>
        <p:blipFill>
          <a:blip r:embed="rId3"/>
          <a:stretch>
            <a:fillRect/>
          </a:stretch>
        </p:blipFill>
        <p:spPr>
          <a:xfrm>
            <a:off x="821769" y="5188029"/>
            <a:ext cx="91440" cy="1359694"/>
          </a:xfrm>
          <a:prstGeom prst="rect">
            <a:avLst/>
          </a:prstGeom>
        </p:spPr>
      </p:pic>
      <p:sp>
        <p:nvSpPr>
          <p:cNvPr id="15" name="Text 10"/>
          <p:cNvSpPr/>
          <p:nvPr/>
        </p:nvSpPr>
        <p:spPr>
          <a:xfrm>
            <a:off x="1117521" y="5392341"/>
            <a:ext cx="2268260" cy="283488"/>
          </a:xfrm>
          <a:prstGeom prst="rect">
            <a:avLst/>
          </a:prstGeom>
          <a:noFill/>
          <a:ln/>
        </p:spPr>
        <p:txBody>
          <a:bodyPr wrap="none" lIns="0" tIns="0" rIns="0" bIns="0" rtlCol="0" anchor="t"/>
          <a:lstStyle/>
          <a:p>
            <a:pPr marL="0" indent="0" algn="l">
              <a:lnSpc>
                <a:spcPts val="2200"/>
              </a:lnSpc>
              <a:buNone/>
            </a:pPr>
            <a:r>
              <a:rPr lang="en-US" sz="1750" dirty="0">
                <a:solidFill>
                  <a:srgbClr val="FFFFFF"/>
                </a:solidFill>
                <a:latin typeface="Roboto Slab" pitchFamily="34" charset="0"/>
                <a:ea typeface="Roboto Slab" pitchFamily="34" charset="-122"/>
                <a:cs typeface="Roboto Slab" pitchFamily="34" charset="-120"/>
              </a:rPr>
              <a:t>Input 3 (English)</a:t>
            </a:r>
            <a:endParaRPr lang="en-US" sz="1750" dirty="0"/>
          </a:p>
        </p:txBody>
      </p:sp>
      <p:sp>
        <p:nvSpPr>
          <p:cNvPr id="16" name="Text 11"/>
          <p:cNvSpPr/>
          <p:nvPr/>
        </p:nvSpPr>
        <p:spPr>
          <a:xfrm>
            <a:off x="1117521" y="5820966"/>
            <a:ext cx="5721191" cy="522446"/>
          </a:xfrm>
          <a:prstGeom prst="rect">
            <a:avLst/>
          </a:prstGeom>
          <a:noFill/>
          <a:ln/>
        </p:spPr>
        <p:txBody>
          <a:bodyPr wrap="square" lIns="0" tIns="0" rIns="0" bIns="0" rtlCol="0" anchor="t"/>
          <a:lstStyle/>
          <a:p>
            <a:pPr marL="0" indent="0" algn="l">
              <a:lnSpc>
                <a:spcPts val="2050"/>
              </a:lnSpc>
              <a:buNone/>
            </a:pPr>
            <a:r>
              <a:rPr lang="en-US" sz="1400" dirty="0">
                <a:solidFill>
                  <a:srgbClr val="FFFFFF"/>
                </a:solidFill>
                <a:latin typeface="Roboto" pitchFamily="34" charset="0"/>
                <a:ea typeface="Roboto" pitchFamily="34" charset="-122"/>
                <a:cs typeface="Roboto" pitchFamily="34" charset="-120"/>
              </a:rPr>
              <a:t>"All living organisms are made up of cells"</a:t>
            </a:r>
            <a:endParaRPr lang="en-US" sz="1400" dirty="0"/>
          </a:p>
          <a:p>
            <a:pPr marL="0" indent="0" algn="l">
              <a:lnSpc>
                <a:spcPts val="2050"/>
              </a:lnSpc>
              <a:buNone/>
            </a:pPr>
            <a:r>
              <a:rPr lang="en-US" sz="1400" dirty="0">
                <a:solidFill>
                  <a:srgbClr val="FFFFFF"/>
                </a:solidFill>
                <a:latin typeface="Roboto" pitchFamily="34" charset="0"/>
                <a:ea typeface="Roboto" pitchFamily="34" charset="-122"/>
                <a:cs typeface="Roboto" pitchFamily="34" charset="-120"/>
              </a:rPr>
              <a:t>→ </a:t>
            </a:r>
            <a:r>
              <a:rPr lang="en-US" sz="1400" b="1" dirty="0">
                <a:solidFill>
                  <a:srgbClr val="FFFFFF"/>
                </a:solidFill>
                <a:latin typeface="Roboto" pitchFamily="34" charset="0"/>
                <a:ea typeface="Roboto" pitchFamily="34" charset="-122"/>
                <a:cs typeface="Roboto" pitchFamily="34" charset="-120"/>
              </a:rPr>
              <a:t>ROMAN (100% Latin) </a:t>
            </a:r>
            <a:r>
              <a:rPr lang="en-US" sz="1400" dirty="0">
                <a:solidFill>
                  <a:srgbClr val="000000"/>
                </a:solidFill>
                <a:latin typeface="Roboto" pitchFamily="34" charset="0"/>
                <a:ea typeface="Roboto" pitchFamily="34" charset="-122"/>
                <a:cs typeface="Roboto" pitchFamily="34" charset="-120"/>
              </a:rPr>
              <a:t>✅</a:t>
            </a:r>
            <a:endParaRPr lang="en-US" sz="1400" dirty="0"/>
          </a:p>
        </p:txBody>
      </p:sp>
      <p:sp>
        <p:nvSpPr>
          <p:cNvPr id="17" name="Text 12"/>
          <p:cNvSpPr/>
          <p:nvPr/>
        </p:nvSpPr>
        <p:spPr>
          <a:xfrm>
            <a:off x="7544157" y="1731645"/>
            <a:ext cx="2393990" cy="283488"/>
          </a:xfrm>
          <a:prstGeom prst="rect">
            <a:avLst/>
          </a:prstGeom>
          <a:noFill/>
          <a:ln/>
        </p:spPr>
        <p:txBody>
          <a:bodyPr wrap="none" lIns="0" tIns="0" rIns="0" bIns="0" rtlCol="0" anchor="t"/>
          <a:lstStyle/>
          <a:p>
            <a:pPr marL="0" indent="0" algn="l">
              <a:lnSpc>
                <a:spcPts val="2200"/>
              </a:lnSpc>
              <a:buNone/>
            </a:pPr>
            <a:r>
              <a:rPr lang="en-US" sz="1750" dirty="0">
                <a:solidFill>
                  <a:srgbClr val="3257B8"/>
                </a:solidFill>
                <a:latin typeface="Roboto Slab" pitchFamily="34" charset="0"/>
                <a:ea typeface="Roboto Slab" pitchFamily="34" charset="-122"/>
                <a:cs typeface="Roboto Slab" pitchFamily="34" charset="-120"/>
              </a:rPr>
              <a:t>Normalization Results</a:t>
            </a:r>
            <a:endParaRPr lang="en-US" sz="1750" dirty="0"/>
          </a:p>
        </p:txBody>
      </p:sp>
      <p:sp>
        <p:nvSpPr>
          <p:cNvPr id="18" name="Text 13"/>
          <p:cNvSpPr/>
          <p:nvPr/>
        </p:nvSpPr>
        <p:spPr>
          <a:xfrm>
            <a:off x="7816334" y="2178368"/>
            <a:ext cx="6027896" cy="261223"/>
          </a:xfrm>
          <a:prstGeom prst="rect">
            <a:avLst/>
          </a:prstGeom>
          <a:noFill/>
          <a:ln/>
        </p:spPr>
        <p:txBody>
          <a:bodyPr wrap="none" lIns="0" tIns="0" rIns="0" bIns="0" rtlCol="0" anchor="t"/>
          <a:lstStyle/>
          <a:p>
            <a:pPr marL="0" indent="0" algn="l">
              <a:lnSpc>
                <a:spcPts val="2050"/>
              </a:lnSpc>
              <a:buNone/>
            </a:pPr>
            <a:r>
              <a:rPr lang="en-US" sz="1400" dirty="0">
                <a:solidFill>
                  <a:srgbClr val="15213F"/>
                </a:solidFill>
                <a:latin typeface="Roboto" pitchFamily="34" charset="0"/>
                <a:ea typeface="Roboto" pitchFamily="34" charset="-122"/>
                <a:cs typeface="Roboto" pitchFamily="34" charset="-120"/>
              </a:rPr>
              <a:t>"Sir osmosis kia hota h? plz smjhao"</a:t>
            </a:r>
            <a:endParaRPr lang="en-US" sz="1400" dirty="0"/>
          </a:p>
        </p:txBody>
      </p:sp>
      <p:sp>
        <p:nvSpPr>
          <p:cNvPr id="19" name="Shape 14"/>
          <p:cNvSpPr/>
          <p:nvPr/>
        </p:nvSpPr>
        <p:spPr>
          <a:xfrm>
            <a:off x="7544157" y="2178368"/>
            <a:ext cx="22860" cy="261223"/>
          </a:xfrm>
          <a:prstGeom prst="rect">
            <a:avLst/>
          </a:prstGeom>
          <a:solidFill>
            <a:srgbClr val="3257B8"/>
          </a:solidFill>
          <a:ln/>
        </p:spPr>
      </p:sp>
      <p:sp>
        <p:nvSpPr>
          <p:cNvPr id="20" name="Text 15"/>
          <p:cNvSpPr/>
          <p:nvPr/>
        </p:nvSpPr>
        <p:spPr>
          <a:xfrm>
            <a:off x="7544157" y="2602825"/>
            <a:ext cx="6300073" cy="261223"/>
          </a:xfrm>
          <a:prstGeom prst="rect">
            <a:avLst/>
          </a:prstGeom>
          <a:noFill/>
          <a:ln/>
        </p:spPr>
        <p:txBody>
          <a:bodyPr wrap="none" lIns="0" tIns="0" rIns="0" bIns="0" rtlCol="0" anchor="t"/>
          <a:lstStyle/>
          <a:p>
            <a:pPr marL="0" indent="0" algn="l">
              <a:lnSpc>
                <a:spcPts val="2050"/>
              </a:lnSpc>
              <a:buNone/>
            </a:pPr>
            <a:r>
              <a:rPr lang="en-US" sz="1400" dirty="0">
                <a:solidFill>
                  <a:srgbClr val="15213F"/>
                </a:solidFill>
                <a:latin typeface="Roboto" pitchFamily="34" charset="0"/>
                <a:ea typeface="Roboto" pitchFamily="34" charset="-122"/>
                <a:cs typeface="Roboto" pitchFamily="34" charset="-120"/>
              </a:rPr>
              <a:t>↓ </a:t>
            </a:r>
            <a:r>
              <a:rPr lang="en-US" sz="1400" b="1" dirty="0">
                <a:solidFill>
                  <a:srgbClr val="15213F"/>
                </a:solidFill>
                <a:latin typeface="Roboto" pitchFamily="34" charset="0"/>
                <a:ea typeface="Roboto" pitchFamily="34" charset="-122"/>
                <a:cs typeface="Roboto" pitchFamily="34" charset="-120"/>
              </a:rPr>
              <a:t>4 corrections applied</a:t>
            </a:r>
            <a:endParaRPr lang="en-US" sz="1400" dirty="0"/>
          </a:p>
        </p:txBody>
      </p:sp>
      <p:sp>
        <p:nvSpPr>
          <p:cNvPr id="21" name="Text 16"/>
          <p:cNvSpPr/>
          <p:nvPr/>
        </p:nvSpPr>
        <p:spPr>
          <a:xfrm>
            <a:off x="7816334" y="3027283"/>
            <a:ext cx="6027896" cy="261223"/>
          </a:xfrm>
          <a:prstGeom prst="rect">
            <a:avLst/>
          </a:prstGeom>
          <a:noFill/>
          <a:ln/>
        </p:spPr>
        <p:txBody>
          <a:bodyPr wrap="none" lIns="0" tIns="0" rIns="0" bIns="0" rtlCol="0" anchor="t"/>
          <a:lstStyle/>
          <a:p>
            <a:pPr marL="0" indent="0" algn="l">
              <a:lnSpc>
                <a:spcPts val="2050"/>
              </a:lnSpc>
              <a:buNone/>
            </a:pPr>
            <a:r>
              <a:rPr lang="en-US" sz="1400" dirty="0">
                <a:solidFill>
                  <a:srgbClr val="15213F"/>
                </a:solidFill>
                <a:latin typeface="Roboto" pitchFamily="34" charset="0"/>
                <a:ea typeface="Roboto" pitchFamily="34" charset="-122"/>
                <a:cs typeface="Roboto" pitchFamily="34" charset="-120"/>
              </a:rPr>
              <a:t>"Sir osmosis kya hota hai? please samjhao"</a:t>
            </a:r>
            <a:endParaRPr lang="en-US" sz="1400" dirty="0"/>
          </a:p>
        </p:txBody>
      </p:sp>
      <p:sp>
        <p:nvSpPr>
          <p:cNvPr id="22" name="Shape 17"/>
          <p:cNvSpPr/>
          <p:nvPr/>
        </p:nvSpPr>
        <p:spPr>
          <a:xfrm>
            <a:off x="7544157" y="3027283"/>
            <a:ext cx="22860" cy="261223"/>
          </a:xfrm>
          <a:prstGeom prst="rect">
            <a:avLst/>
          </a:prstGeom>
          <a:solidFill>
            <a:srgbClr val="3257B8"/>
          </a:solidFill>
          <a:ln/>
        </p:spPr>
      </p:sp>
      <p:pic>
        <p:nvPicPr>
          <p:cNvPr id="23"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1774" y="6883182"/>
            <a:ext cx="272177" cy="272177"/>
          </a:xfrm>
          <a:prstGeom prst="rect">
            <a:avLst/>
          </a:prstGeom>
        </p:spPr>
      </p:pic>
      <p:sp>
        <p:nvSpPr>
          <p:cNvPr id="24" name="Text 18"/>
          <p:cNvSpPr/>
          <p:nvPr/>
        </p:nvSpPr>
        <p:spPr>
          <a:xfrm>
            <a:off x="1383506" y="6874193"/>
            <a:ext cx="2534841" cy="268843"/>
          </a:xfrm>
          <a:prstGeom prst="rect">
            <a:avLst/>
          </a:prstGeom>
          <a:noFill/>
          <a:ln/>
        </p:spPr>
        <p:txBody>
          <a:bodyPr wrap="none" lIns="0" tIns="0" rIns="0" bIns="0" rtlCol="0" anchor="t"/>
          <a:lstStyle/>
          <a:p>
            <a:pPr marL="0" indent="0" algn="l">
              <a:lnSpc>
                <a:spcPts val="2050"/>
              </a:lnSpc>
              <a:buNone/>
            </a:pPr>
            <a:r>
              <a:rPr lang="en-US" sz="1400" dirty="0">
                <a:solidFill>
                  <a:srgbClr val="15213F"/>
                </a:solidFill>
                <a:highlight>
                  <a:srgbClr val="EEEFF1"/>
                </a:highlight>
                <a:latin typeface="Consolas" pitchFamily="34" charset="0"/>
                <a:ea typeface="Consolas" pitchFamily="34" charset="-122"/>
                <a:cs typeface="Consolas" pitchFamily="34" charset="-120"/>
              </a:rPr>
              <a:t>kia → kya</a:t>
            </a:r>
            <a:r>
              <a:rPr lang="en-US" sz="1400" dirty="0">
                <a:solidFill>
                  <a:srgbClr val="15213F"/>
                </a:solidFill>
                <a:latin typeface="Roboto" pitchFamily="34" charset="0"/>
                <a:ea typeface="Roboto" pitchFamily="34" charset="-122"/>
                <a:cs typeface="Roboto" pitchFamily="34" charset="-120"/>
              </a:rPr>
              <a:t> (spelling variant)</a:t>
            </a:r>
            <a:endParaRPr lang="en-US" sz="1400" dirty="0"/>
          </a:p>
        </p:txBody>
      </p:sp>
      <p:pic>
        <p:nvPicPr>
          <p:cNvPr id="25"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167783" y="6883182"/>
            <a:ext cx="272177" cy="272177"/>
          </a:xfrm>
          <a:prstGeom prst="rect">
            <a:avLst/>
          </a:prstGeom>
        </p:spPr>
      </p:pic>
      <p:sp>
        <p:nvSpPr>
          <p:cNvPr id="26" name="Text 19"/>
          <p:cNvSpPr/>
          <p:nvPr/>
        </p:nvSpPr>
        <p:spPr>
          <a:xfrm>
            <a:off x="4689515" y="6874193"/>
            <a:ext cx="2534960" cy="268843"/>
          </a:xfrm>
          <a:prstGeom prst="rect">
            <a:avLst/>
          </a:prstGeom>
          <a:noFill/>
          <a:ln/>
        </p:spPr>
        <p:txBody>
          <a:bodyPr wrap="none" lIns="0" tIns="0" rIns="0" bIns="0" rtlCol="0" anchor="t"/>
          <a:lstStyle/>
          <a:p>
            <a:pPr marL="0" indent="0" algn="l">
              <a:lnSpc>
                <a:spcPts val="2050"/>
              </a:lnSpc>
              <a:buNone/>
            </a:pPr>
            <a:r>
              <a:rPr lang="en-US" sz="1400" dirty="0">
                <a:solidFill>
                  <a:srgbClr val="15213F"/>
                </a:solidFill>
                <a:highlight>
                  <a:srgbClr val="EEEFF1"/>
                </a:highlight>
                <a:latin typeface="Consolas" pitchFamily="34" charset="0"/>
                <a:ea typeface="Consolas" pitchFamily="34" charset="-122"/>
                <a:cs typeface="Consolas" pitchFamily="34" charset="-120"/>
              </a:rPr>
              <a:t>h → hai</a:t>
            </a:r>
            <a:r>
              <a:rPr lang="en-US" sz="1400" dirty="0">
                <a:solidFill>
                  <a:srgbClr val="15213F"/>
                </a:solidFill>
                <a:latin typeface="Roboto" pitchFamily="34" charset="0"/>
                <a:ea typeface="Roboto" pitchFamily="34" charset="-122"/>
                <a:cs typeface="Roboto" pitchFamily="34" charset="-120"/>
              </a:rPr>
              <a:t> (abbreviation)</a:t>
            </a:r>
            <a:endParaRPr lang="en-US" sz="1400" dirty="0"/>
          </a:p>
        </p:txBody>
      </p:sp>
      <p:pic>
        <p:nvPicPr>
          <p:cNvPr id="27" name="Image 5"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73910" y="6883182"/>
            <a:ext cx="272177" cy="272177"/>
          </a:xfrm>
          <a:prstGeom prst="rect">
            <a:avLst/>
          </a:prstGeom>
        </p:spPr>
      </p:pic>
      <p:sp>
        <p:nvSpPr>
          <p:cNvPr id="28" name="Text 20"/>
          <p:cNvSpPr/>
          <p:nvPr/>
        </p:nvSpPr>
        <p:spPr>
          <a:xfrm>
            <a:off x="7995642" y="6874193"/>
            <a:ext cx="2534841" cy="530066"/>
          </a:xfrm>
          <a:prstGeom prst="rect">
            <a:avLst/>
          </a:prstGeom>
          <a:noFill/>
          <a:ln/>
        </p:spPr>
        <p:txBody>
          <a:bodyPr wrap="square" lIns="0" tIns="0" rIns="0" bIns="0" rtlCol="0" anchor="t"/>
          <a:lstStyle/>
          <a:p>
            <a:pPr marL="0" indent="0" algn="l">
              <a:lnSpc>
                <a:spcPts val="2050"/>
              </a:lnSpc>
              <a:buNone/>
            </a:pPr>
            <a:r>
              <a:rPr lang="en-US" sz="1400" dirty="0">
                <a:solidFill>
                  <a:srgbClr val="15213F"/>
                </a:solidFill>
                <a:highlight>
                  <a:srgbClr val="EEEFF1"/>
                </a:highlight>
                <a:latin typeface="Consolas" pitchFamily="34" charset="0"/>
                <a:ea typeface="Consolas" pitchFamily="34" charset="-122"/>
                <a:cs typeface="Consolas" pitchFamily="34" charset="-120"/>
              </a:rPr>
              <a:t>plz → please</a:t>
            </a:r>
            <a:r>
              <a:rPr lang="en-US" sz="1400" dirty="0">
                <a:solidFill>
                  <a:srgbClr val="15213F"/>
                </a:solidFill>
                <a:latin typeface="Roboto" pitchFamily="34" charset="0"/>
                <a:ea typeface="Roboto" pitchFamily="34" charset="-122"/>
                <a:cs typeface="Roboto" pitchFamily="34" charset="-120"/>
              </a:rPr>
              <a:t> (texting shorthand)</a:t>
            </a:r>
            <a:endParaRPr lang="en-US" sz="1400" dirty="0"/>
          </a:p>
        </p:txBody>
      </p:sp>
      <p:pic>
        <p:nvPicPr>
          <p:cNvPr id="29" name="Image 6"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779919" y="6883182"/>
            <a:ext cx="272177" cy="272177"/>
          </a:xfrm>
          <a:prstGeom prst="rect">
            <a:avLst/>
          </a:prstGeom>
        </p:spPr>
      </p:pic>
      <p:sp>
        <p:nvSpPr>
          <p:cNvPr id="30" name="Text 21"/>
          <p:cNvSpPr/>
          <p:nvPr/>
        </p:nvSpPr>
        <p:spPr>
          <a:xfrm>
            <a:off x="11301651" y="6874193"/>
            <a:ext cx="2534960" cy="530066"/>
          </a:xfrm>
          <a:prstGeom prst="rect">
            <a:avLst/>
          </a:prstGeom>
          <a:noFill/>
          <a:ln/>
        </p:spPr>
        <p:txBody>
          <a:bodyPr wrap="square" lIns="0" tIns="0" rIns="0" bIns="0" rtlCol="0" anchor="t"/>
          <a:lstStyle/>
          <a:p>
            <a:pPr marL="0" indent="0" algn="l">
              <a:lnSpc>
                <a:spcPts val="2050"/>
              </a:lnSpc>
              <a:buNone/>
            </a:pPr>
            <a:r>
              <a:rPr lang="en-US" sz="1400" dirty="0">
                <a:solidFill>
                  <a:srgbClr val="15213F"/>
                </a:solidFill>
                <a:highlight>
                  <a:srgbClr val="EEEFF1"/>
                </a:highlight>
                <a:latin typeface="Consolas" pitchFamily="34" charset="0"/>
                <a:ea typeface="Consolas" pitchFamily="34" charset="-122"/>
                <a:cs typeface="Consolas" pitchFamily="34" charset="-120"/>
              </a:rPr>
              <a:t>smjhao → samjhao</a:t>
            </a:r>
            <a:r>
              <a:rPr lang="en-US" sz="1400" dirty="0">
                <a:solidFill>
                  <a:srgbClr val="15213F"/>
                </a:solidFill>
                <a:latin typeface="Roboto" pitchFamily="34" charset="0"/>
                <a:ea typeface="Roboto" pitchFamily="34" charset="-122"/>
                <a:cs typeface="Roboto" pitchFamily="34" charset="-120"/>
              </a:rPr>
              <a:t> (spelling variant)</a:t>
            </a:r>
            <a:endParaRPr lang="en-US" sz="1400" dirty="0"/>
          </a:p>
        </p:txBody>
      </p:sp>
      <p:pic>
        <p:nvPicPr>
          <p:cNvPr id="33" name="Picture 32">
            <a:extLst>
              <a:ext uri="{FF2B5EF4-FFF2-40B4-BE49-F238E27FC236}">
                <a16:creationId xmlns:a16="http://schemas.microsoft.com/office/drawing/2014/main" id="{EA2718DA-35E8-6F4A-1EC5-01F224CE5137}"/>
              </a:ext>
            </a:extLst>
          </p:cNvPr>
          <p:cNvPicPr>
            <a:picLocks noChangeAspect="1"/>
          </p:cNvPicPr>
          <p:nvPr/>
        </p:nvPicPr>
        <p:blipFill>
          <a:blip r:embed="rId5"/>
          <a:stretch>
            <a:fillRect/>
          </a:stretch>
        </p:blipFill>
        <p:spPr>
          <a:xfrm>
            <a:off x="12745111" y="7700675"/>
            <a:ext cx="1790950" cy="51442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33425" y="694492"/>
            <a:ext cx="5868948" cy="425648"/>
          </a:xfrm>
          <a:prstGeom prst="rect">
            <a:avLst/>
          </a:prstGeom>
          <a:noFill/>
          <a:ln/>
        </p:spPr>
        <p:txBody>
          <a:bodyPr wrap="none" lIns="0" tIns="0" rIns="0" bIns="0" rtlCol="0" anchor="t"/>
          <a:lstStyle/>
          <a:p>
            <a:pPr marL="0" indent="0" algn="l">
              <a:lnSpc>
                <a:spcPts val="3350"/>
              </a:lnSpc>
              <a:buNone/>
            </a:pPr>
            <a:r>
              <a:rPr lang="en-US" sz="2650" dirty="0">
                <a:solidFill>
                  <a:srgbClr val="3257B8"/>
                </a:solidFill>
                <a:latin typeface="Roboto Slab" pitchFamily="34" charset="0"/>
                <a:ea typeface="Roboto Slab" pitchFamily="34" charset="-122"/>
                <a:cs typeface="Roboto Slab" pitchFamily="34" charset="-120"/>
              </a:rPr>
              <a:t>Language Identification &amp; CMI Demo</a:t>
            </a:r>
            <a:endParaRPr lang="en-US" sz="2650" dirty="0"/>
          </a:p>
        </p:txBody>
      </p:sp>
      <p:sp>
        <p:nvSpPr>
          <p:cNvPr id="3" name="Text 1"/>
          <p:cNvSpPr/>
          <p:nvPr/>
        </p:nvSpPr>
        <p:spPr>
          <a:xfrm>
            <a:off x="733425" y="1283732"/>
            <a:ext cx="13163550"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Input: </a:t>
            </a:r>
            <a:r>
              <a:rPr lang="en-US" sz="1050" i="1" dirty="0">
                <a:solidFill>
                  <a:srgbClr val="15213F"/>
                </a:solidFill>
                <a:latin typeface="Roboto" pitchFamily="34" charset="0"/>
                <a:ea typeface="Roboto" pitchFamily="34" charset="-122"/>
                <a:cs typeface="Roboto" pitchFamily="34" charset="-120"/>
              </a:rPr>
              <a:t>"Mitochondria ko cell ka powerhouse kaha jaata hai kyunki yeh ATP ke form mein energy produce karte hain"</a:t>
            </a:r>
            <a:endParaRPr lang="en-US" sz="1050" dirty="0"/>
          </a:p>
        </p:txBody>
      </p:sp>
      <p:pic>
        <p:nvPicPr>
          <p:cNvPr id="4" name="Image 0" descr="preencoded.png"/>
          <p:cNvPicPr>
            <a:picLocks noChangeAspect="1"/>
          </p:cNvPicPr>
          <p:nvPr/>
        </p:nvPicPr>
        <p:blipFill>
          <a:blip r:embed="rId3"/>
          <a:stretch>
            <a:fillRect/>
          </a:stretch>
        </p:blipFill>
        <p:spPr>
          <a:xfrm>
            <a:off x="630880" y="1943307"/>
            <a:ext cx="6769836" cy="4091345"/>
          </a:xfrm>
          <a:prstGeom prst="rect">
            <a:avLst/>
          </a:prstGeom>
        </p:spPr>
      </p:pic>
      <p:sp>
        <p:nvSpPr>
          <p:cNvPr id="5" name="Text 2"/>
          <p:cNvSpPr/>
          <p:nvPr/>
        </p:nvSpPr>
        <p:spPr>
          <a:xfrm>
            <a:off x="7488912" y="1623536"/>
            <a:ext cx="6415683" cy="174307"/>
          </a:xfrm>
          <a:prstGeom prst="rect">
            <a:avLst/>
          </a:prstGeom>
          <a:noFill/>
          <a:ln/>
        </p:spPr>
        <p:txBody>
          <a:bodyPr wrap="none" lIns="0" tIns="0" rIns="0" bIns="0" rtlCol="0" anchor="t"/>
          <a:lstStyle/>
          <a:p>
            <a:pPr marL="0" indent="0" algn="l">
              <a:lnSpc>
                <a:spcPts val="1350"/>
              </a:lnSpc>
              <a:buNone/>
            </a:pPr>
            <a:r>
              <a:rPr lang="en-US" sz="1050" b="1" dirty="0">
                <a:solidFill>
                  <a:srgbClr val="15213F"/>
                </a:solidFill>
                <a:latin typeface="Roboto" pitchFamily="34" charset="0"/>
                <a:ea typeface="Roboto" pitchFamily="34" charset="-122"/>
                <a:cs typeface="Roboto" pitchFamily="34" charset="-120"/>
              </a:rPr>
              <a:t>Word-Level Language Identification</a:t>
            </a:r>
            <a:endParaRPr lang="en-US" sz="1050" dirty="0"/>
          </a:p>
        </p:txBody>
      </p:sp>
      <p:sp>
        <p:nvSpPr>
          <p:cNvPr id="6" name="Shape 3"/>
          <p:cNvSpPr/>
          <p:nvPr/>
        </p:nvSpPr>
        <p:spPr>
          <a:xfrm>
            <a:off x="7488912" y="1889760"/>
            <a:ext cx="6415683" cy="2891790"/>
          </a:xfrm>
          <a:prstGeom prst="roundRect">
            <a:avLst>
              <a:gd name="adj" fmla="val 707"/>
            </a:avLst>
          </a:prstGeom>
          <a:noFill/>
          <a:ln w="7620">
            <a:solidFill>
              <a:srgbClr val="000000">
                <a:alpha val="8000"/>
              </a:srgbClr>
            </a:solidFill>
            <a:prstDash val="solid"/>
          </a:ln>
        </p:spPr>
      </p:sp>
      <p:sp>
        <p:nvSpPr>
          <p:cNvPr id="7" name="Shape 4"/>
          <p:cNvSpPr/>
          <p:nvPr/>
        </p:nvSpPr>
        <p:spPr>
          <a:xfrm>
            <a:off x="7496532" y="1897380"/>
            <a:ext cx="6400443" cy="287655"/>
          </a:xfrm>
          <a:prstGeom prst="rect">
            <a:avLst/>
          </a:prstGeom>
          <a:solidFill>
            <a:srgbClr val="FFFFFF">
              <a:alpha val="4000"/>
            </a:srgbClr>
          </a:solidFill>
          <a:ln/>
        </p:spPr>
      </p:sp>
      <p:sp>
        <p:nvSpPr>
          <p:cNvPr id="8" name="Text 5"/>
          <p:cNvSpPr/>
          <p:nvPr/>
        </p:nvSpPr>
        <p:spPr>
          <a:xfrm>
            <a:off x="7632859" y="1954054"/>
            <a:ext cx="1323856" cy="174307"/>
          </a:xfrm>
          <a:prstGeom prst="rect">
            <a:avLst/>
          </a:prstGeom>
          <a:noFill/>
          <a:ln/>
        </p:spPr>
        <p:txBody>
          <a:bodyPr wrap="none" lIns="0" tIns="0" rIns="0" bIns="0" rtlCol="0" anchor="t"/>
          <a:lstStyle/>
          <a:p>
            <a:pPr marL="0" indent="0" algn="l">
              <a:lnSpc>
                <a:spcPts val="1350"/>
              </a:lnSpc>
              <a:buNone/>
            </a:pPr>
            <a:r>
              <a:rPr lang="en-US" sz="1050" b="1" dirty="0">
                <a:solidFill>
                  <a:srgbClr val="15213F"/>
                </a:solidFill>
                <a:latin typeface="Roboto" pitchFamily="34" charset="0"/>
                <a:ea typeface="Roboto" pitchFamily="34" charset="-122"/>
                <a:cs typeface="Roboto" pitchFamily="34" charset="-120"/>
              </a:rPr>
              <a:t>Word</a:t>
            </a:r>
            <a:endParaRPr lang="en-US" sz="1050" dirty="0"/>
          </a:p>
        </p:txBody>
      </p:sp>
      <p:sp>
        <p:nvSpPr>
          <p:cNvPr id="9" name="Text 6"/>
          <p:cNvSpPr/>
          <p:nvPr/>
        </p:nvSpPr>
        <p:spPr>
          <a:xfrm>
            <a:off x="9236750" y="1954054"/>
            <a:ext cx="1320046" cy="174307"/>
          </a:xfrm>
          <a:prstGeom prst="rect">
            <a:avLst/>
          </a:prstGeom>
          <a:noFill/>
          <a:ln/>
        </p:spPr>
        <p:txBody>
          <a:bodyPr wrap="none" lIns="0" tIns="0" rIns="0" bIns="0" rtlCol="0" anchor="t"/>
          <a:lstStyle/>
          <a:p>
            <a:pPr marL="0" indent="0" algn="l">
              <a:lnSpc>
                <a:spcPts val="1350"/>
              </a:lnSpc>
              <a:buNone/>
            </a:pPr>
            <a:r>
              <a:rPr lang="en-US" sz="1050" b="1" dirty="0">
                <a:solidFill>
                  <a:srgbClr val="15213F"/>
                </a:solidFill>
                <a:latin typeface="Roboto" pitchFamily="34" charset="0"/>
                <a:ea typeface="Roboto" pitchFamily="34" charset="-122"/>
                <a:cs typeface="Roboto" pitchFamily="34" charset="-120"/>
              </a:rPr>
              <a:t>Language</a:t>
            </a:r>
            <a:endParaRPr lang="en-US" sz="1050" dirty="0"/>
          </a:p>
        </p:txBody>
      </p:sp>
      <p:sp>
        <p:nvSpPr>
          <p:cNvPr id="10" name="Text 7"/>
          <p:cNvSpPr/>
          <p:nvPr/>
        </p:nvSpPr>
        <p:spPr>
          <a:xfrm>
            <a:off x="10836831" y="1954054"/>
            <a:ext cx="1320046" cy="174307"/>
          </a:xfrm>
          <a:prstGeom prst="rect">
            <a:avLst/>
          </a:prstGeom>
          <a:noFill/>
          <a:ln/>
        </p:spPr>
        <p:txBody>
          <a:bodyPr wrap="none" lIns="0" tIns="0" rIns="0" bIns="0" rtlCol="0" anchor="t"/>
          <a:lstStyle/>
          <a:p>
            <a:pPr marL="0" indent="0" algn="l">
              <a:lnSpc>
                <a:spcPts val="1350"/>
              </a:lnSpc>
              <a:buNone/>
            </a:pPr>
            <a:r>
              <a:rPr lang="en-US" sz="1050" b="1" dirty="0">
                <a:solidFill>
                  <a:srgbClr val="15213F"/>
                </a:solidFill>
                <a:latin typeface="Roboto" pitchFamily="34" charset="0"/>
                <a:ea typeface="Roboto" pitchFamily="34" charset="-122"/>
                <a:cs typeface="Roboto" pitchFamily="34" charset="-120"/>
              </a:rPr>
              <a:t>Word</a:t>
            </a:r>
            <a:endParaRPr lang="en-US" sz="1050" dirty="0"/>
          </a:p>
        </p:txBody>
      </p:sp>
      <p:sp>
        <p:nvSpPr>
          <p:cNvPr id="11" name="Text 8"/>
          <p:cNvSpPr/>
          <p:nvPr/>
        </p:nvSpPr>
        <p:spPr>
          <a:xfrm>
            <a:off x="12436912" y="1954054"/>
            <a:ext cx="1323856" cy="174307"/>
          </a:xfrm>
          <a:prstGeom prst="rect">
            <a:avLst/>
          </a:prstGeom>
          <a:noFill/>
          <a:ln/>
        </p:spPr>
        <p:txBody>
          <a:bodyPr wrap="none" lIns="0" tIns="0" rIns="0" bIns="0" rtlCol="0" anchor="t"/>
          <a:lstStyle/>
          <a:p>
            <a:pPr marL="0" indent="0" algn="l">
              <a:lnSpc>
                <a:spcPts val="1350"/>
              </a:lnSpc>
              <a:buNone/>
            </a:pPr>
            <a:r>
              <a:rPr lang="en-US" sz="1050" b="1" dirty="0">
                <a:solidFill>
                  <a:srgbClr val="15213F"/>
                </a:solidFill>
                <a:latin typeface="Roboto" pitchFamily="34" charset="0"/>
                <a:ea typeface="Roboto" pitchFamily="34" charset="-122"/>
                <a:cs typeface="Roboto" pitchFamily="34" charset="-120"/>
              </a:rPr>
              <a:t>Language</a:t>
            </a:r>
            <a:endParaRPr lang="en-US" sz="1050" dirty="0"/>
          </a:p>
        </p:txBody>
      </p:sp>
      <p:sp>
        <p:nvSpPr>
          <p:cNvPr id="12" name="Shape 9"/>
          <p:cNvSpPr/>
          <p:nvPr/>
        </p:nvSpPr>
        <p:spPr>
          <a:xfrm>
            <a:off x="7496532" y="2185035"/>
            <a:ext cx="6400443" cy="287655"/>
          </a:xfrm>
          <a:prstGeom prst="rect">
            <a:avLst/>
          </a:prstGeom>
          <a:solidFill>
            <a:srgbClr val="000000">
              <a:alpha val="4000"/>
            </a:srgbClr>
          </a:solidFill>
          <a:ln/>
        </p:spPr>
      </p:sp>
      <p:sp>
        <p:nvSpPr>
          <p:cNvPr id="13" name="Text 10"/>
          <p:cNvSpPr/>
          <p:nvPr/>
        </p:nvSpPr>
        <p:spPr>
          <a:xfrm>
            <a:off x="7632859" y="2241709"/>
            <a:ext cx="1323856"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Mitochondria</a:t>
            </a:r>
            <a:endParaRPr lang="en-US" sz="1050" dirty="0"/>
          </a:p>
        </p:txBody>
      </p:sp>
      <p:sp>
        <p:nvSpPr>
          <p:cNvPr id="14" name="Text 11"/>
          <p:cNvSpPr/>
          <p:nvPr/>
        </p:nvSpPr>
        <p:spPr>
          <a:xfrm>
            <a:off x="9236750" y="2241709"/>
            <a:ext cx="1320046"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EN </a:t>
            </a:r>
            <a:r>
              <a:rPr lang="en-US" sz="1050" dirty="0">
                <a:solidFill>
                  <a:srgbClr val="000000"/>
                </a:solidFill>
                <a:latin typeface="Roboto" pitchFamily="34" charset="0"/>
                <a:ea typeface="Roboto" pitchFamily="34" charset="-122"/>
                <a:cs typeface="Roboto" pitchFamily="34" charset="-120"/>
              </a:rPr>
              <a:t>🔵</a:t>
            </a:r>
            <a:endParaRPr lang="en-US" sz="1050" dirty="0"/>
          </a:p>
        </p:txBody>
      </p:sp>
      <p:sp>
        <p:nvSpPr>
          <p:cNvPr id="15" name="Text 12"/>
          <p:cNvSpPr/>
          <p:nvPr/>
        </p:nvSpPr>
        <p:spPr>
          <a:xfrm>
            <a:off x="10836831" y="2241709"/>
            <a:ext cx="1320046"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ATP</a:t>
            </a:r>
            <a:endParaRPr lang="en-US" sz="1050" dirty="0"/>
          </a:p>
        </p:txBody>
      </p:sp>
      <p:sp>
        <p:nvSpPr>
          <p:cNvPr id="16" name="Text 13"/>
          <p:cNvSpPr/>
          <p:nvPr/>
        </p:nvSpPr>
        <p:spPr>
          <a:xfrm>
            <a:off x="12436912" y="2241709"/>
            <a:ext cx="1323856"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EN </a:t>
            </a:r>
            <a:r>
              <a:rPr lang="en-US" sz="1050" dirty="0">
                <a:solidFill>
                  <a:srgbClr val="000000"/>
                </a:solidFill>
                <a:latin typeface="Roboto" pitchFamily="34" charset="0"/>
                <a:ea typeface="Roboto" pitchFamily="34" charset="-122"/>
                <a:cs typeface="Roboto" pitchFamily="34" charset="-120"/>
              </a:rPr>
              <a:t>🔵</a:t>
            </a:r>
            <a:endParaRPr lang="en-US" sz="1050" dirty="0"/>
          </a:p>
        </p:txBody>
      </p:sp>
      <p:sp>
        <p:nvSpPr>
          <p:cNvPr id="17" name="Shape 14"/>
          <p:cNvSpPr/>
          <p:nvPr/>
        </p:nvSpPr>
        <p:spPr>
          <a:xfrm>
            <a:off x="7496532" y="2472690"/>
            <a:ext cx="6400443" cy="287655"/>
          </a:xfrm>
          <a:prstGeom prst="rect">
            <a:avLst/>
          </a:prstGeom>
          <a:solidFill>
            <a:srgbClr val="FFFFFF">
              <a:alpha val="4000"/>
            </a:srgbClr>
          </a:solidFill>
          <a:ln/>
        </p:spPr>
      </p:sp>
      <p:sp>
        <p:nvSpPr>
          <p:cNvPr id="18" name="Text 15"/>
          <p:cNvSpPr/>
          <p:nvPr/>
        </p:nvSpPr>
        <p:spPr>
          <a:xfrm>
            <a:off x="7632859" y="2529364"/>
            <a:ext cx="1323856"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ko</a:t>
            </a:r>
            <a:endParaRPr lang="en-US" sz="1050" dirty="0"/>
          </a:p>
        </p:txBody>
      </p:sp>
      <p:sp>
        <p:nvSpPr>
          <p:cNvPr id="19" name="Text 16"/>
          <p:cNvSpPr/>
          <p:nvPr/>
        </p:nvSpPr>
        <p:spPr>
          <a:xfrm>
            <a:off x="9236750" y="2529364"/>
            <a:ext cx="1320046"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HI </a:t>
            </a:r>
            <a:r>
              <a:rPr lang="en-US" sz="1050" dirty="0">
                <a:solidFill>
                  <a:srgbClr val="000000"/>
                </a:solidFill>
                <a:latin typeface="Roboto" pitchFamily="34" charset="0"/>
                <a:ea typeface="Roboto" pitchFamily="34" charset="-122"/>
                <a:cs typeface="Roboto" pitchFamily="34" charset="-120"/>
              </a:rPr>
              <a:t>🟠</a:t>
            </a:r>
            <a:endParaRPr lang="en-US" sz="1050" dirty="0"/>
          </a:p>
        </p:txBody>
      </p:sp>
      <p:sp>
        <p:nvSpPr>
          <p:cNvPr id="20" name="Text 17"/>
          <p:cNvSpPr/>
          <p:nvPr/>
        </p:nvSpPr>
        <p:spPr>
          <a:xfrm>
            <a:off x="10836831" y="2529364"/>
            <a:ext cx="1320046"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ke</a:t>
            </a:r>
            <a:endParaRPr lang="en-US" sz="1050" dirty="0"/>
          </a:p>
        </p:txBody>
      </p:sp>
      <p:sp>
        <p:nvSpPr>
          <p:cNvPr id="21" name="Text 18"/>
          <p:cNvSpPr/>
          <p:nvPr/>
        </p:nvSpPr>
        <p:spPr>
          <a:xfrm>
            <a:off x="12436912" y="2529364"/>
            <a:ext cx="1323856"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HI </a:t>
            </a:r>
            <a:r>
              <a:rPr lang="en-US" sz="1050" dirty="0">
                <a:solidFill>
                  <a:srgbClr val="000000"/>
                </a:solidFill>
                <a:latin typeface="Roboto" pitchFamily="34" charset="0"/>
                <a:ea typeface="Roboto" pitchFamily="34" charset="-122"/>
                <a:cs typeface="Roboto" pitchFamily="34" charset="-120"/>
              </a:rPr>
              <a:t>🟠</a:t>
            </a:r>
            <a:endParaRPr lang="en-US" sz="1050" dirty="0"/>
          </a:p>
        </p:txBody>
      </p:sp>
      <p:sp>
        <p:nvSpPr>
          <p:cNvPr id="22" name="Shape 19"/>
          <p:cNvSpPr/>
          <p:nvPr/>
        </p:nvSpPr>
        <p:spPr>
          <a:xfrm>
            <a:off x="7496532" y="2760345"/>
            <a:ext cx="6400443" cy="287655"/>
          </a:xfrm>
          <a:prstGeom prst="rect">
            <a:avLst/>
          </a:prstGeom>
          <a:solidFill>
            <a:srgbClr val="000000">
              <a:alpha val="4000"/>
            </a:srgbClr>
          </a:solidFill>
          <a:ln/>
        </p:spPr>
      </p:sp>
      <p:sp>
        <p:nvSpPr>
          <p:cNvPr id="23" name="Text 20"/>
          <p:cNvSpPr/>
          <p:nvPr/>
        </p:nvSpPr>
        <p:spPr>
          <a:xfrm>
            <a:off x="7632859" y="2817019"/>
            <a:ext cx="1323856"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cell</a:t>
            </a:r>
            <a:endParaRPr lang="en-US" sz="1050" dirty="0"/>
          </a:p>
        </p:txBody>
      </p:sp>
      <p:sp>
        <p:nvSpPr>
          <p:cNvPr id="24" name="Text 21"/>
          <p:cNvSpPr/>
          <p:nvPr/>
        </p:nvSpPr>
        <p:spPr>
          <a:xfrm>
            <a:off x="9236750" y="2817019"/>
            <a:ext cx="1320046"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EN </a:t>
            </a:r>
            <a:r>
              <a:rPr lang="en-US" sz="1050" dirty="0">
                <a:solidFill>
                  <a:srgbClr val="000000"/>
                </a:solidFill>
                <a:latin typeface="Roboto" pitchFamily="34" charset="0"/>
                <a:ea typeface="Roboto" pitchFamily="34" charset="-122"/>
                <a:cs typeface="Roboto" pitchFamily="34" charset="-120"/>
              </a:rPr>
              <a:t>🔵</a:t>
            </a:r>
            <a:endParaRPr lang="en-US" sz="1050" dirty="0"/>
          </a:p>
        </p:txBody>
      </p:sp>
      <p:sp>
        <p:nvSpPr>
          <p:cNvPr id="25" name="Text 22"/>
          <p:cNvSpPr/>
          <p:nvPr/>
        </p:nvSpPr>
        <p:spPr>
          <a:xfrm>
            <a:off x="10836831" y="2817019"/>
            <a:ext cx="1320046"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form</a:t>
            </a:r>
            <a:endParaRPr lang="en-US" sz="1050" dirty="0"/>
          </a:p>
        </p:txBody>
      </p:sp>
      <p:sp>
        <p:nvSpPr>
          <p:cNvPr id="26" name="Text 23"/>
          <p:cNvSpPr/>
          <p:nvPr/>
        </p:nvSpPr>
        <p:spPr>
          <a:xfrm>
            <a:off x="12436912" y="2817019"/>
            <a:ext cx="1323856"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EN </a:t>
            </a:r>
            <a:r>
              <a:rPr lang="en-US" sz="1050" dirty="0">
                <a:solidFill>
                  <a:srgbClr val="000000"/>
                </a:solidFill>
                <a:latin typeface="Roboto" pitchFamily="34" charset="0"/>
                <a:ea typeface="Roboto" pitchFamily="34" charset="-122"/>
                <a:cs typeface="Roboto" pitchFamily="34" charset="-120"/>
              </a:rPr>
              <a:t>🔵</a:t>
            </a:r>
            <a:endParaRPr lang="en-US" sz="1050" dirty="0"/>
          </a:p>
        </p:txBody>
      </p:sp>
      <p:sp>
        <p:nvSpPr>
          <p:cNvPr id="27" name="Shape 24"/>
          <p:cNvSpPr/>
          <p:nvPr/>
        </p:nvSpPr>
        <p:spPr>
          <a:xfrm>
            <a:off x="7496532" y="3048000"/>
            <a:ext cx="6400443" cy="287655"/>
          </a:xfrm>
          <a:prstGeom prst="rect">
            <a:avLst/>
          </a:prstGeom>
          <a:solidFill>
            <a:srgbClr val="FFFFFF">
              <a:alpha val="4000"/>
            </a:srgbClr>
          </a:solidFill>
          <a:ln/>
        </p:spPr>
      </p:sp>
      <p:sp>
        <p:nvSpPr>
          <p:cNvPr id="28" name="Text 25"/>
          <p:cNvSpPr/>
          <p:nvPr/>
        </p:nvSpPr>
        <p:spPr>
          <a:xfrm>
            <a:off x="7632859" y="3104674"/>
            <a:ext cx="1323856"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ka</a:t>
            </a:r>
            <a:endParaRPr lang="en-US" sz="1050" dirty="0"/>
          </a:p>
        </p:txBody>
      </p:sp>
      <p:sp>
        <p:nvSpPr>
          <p:cNvPr id="29" name="Text 26"/>
          <p:cNvSpPr/>
          <p:nvPr/>
        </p:nvSpPr>
        <p:spPr>
          <a:xfrm>
            <a:off x="9236750" y="3104674"/>
            <a:ext cx="1320046"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HI </a:t>
            </a:r>
            <a:r>
              <a:rPr lang="en-US" sz="1050" dirty="0">
                <a:solidFill>
                  <a:srgbClr val="000000"/>
                </a:solidFill>
                <a:latin typeface="Roboto" pitchFamily="34" charset="0"/>
                <a:ea typeface="Roboto" pitchFamily="34" charset="-122"/>
                <a:cs typeface="Roboto" pitchFamily="34" charset="-120"/>
              </a:rPr>
              <a:t>🟠</a:t>
            </a:r>
            <a:endParaRPr lang="en-US" sz="1050" dirty="0"/>
          </a:p>
        </p:txBody>
      </p:sp>
      <p:sp>
        <p:nvSpPr>
          <p:cNvPr id="30" name="Text 27"/>
          <p:cNvSpPr/>
          <p:nvPr/>
        </p:nvSpPr>
        <p:spPr>
          <a:xfrm>
            <a:off x="10836831" y="3104674"/>
            <a:ext cx="1320046"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mein</a:t>
            </a:r>
            <a:endParaRPr lang="en-US" sz="1050" dirty="0"/>
          </a:p>
        </p:txBody>
      </p:sp>
      <p:sp>
        <p:nvSpPr>
          <p:cNvPr id="31" name="Text 28"/>
          <p:cNvSpPr/>
          <p:nvPr/>
        </p:nvSpPr>
        <p:spPr>
          <a:xfrm>
            <a:off x="12436912" y="3104674"/>
            <a:ext cx="1323856"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HI </a:t>
            </a:r>
            <a:r>
              <a:rPr lang="en-US" sz="1050" dirty="0">
                <a:solidFill>
                  <a:srgbClr val="000000"/>
                </a:solidFill>
                <a:latin typeface="Roboto" pitchFamily="34" charset="0"/>
                <a:ea typeface="Roboto" pitchFamily="34" charset="-122"/>
                <a:cs typeface="Roboto" pitchFamily="34" charset="-120"/>
              </a:rPr>
              <a:t>🟠</a:t>
            </a:r>
            <a:endParaRPr lang="en-US" sz="1050" dirty="0"/>
          </a:p>
        </p:txBody>
      </p:sp>
      <p:sp>
        <p:nvSpPr>
          <p:cNvPr id="32" name="Shape 29"/>
          <p:cNvSpPr/>
          <p:nvPr/>
        </p:nvSpPr>
        <p:spPr>
          <a:xfrm>
            <a:off x="7496532" y="3335655"/>
            <a:ext cx="6400443" cy="287655"/>
          </a:xfrm>
          <a:prstGeom prst="rect">
            <a:avLst/>
          </a:prstGeom>
          <a:solidFill>
            <a:srgbClr val="000000">
              <a:alpha val="4000"/>
            </a:srgbClr>
          </a:solidFill>
          <a:ln/>
        </p:spPr>
      </p:sp>
      <p:sp>
        <p:nvSpPr>
          <p:cNvPr id="33" name="Text 30"/>
          <p:cNvSpPr/>
          <p:nvPr/>
        </p:nvSpPr>
        <p:spPr>
          <a:xfrm>
            <a:off x="7632859" y="3392329"/>
            <a:ext cx="1323856"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powerhouse</a:t>
            </a:r>
            <a:endParaRPr lang="en-US" sz="1050" dirty="0"/>
          </a:p>
        </p:txBody>
      </p:sp>
      <p:sp>
        <p:nvSpPr>
          <p:cNvPr id="34" name="Text 31"/>
          <p:cNvSpPr/>
          <p:nvPr/>
        </p:nvSpPr>
        <p:spPr>
          <a:xfrm>
            <a:off x="9236750" y="3392329"/>
            <a:ext cx="1320046"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EN </a:t>
            </a:r>
            <a:r>
              <a:rPr lang="en-US" sz="1050" dirty="0">
                <a:solidFill>
                  <a:srgbClr val="000000"/>
                </a:solidFill>
                <a:latin typeface="Roboto" pitchFamily="34" charset="0"/>
                <a:ea typeface="Roboto" pitchFamily="34" charset="-122"/>
                <a:cs typeface="Roboto" pitchFamily="34" charset="-120"/>
              </a:rPr>
              <a:t>🔵</a:t>
            </a:r>
            <a:endParaRPr lang="en-US" sz="1050" dirty="0"/>
          </a:p>
        </p:txBody>
      </p:sp>
      <p:sp>
        <p:nvSpPr>
          <p:cNvPr id="35" name="Text 32"/>
          <p:cNvSpPr/>
          <p:nvPr/>
        </p:nvSpPr>
        <p:spPr>
          <a:xfrm>
            <a:off x="10836831" y="3392329"/>
            <a:ext cx="1320046"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energy</a:t>
            </a:r>
            <a:endParaRPr lang="en-US" sz="1050" dirty="0"/>
          </a:p>
        </p:txBody>
      </p:sp>
      <p:sp>
        <p:nvSpPr>
          <p:cNvPr id="36" name="Text 33"/>
          <p:cNvSpPr/>
          <p:nvPr/>
        </p:nvSpPr>
        <p:spPr>
          <a:xfrm>
            <a:off x="12436912" y="3392329"/>
            <a:ext cx="1323856"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EN </a:t>
            </a:r>
            <a:r>
              <a:rPr lang="en-US" sz="1050" dirty="0">
                <a:solidFill>
                  <a:srgbClr val="000000"/>
                </a:solidFill>
                <a:latin typeface="Roboto" pitchFamily="34" charset="0"/>
                <a:ea typeface="Roboto" pitchFamily="34" charset="-122"/>
                <a:cs typeface="Roboto" pitchFamily="34" charset="-120"/>
              </a:rPr>
              <a:t>🔵</a:t>
            </a:r>
            <a:endParaRPr lang="en-US" sz="1050" dirty="0"/>
          </a:p>
        </p:txBody>
      </p:sp>
      <p:sp>
        <p:nvSpPr>
          <p:cNvPr id="37" name="Shape 34"/>
          <p:cNvSpPr/>
          <p:nvPr/>
        </p:nvSpPr>
        <p:spPr>
          <a:xfrm>
            <a:off x="7496532" y="3623310"/>
            <a:ext cx="6400443" cy="287655"/>
          </a:xfrm>
          <a:prstGeom prst="rect">
            <a:avLst/>
          </a:prstGeom>
          <a:solidFill>
            <a:srgbClr val="FFFFFF">
              <a:alpha val="4000"/>
            </a:srgbClr>
          </a:solidFill>
          <a:ln/>
        </p:spPr>
      </p:sp>
      <p:sp>
        <p:nvSpPr>
          <p:cNvPr id="38" name="Text 35"/>
          <p:cNvSpPr/>
          <p:nvPr/>
        </p:nvSpPr>
        <p:spPr>
          <a:xfrm>
            <a:off x="7632859" y="3679984"/>
            <a:ext cx="1323856"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kaha</a:t>
            </a:r>
            <a:endParaRPr lang="en-US" sz="1050" dirty="0"/>
          </a:p>
        </p:txBody>
      </p:sp>
      <p:sp>
        <p:nvSpPr>
          <p:cNvPr id="39" name="Text 36"/>
          <p:cNvSpPr/>
          <p:nvPr/>
        </p:nvSpPr>
        <p:spPr>
          <a:xfrm>
            <a:off x="9236750" y="3679984"/>
            <a:ext cx="1320046"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HI </a:t>
            </a:r>
            <a:r>
              <a:rPr lang="en-US" sz="1050" dirty="0">
                <a:solidFill>
                  <a:srgbClr val="000000"/>
                </a:solidFill>
                <a:latin typeface="Roboto" pitchFamily="34" charset="0"/>
                <a:ea typeface="Roboto" pitchFamily="34" charset="-122"/>
                <a:cs typeface="Roboto" pitchFamily="34" charset="-120"/>
              </a:rPr>
              <a:t>🟠</a:t>
            </a:r>
            <a:endParaRPr lang="en-US" sz="1050" dirty="0"/>
          </a:p>
        </p:txBody>
      </p:sp>
      <p:sp>
        <p:nvSpPr>
          <p:cNvPr id="40" name="Text 37"/>
          <p:cNvSpPr/>
          <p:nvPr/>
        </p:nvSpPr>
        <p:spPr>
          <a:xfrm>
            <a:off x="10836831" y="3679984"/>
            <a:ext cx="1320046"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produce</a:t>
            </a:r>
            <a:endParaRPr lang="en-US" sz="1050" dirty="0"/>
          </a:p>
        </p:txBody>
      </p:sp>
      <p:sp>
        <p:nvSpPr>
          <p:cNvPr id="41" name="Text 38"/>
          <p:cNvSpPr/>
          <p:nvPr/>
        </p:nvSpPr>
        <p:spPr>
          <a:xfrm>
            <a:off x="12436912" y="3679984"/>
            <a:ext cx="1323856"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EN </a:t>
            </a:r>
            <a:r>
              <a:rPr lang="en-US" sz="1050" dirty="0">
                <a:solidFill>
                  <a:srgbClr val="000000"/>
                </a:solidFill>
                <a:latin typeface="Roboto" pitchFamily="34" charset="0"/>
                <a:ea typeface="Roboto" pitchFamily="34" charset="-122"/>
                <a:cs typeface="Roboto" pitchFamily="34" charset="-120"/>
              </a:rPr>
              <a:t>🔵</a:t>
            </a:r>
            <a:endParaRPr lang="en-US" sz="1050" dirty="0"/>
          </a:p>
        </p:txBody>
      </p:sp>
      <p:sp>
        <p:nvSpPr>
          <p:cNvPr id="42" name="Shape 39"/>
          <p:cNvSpPr/>
          <p:nvPr/>
        </p:nvSpPr>
        <p:spPr>
          <a:xfrm>
            <a:off x="7496532" y="3910965"/>
            <a:ext cx="6400443" cy="287655"/>
          </a:xfrm>
          <a:prstGeom prst="rect">
            <a:avLst/>
          </a:prstGeom>
          <a:solidFill>
            <a:srgbClr val="000000">
              <a:alpha val="4000"/>
            </a:srgbClr>
          </a:solidFill>
          <a:ln/>
        </p:spPr>
      </p:sp>
      <p:sp>
        <p:nvSpPr>
          <p:cNvPr id="43" name="Text 40"/>
          <p:cNvSpPr/>
          <p:nvPr/>
        </p:nvSpPr>
        <p:spPr>
          <a:xfrm>
            <a:off x="7632859" y="3967639"/>
            <a:ext cx="1323856"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jaata</a:t>
            </a:r>
            <a:endParaRPr lang="en-US" sz="1050" dirty="0"/>
          </a:p>
        </p:txBody>
      </p:sp>
      <p:sp>
        <p:nvSpPr>
          <p:cNvPr id="44" name="Text 41"/>
          <p:cNvSpPr/>
          <p:nvPr/>
        </p:nvSpPr>
        <p:spPr>
          <a:xfrm>
            <a:off x="9236750" y="3967639"/>
            <a:ext cx="1320046"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HI </a:t>
            </a:r>
            <a:r>
              <a:rPr lang="en-US" sz="1050" dirty="0">
                <a:solidFill>
                  <a:srgbClr val="000000"/>
                </a:solidFill>
                <a:latin typeface="Roboto" pitchFamily="34" charset="0"/>
                <a:ea typeface="Roboto" pitchFamily="34" charset="-122"/>
                <a:cs typeface="Roboto" pitchFamily="34" charset="-120"/>
              </a:rPr>
              <a:t>🟠</a:t>
            </a:r>
            <a:endParaRPr lang="en-US" sz="1050" dirty="0"/>
          </a:p>
        </p:txBody>
      </p:sp>
      <p:sp>
        <p:nvSpPr>
          <p:cNvPr id="45" name="Text 42"/>
          <p:cNvSpPr/>
          <p:nvPr/>
        </p:nvSpPr>
        <p:spPr>
          <a:xfrm>
            <a:off x="10836831" y="3967639"/>
            <a:ext cx="1320046"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karte</a:t>
            </a:r>
            <a:endParaRPr lang="en-US" sz="1050" dirty="0"/>
          </a:p>
        </p:txBody>
      </p:sp>
      <p:sp>
        <p:nvSpPr>
          <p:cNvPr id="46" name="Text 43"/>
          <p:cNvSpPr/>
          <p:nvPr/>
        </p:nvSpPr>
        <p:spPr>
          <a:xfrm>
            <a:off x="12436912" y="3967639"/>
            <a:ext cx="1323856"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HI </a:t>
            </a:r>
            <a:r>
              <a:rPr lang="en-US" sz="1050" dirty="0">
                <a:solidFill>
                  <a:srgbClr val="000000"/>
                </a:solidFill>
                <a:latin typeface="Roboto" pitchFamily="34" charset="0"/>
                <a:ea typeface="Roboto" pitchFamily="34" charset="-122"/>
                <a:cs typeface="Roboto" pitchFamily="34" charset="-120"/>
              </a:rPr>
              <a:t>🟠</a:t>
            </a:r>
            <a:endParaRPr lang="en-US" sz="1050" dirty="0"/>
          </a:p>
        </p:txBody>
      </p:sp>
      <p:sp>
        <p:nvSpPr>
          <p:cNvPr id="47" name="Shape 44"/>
          <p:cNvSpPr/>
          <p:nvPr/>
        </p:nvSpPr>
        <p:spPr>
          <a:xfrm>
            <a:off x="7496532" y="4198620"/>
            <a:ext cx="6400443" cy="287655"/>
          </a:xfrm>
          <a:prstGeom prst="rect">
            <a:avLst/>
          </a:prstGeom>
          <a:solidFill>
            <a:srgbClr val="FFFFFF">
              <a:alpha val="4000"/>
            </a:srgbClr>
          </a:solidFill>
          <a:ln/>
        </p:spPr>
      </p:sp>
      <p:sp>
        <p:nvSpPr>
          <p:cNvPr id="48" name="Text 45"/>
          <p:cNvSpPr/>
          <p:nvPr/>
        </p:nvSpPr>
        <p:spPr>
          <a:xfrm>
            <a:off x="7632859" y="4255294"/>
            <a:ext cx="1323856"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hai</a:t>
            </a:r>
            <a:endParaRPr lang="en-US" sz="1050" dirty="0"/>
          </a:p>
        </p:txBody>
      </p:sp>
      <p:sp>
        <p:nvSpPr>
          <p:cNvPr id="49" name="Text 46"/>
          <p:cNvSpPr/>
          <p:nvPr/>
        </p:nvSpPr>
        <p:spPr>
          <a:xfrm>
            <a:off x="9236750" y="4255294"/>
            <a:ext cx="1320046"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HI </a:t>
            </a:r>
            <a:r>
              <a:rPr lang="en-US" sz="1050" dirty="0">
                <a:solidFill>
                  <a:srgbClr val="000000"/>
                </a:solidFill>
                <a:latin typeface="Roboto" pitchFamily="34" charset="0"/>
                <a:ea typeface="Roboto" pitchFamily="34" charset="-122"/>
                <a:cs typeface="Roboto" pitchFamily="34" charset="-120"/>
              </a:rPr>
              <a:t>🟠</a:t>
            </a:r>
            <a:endParaRPr lang="en-US" sz="1050" dirty="0"/>
          </a:p>
        </p:txBody>
      </p:sp>
      <p:sp>
        <p:nvSpPr>
          <p:cNvPr id="50" name="Text 47"/>
          <p:cNvSpPr/>
          <p:nvPr/>
        </p:nvSpPr>
        <p:spPr>
          <a:xfrm>
            <a:off x="10836831" y="4255294"/>
            <a:ext cx="1320046"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hain</a:t>
            </a:r>
            <a:endParaRPr lang="en-US" sz="1050" dirty="0"/>
          </a:p>
        </p:txBody>
      </p:sp>
      <p:sp>
        <p:nvSpPr>
          <p:cNvPr id="51" name="Text 48"/>
          <p:cNvSpPr/>
          <p:nvPr/>
        </p:nvSpPr>
        <p:spPr>
          <a:xfrm>
            <a:off x="12436912" y="4255294"/>
            <a:ext cx="1323856"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HI </a:t>
            </a:r>
            <a:r>
              <a:rPr lang="en-US" sz="1050" dirty="0">
                <a:solidFill>
                  <a:srgbClr val="000000"/>
                </a:solidFill>
                <a:latin typeface="Roboto" pitchFamily="34" charset="0"/>
                <a:ea typeface="Roboto" pitchFamily="34" charset="-122"/>
                <a:cs typeface="Roboto" pitchFamily="34" charset="-120"/>
              </a:rPr>
              <a:t>🟠</a:t>
            </a:r>
            <a:endParaRPr lang="en-US" sz="1050" dirty="0"/>
          </a:p>
        </p:txBody>
      </p:sp>
      <p:sp>
        <p:nvSpPr>
          <p:cNvPr id="52" name="Shape 49"/>
          <p:cNvSpPr/>
          <p:nvPr/>
        </p:nvSpPr>
        <p:spPr>
          <a:xfrm>
            <a:off x="7496532" y="4486275"/>
            <a:ext cx="6400443" cy="287655"/>
          </a:xfrm>
          <a:prstGeom prst="rect">
            <a:avLst/>
          </a:prstGeom>
          <a:solidFill>
            <a:srgbClr val="000000">
              <a:alpha val="4000"/>
            </a:srgbClr>
          </a:solidFill>
          <a:ln/>
        </p:spPr>
      </p:sp>
      <p:sp>
        <p:nvSpPr>
          <p:cNvPr id="53" name="Text 50"/>
          <p:cNvSpPr/>
          <p:nvPr/>
        </p:nvSpPr>
        <p:spPr>
          <a:xfrm>
            <a:off x="7632859" y="4542949"/>
            <a:ext cx="1323856"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kyunki</a:t>
            </a:r>
            <a:endParaRPr lang="en-US" sz="1050" dirty="0"/>
          </a:p>
        </p:txBody>
      </p:sp>
      <p:sp>
        <p:nvSpPr>
          <p:cNvPr id="54" name="Text 51"/>
          <p:cNvSpPr/>
          <p:nvPr/>
        </p:nvSpPr>
        <p:spPr>
          <a:xfrm>
            <a:off x="9236750" y="4542949"/>
            <a:ext cx="1320046"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HI </a:t>
            </a:r>
            <a:r>
              <a:rPr lang="en-US" sz="1050" dirty="0">
                <a:solidFill>
                  <a:srgbClr val="000000"/>
                </a:solidFill>
                <a:latin typeface="Roboto" pitchFamily="34" charset="0"/>
                <a:ea typeface="Roboto" pitchFamily="34" charset="-122"/>
                <a:cs typeface="Roboto" pitchFamily="34" charset="-120"/>
              </a:rPr>
              <a:t>🟠</a:t>
            </a:r>
            <a:endParaRPr lang="en-US" sz="1050" dirty="0"/>
          </a:p>
        </p:txBody>
      </p:sp>
      <p:sp>
        <p:nvSpPr>
          <p:cNvPr id="55" name="Text 52"/>
          <p:cNvSpPr/>
          <p:nvPr/>
        </p:nvSpPr>
        <p:spPr>
          <a:xfrm>
            <a:off x="10836831" y="4542949"/>
            <a:ext cx="1320046"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yeh</a:t>
            </a:r>
            <a:endParaRPr lang="en-US" sz="1050" dirty="0"/>
          </a:p>
        </p:txBody>
      </p:sp>
      <p:sp>
        <p:nvSpPr>
          <p:cNvPr id="56" name="Text 53"/>
          <p:cNvSpPr/>
          <p:nvPr/>
        </p:nvSpPr>
        <p:spPr>
          <a:xfrm>
            <a:off x="12436912" y="4542949"/>
            <a:ext cx="1323856" cy="174307"/>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pitchFamily="34" charset="0"/>
                <a:ea typeface="Roboto" pitchFamily="34" charset="-122"/>
                <a:cs typeface="Roboto" pitchFamily="34" charset="-120"/>
              </a:rPr>
              <a:t>HI </a:t>
            </a:r>
            <a:r>
              <a:rPr lang="en-US" sz="1050" dirty="0">
                <a:solidFill>
                  <a:srgbClr val="000000"/>
                </a:solidFill>
                <a:latin typeface="Roboto" pitchFamily="34" charset="0"/>
                <a:ea typeface="Roboto" pitchFamily="34" charset="-122"/>
                <a:cs typeface="Roboto" pitchFamily="34" charset="-120"/>
              </a:rPr>
              <a:t>🟠</a:t>
            </a:r>
            <a:endParaRPr lang="en-US" sz="1050" dirty="0"/>
          </a:p>
        </p:txBody>
      </p:sp>
      <p:sp>
        <p:nvSpPr>
          <p:cNvPr id="57" name="Text 54"/>
          <p:cNvSpPr/>
          <p:nvPr/>
        </p:nvSpPr>
        <p:spPr>
          <a:xfrm>
            <a:off x="8041362" y="4941570"/>
            <a:ext cx="2051804" cy="449461"/>
          </a:xfrm>
          <a:prstGeom prst="rect">
            <a:avLst/>
          </a:prstGeom>
          <a:noFill/>
          <a:ln/>
        </p:spPr>
        <p:txBody>
          <a:bodyPr wrap="none" lIns="0" tIns="0" rIns="0" bIns="0" rtlCol="0" anchor="t"/>
          <a:lstStyle/>
          <a:p>
            <a:pPr marL="0" indent="0" algn="ctr">
              <a:lnSpc>
                <a:spcPts val="3500"/>
              </a:lnSpc>
              <a:buNone/>
            </a:pPr>
            <a:r>
              <a:rPr lang="en-US" sz="2000" dirty="0">
                <a:solidFill>
                  <a:srgbClr val="15213F"/>
                </a:solidFill>
                <a:latin typeface="Roboto Slab" pitchFamily="34" charset="0"/>
                <a:ea typeface="Roboto Slab" pitchFamily="34" charset="-122"/>
                <a:cs typeface="Roboto Slab" pitchFamily="34" charset="-120"/>
              </a:rPr>
              <a:t>61.1%</a:t>
            </a:r>
            <a:endParaRPr lang="en-US" sz="2000" dirty="0"/>
          </a:p>
        </p:txBody>
      </p:sp>
      <p:sp>
        <p:nvSpPr>
          <p:cNvPr id="58" name="Text 55"/>
          <p:cNvSpPr/>
          <p:nvPr/>
        </p:nvSpPr>
        <p:spPr>
          <a:xfrm>
            <a:off x="8215908" y="5520452"/>
            <a:ext cx="1702594" cy="212765"/>
          </a:xfrm>
          <a:prstGeom prst="rect">
            <a:avLst/>
          </a:prstGeom>
          <a:noFill/>
          <a:ln/>
        </p:spPr>
        <p:txBody>
          <a:bodyPr wrap="none" lIns="0" tIns="0" rIns="0" bIns="0" rtlCol="0" anchor="t"/>
          <a:lstStyle/>
          <a:p>
            <a:pPr marL="0" indent="0" algn="ctr">
              <a:lnSpc>
                <a:spcPts val="1650"/>
              </a:lnSpc>
              <a:buNone/>
            </a:pPr>
            <a:r>
              <a:rPr lang="en-US" sz="1300" dirty="0">
                <a:solidFill>
                  <a:srgbClr val="15213F"/>
                </a:solidFill>
                <a:latin typeface="Roboto Slab" pitchFamily="34" charset="0"/>
                <a:ea typeface="Roboto Slab" pitchFamily="34" charset="-122"/>
                <a:cs typeface="Roboto Slab" pitchFamily="34" charset="-120"/>
              </a:rPr>
              <a:t>Hindi Words</a:t>
            </a:r>
            <a:endParaRPr lang="en-US" sz="1300" dirty="0"/>
          </a:p>
        </p:txBody>
      </p:sp>
      <p:sp>
        <p:nvSpPr>
          <p:cNvPr id="59" name="Text 56"/>
          <p:cNvSpPr/>
          <p:nvPr/>
        </p:nvSpPr>
        <p:spPr>
          <a:xfrm>
            <a:off x="7488912" y="5815013"/>
            <a:ext cx="3156704" cy="174307"/>
          </a:xfrm>
          <a:prstGeom prst="rect">
            <a:avLst/>
          </a:prstGeom>
          <a:noFill/>
          <a:ln/>
        </p:spPr>
        <p:txBody>
          <a:bodyPr wrap="none" lIns="0" tIns="0" rIns="0" bIns="0" rtlCol="0" anchor="t"/>
          <a:lstStyle/>
          <a:p>
            <a:pPr marL="0" indent="0" algn="ctr">
              <a:lnSpc>
                <a:spcPts val="1350"/>
              </a:lnSpc>
              <a:buNone/>
            </a:pPr>
            <a:r>
              <a:rPr lang="en-US" sz="1050" dirty="0">
                <a:solidFill>
                  <a:srgbClr val="15213F"/>
                </a:solidFill>
                <a:latin typeface="Roboto" pitchFamily="34" charset="0"/>
                <a:ea typeface="Roboto" pitchFamily="34" charset="-122"/>
                <a:cs typeface="Roboto" pitchFamily="34" charset="-120"/>
              </a:rPr>
              <a:t>11 out of 18 total words</a:t>
            </a:r>
            <a:endParaRPr lang="en-US" sz="1050" dirty="0"/>
          </a:p>
        </p:txBody>
      </p:sp>
      <p:sp>
        <p:nvSpPr>
          <p:cNvPr id="60" name="Text 57"/>
          <p:cNvSpPr/>
          <p:nvPr/>
        </p:nvSpPr>
        <p:spPr>
          <a:xfrm>
            <a:off x="11300222" y="4941570"/>
            <a:ext cx="2051923" cy="449461"/>
          </a:xfrm>
          <a:prstGeom prst="rect">
            <a:avLst/>
          </a:prstGeom>
          <a:noFill/>
          <a:ln/>
        </p:spPr>
        <p:txBody>
          <a:bodyPr wrap="none" lIns="0" tIns="0" rIns="0" bIns="0" rtlCol="0" anchor="t"/>
          <a:lstStyle/>
          <a:p>
            <a:pPr marL="0" indent="0" algn="ctr">
              <a:lnSpc>
                <a:spcPts val="3500"/>
              </a:lnSpc>
              <a:buNone/>
            </a:pPr>
            <a:r>
              <a:rPr lang="en-US" sz="2000" dirty="0">
                <a:solidFill>
                  <a:srgbClr val="15213F"/>
                </a:solidFill>
                <a:latin typeface="Roboto Slab" pitchFamily="34" charset="0"/>
                <a:ea typeface="Roboto Slab" pitchFamily="34" charset="-122"/>
                <a:cs typeface="Roboto Slab" pitchFamily="34" charset="-120"/>
              </a:rPr>
              <a:t>38.9%</a:t>
            </a:r>
            <a:endParaRPr lang="en-US" sz="2000" dirty="0"/>
          </a:p>
        </p:txBody>
      </p:sp>
      <p:sp>
        <p:nvSpPr>
          <p:cNvPr id="61" name="Text 58"/>
          <p:cNvSpPr/>
          <p:nvPr/>
        </p:nvSpPr>
        <p:spPr>
          <a:xfrm>
            <a:off x="11474887" y="5520452"/>
            <a:ext cx="1702594" cy="212765"/>
          </a:xfrm>
          <a:prstGeom prst="rect">
            <a:avLst/>
          </a:prstGeom>
          <a:noFill/>
          <a:ln/>
        </p:spPr>
        <p:txBody>
          <a:bodyPr wrap="none" lIns="0" tIns="0" rIns="0" bIns="0" rtlCol="0" anchor="t"/>
          <a:lstStyle/>
          <a:p>
            <a:pPr marL="0" indent="0" algn="ctr">
              <a:lnSpc>
                <a:spcPts val="1650"/>
              </a:lnSpc>
              <a:buNone/>
            </a:pPr>
            <a:r>
              <a:rPr lang="en-US" sz="1300" dirty="0">
                <a:solidFill>
                  <a:srgbClr val="15213F"/>
                </a:solidFill>
                <a:latin typeface="Roboto Slab" pitchFamily="34" charset="0"/>
                <a:ea typeface="Roboto Slab" pitchFamily="34" charset="-122"/>
                <a:cs typeface="Roboto Slab" pitchFamily="34" charset="-120"/>
              </a:rPr>
              <a:t>English Words</a:t>
            </a:r>
            <a:endParaRPr lang="en-US" sz="1300" dirty="0"/>
          </a:p>
        </p:txBody>
      </p:sp>
      <p:sp>
        <p:nvSpPr>
          <p:cNvPr id="62" name="Text 59"/>
          <p:cNvSpPr/>
          <p:nvPr/>
        </p:nvSpPr>
        <p:spPr>
          <a:xfrm>
            <a:off x="10747772" y="5815013"/>
            <a:ext cx="3156823" cy="174307"/>
          </a:xfrm>
          <a:prstGeom prst="rect">
            <a:avLst/>
          </a:prstGeom>
          <a:noFill/>
          <a:ln/>
        </p:spPr>
        <p:txBody>
          <a:bodyPr wrap="none" lIns="0" tIns="0" rIns="0" bIns="0" rtlCol="0" anchor="t"/>
          <a:lstStyle/>
          <a:p>
            <a:pPr marL="0" indent="0" algn="ctr">
              <a:lnSpc>
                <a:spcPts val="1350"/>
              </a:lnSpc>
              <a:buNone/>
            </a:pPr>
            <a:r>
              <a:rPr lang="en-US" sz="1050" dirty="0">
                <a:solidFill>
                  <a:srgbClr val="15213F"/>
                </a:solidFill>
                <a:latin typeface="Roboto" pitchFamily="34" charset="0"/>
                <a:ea typeface="Roboto" pitchFamily="34" charset="-122"/>
                <a:cs typeface="Roboto" pitchFamily="34" charset="-120"/>
              </a:rPr>
              <a:t>7 out of 18 total words</a:t>
            </a:r>
            <a:endParaRPr lang="en-US" sz="1050" dirty="0"/>
          </a:p>
        </p:txBody>
      </p:sp>
      <p:sp>
        <p:nvSpPr>
          <p:cNvPr id="63" name="Text 60"/>
          <p:cNvSpPr/>
          <p:nvPr/>
        </p:nvSpPr>
        <p:spPr>
          <a:xfrm>
            <a:off x="9670733" y="6221016"/>
            <a:ext cx="2051923" cy="449461"/>
          </a:xfrm>
          <a:prstGeom prst="rect">
            <a:avLst/>
          </a:prstGeom>
          <a:noFill/>
          <a:ln/>
        </p:spPr>
        <p:txBody>
          <a:bodyPr wrap="none" lIns="0" tIns="0" rIns="0" bIns="0" rtlCol="0" anchor="t"/>
          <a:lstStyle/>
          <a:p>
            <a:pPr marL="0" indent="0" algn="ctr">
              <a:lnSpc>
                <a:spcPts val="3500"/>
              </a:lnSpc>
              <a:buNone/>
            </a:pPr>
            <a:r>
              <a:rPr lang="en-US" sz="2000" dirty="0">
                <a:solidFill>
                  <a:srgbClr val="15213F"/>
                </a:solidFill>
                <a:latin typeface="Roboto Slab" pitchFamily="34" charset="0"/>
                <a:ea typeface="Roboto Slab" pitchFamily="34" charset="-122"/>
                <a:cs typeface="Roboto Slab" pitchFamily="34" charset="-120"/>
              </a:rPr>
              <a:t>38.9%</a:t>
            </a:r>
            <a:endParaRPr lang="en-US" sz="2000" dirty="0"/>
          </a:p>
        </p:txBody>
      </p:sp>
      <p:sp>
        <p:nvSpPr>
          <p:cNvPr id="64" name="Text 61"/>
          <p:cNvSpPr/>
          <p:nvPr/>
        </p:nvSpPr>
        <p:spPr>
          <a:xfrm>
            <a:off x="9845397" y="6799898"/>
            <a:ext cx="1702594" cy="212765"/>
          </a:xfrm>
          <a:prstGeom prst="rect">
            <a:avLst/>
          </a:prstGeom>
          <a:noFill/>
          <a:ln/>
        </p:spPr>
        <p:txBody>
          <a:bodyPr wrap="none" lIns="0" tIns="0" rIns="0" bIns="0" rtlCol="0" anchor="t"/>
          <a:lstStyle/>
          <a:p>
            <a:pPr marL="0" indent="0" algn="ctr">
              <a:lnSpc>
                <a:spcPts val="1650"/>
              </a:lnSpc>
              <a:buNone/>
            </a:pPr>
            <a:r>
              <a:rPr lang="en-US" sz="1300" dirty="0">
                <a:solidFill>
                  <a:srgbClr val="15213F"/>
                </a:solidFill>
                <a:latin typeface="Roboto Slab" pitchFamily="34" charset="0"/>
                <a:ea typeface="Roboto Slab" pitchFamily="34" charset="-122"/>
                <a:cs typeface="Roboto Slab" pitchFamily="34" charset="-120"/>
              </a:rPr>
              <a:t>CMI Score</a:t>
            </a:r>
            <a:endParaRPr lang="en-US" sz="1300" dirty="0"/>
          </a:p>
        </p:txBody>
      </p:sp>
      <p:sp>
        <p:nvSpPr>
          <p:cNvPr id="65" name="Text 62"/>
          <p:cNvSpPr/>
          <p:nvPr/>
        </p:nvSpPr>
        <p:spPr>
          <a:xfrm>
            <a:off x="9118283" y="7094458"/>
            <a:ext cx="3156823" cy="348615"/>
          </a:xfrm>
          <a:prstGeom prst="rect">
            <a:avLst/>
          </a:prstGeom>
          <a:noFill/>
          <a:ln/>
        </p:spPr>
        <p:txBody>
          <a:bodyPr wrap="square" lIns="0" tIns="0" rIns="0" bIns="0" rtlCol="0" anchor="t"/>
          <a:lstStyle/>
          <a:p>
            <a:pPr marL="0" indent="0" algn="ctr">
              <a:lnSpc>
                <a:spcPts val="1350"/>
              </a:lnSpc>
              <a:buNone/>
            </a:pPr>
            <a:r>
              <a:rPr lang="en-US" sz="1050" dirty="0">
                <a:solidFill>
                  <a:srgbClr val="15213F"/>
                </a:solidFill>
                <a:latin typeface="Roboto" pitchFamily="34" charset="0"/>
                <a:ea typeface="Roboto" pitchFamily="34" charset="-122"/>
                <a:cs typeface="Roboto" pitchFamily="34" charset="-120"/>
              </a:rPr>
              <a:t>CMI = (1 - max(11,7) / 18) × 100 = 38.9% → Moderate code-mixing (natural Hinglish) </a:t>
            </a:r>
            <a:r>
              <a:rPr lang="en-US" sz="1050" dirty="0">
                <a:solidFill>
                  <a:srgbClr val="000000"/>
                </a:solidFill>
                <a:latin typeface="Roboto" pitchFamily="34" charset="0"/>
                <a:ea typeface="Roboto" pitchFamily="34" charset="-122"/>
                <a:cs typeface="Roboto" pitchFamily="34" charset="-120"/>
              </a:rPr>
              <a:t>✅</a:t>
            </a:r>
            <a:endParaRPr lang="en-US" sz="1050" dirty="0"/>
          </a:p>
        </p:txBody>
      </p:sp>
      <p:pic>
        <p:nvPicPr>
          <p:cNvPr id="67" name="Picture 66">
            <a:extLst>
              <a:ext uri="{FF2B5EF4-FFF2-40B4-BE49-F238E27FC236}">
                <a16:creationId xmlns:a16="http://schemas.microsoft.com/office/drawing/2014/main" id="{71CF28C6-138D-A590-B310-DC9B09A9AFC1}"/>
              </a:ext>
            </a:extLst>
          </p:cNvPr>
          <p:cNvPicPr>
            <a:picLocks noChangeAspect="1"/>
          </p:cNvPicPr>
          <p:nvPr/>
        </p:nvPicPr>
        <p:blipFill>
          <a:blip r:embed="rId4"/>
          <a:stretch>
            <a:fillRect/>
          </a:stretch>
        </p:blipFill>
        <p:spPr>
          <a:xfrm>
            <a:off x="12839450" y="7715178"/>
            <a:ext cx="1790950" cy="51442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801529"/>
            <a:ext cx="11601569" cy="531614"/>
          </a:xfrm>
          <a:prstGeom prst="rect">
            <a:avLst/>
          </a:prstGeom>
          <a:noFill/>
          <a:ln/>
        </p:spPr>
        <p:txBody>
          <a:bodyPr wrap="none" lIns="0" tIns="0" rIns="0" bIns="0" rtlCol="0" anchor="t"/>
          <a:lstStyle/>
          <a:p>
            <a:pPr marL="0" indent="0" algn="l">
              <a:lnSpc>
                <a:spcPts val="4150"/>
              </a:lnSpc>
              <a:buNone/>
            </a:pPr>
            <a:r>
              <a:rPr lang="en-US" sz="3300" dirty="0">
                <a:solidFill>
                  <a:srgbClr val="3257B8"/>
                </a:solidFill>
                <a:latin typeface="Roboto Slab" pitchFamily="34" charset="0"/>
                <a:ea typeface="Roboto Slab" pitchFamily="34" charset="-122"/>
                <a:cs typeface="Roboto Slab" pitchFamily="34" charset="-120"/>
              </a:rPr>
              <a:t>Tokenization + Stemming + Lemmatization &amp; Comparison</a:t>
            </a:r>
            <a:endParaRPr lang="en-US" sz="3300" dirty="0"/>
          </a:p>
        </p:txBody>
      </p:sp>
      <p:sp>
        <p:nvSpPr>
          <p:cNvPr id="3" name="Text 1"/>
          <p:cNvSpPr/>
          <p:nvPr/>
        </p:nvSpPr>
        <p:spPr>
          <a:xfrm>
            <a:off x="793790" y="1588294"/>
            <a:ext cx="13042821" cy="238125"/>
          </a:xfrm>
          <a:prstGeom prst="rect">
            <a:avLst/>
          </a:prstGeom>
          <a:noFill/>
          <a:ln/>
        </p:spPr>
        <p:txBody>
          <a:bodyPr wrap="none" lIns="0" tIns="0" rIns="0" bIns="0" rtlCol="0" anchor="t"/>
          <a:lstStyle/>
          <a:p>
            <a:pPr marL="0" indent="0" algn="l">
              <a:lnSpc>
                <a:spcPts val="1850"/>
              </a:lnSpc>
              <a:buNone/>
            </a:pPr>
            <a:r>
              <a:rPr lang="en-US" sz="1300" b="1" dirty="0">
                <a:solidFill>
                  <a:srgbClr val="15213F"/>
                </a:solidFill>
                <a:latin typeface="Roboto" pitchFamily="34" charset="0"/>
                <a:ea typeface="Roboto" pitchFamily="34" charset="-122"/>
                <a:cs typeface="Roboto" pitchFamily="34" charset="-120"/>
              </a:rPr>
              <a:t>Processing English NCERT Sentence</a:t>
            </a:r>
            <a:endParaRPr lang="en-US" sz="1300" dirty="0"/>
          </a:p>
        </p:txBody>
      </p:sp>
      <p:sp>
        <p:nvSpPr>
          <p:cNvPr id="4" name="Text 2"/>
          <p:cNvSpPr/>
          <p:nvPr/>
        </p:nvSpPr>
        <p:spPr>
          <a:xfrm>
            <a:off x="793790" y="1969889"/>
            <a:ext cx="13042821" cy="238125"/>
          </a:xfrm>
          <a:prstGeom prst="rect">
            <a:avLst/>
          </a:prstGeom>
          <a:noFill/>
          <a:ln/>
        </p:spPr>
        <p:txBody>
          <a:bodyPr wrap="none" lIns="0" tIns="0" rIns="0" bIns="0" rtlCol="0" anchor="t"/>
          <a:lstStyle/>
          <a:p>
            <a:pPr marL="0" indent="0" algn="l">
              <a:lnSpc>
                <a:spcPts val="1850"/>
              </a:lnSpc>
              <a:buNone/>
            </a:pPr>
            <a:r>
              <a:rPr lang="en-US" sz="1300" dirty="0">
                <a:solidFill>
                  <a:srgbClr val="15213F"/>
                </a:solidFill>
                <a:latin typeface="Roboto" pitchFamily="34" charset="0"/>
                <a:ea typeface="Roboto" pitchFamily="34" charset="-122"/>
                <a:cs typeface="Roboto" pitchFamily="34" charset="-120"/>
              </a:rPr>
              <a:t>Input: </a:t>
            </a:r>
            <a:r>
              <a:rPr lang="en-US" sz="1300" i="1" dirty="0">
                <a:solidFill>
                  <a:srgbClr val="15213F"/>
                </a:solidFill>
                <a:latin typeface="Roboto" pitchFamily="34" charset="0"/>
                <a:ea typeface="Roboto" pitchFamily="34" charset="-122"/>
                <a:cs typeface="Roboto" pitchFamily="34" charset="-120"/>
              </a:rPr>
              <a:t>"All living organisms are made up of cells"</a:t>
            </a:r>
            <a:endParaRPr lang="en-US" sz="1300" dirty="0"/>
          </a:p>
        </p:txBody>
      </p:sp>
      <p:sp>
        <p:nvSpPr>
          <p:cNvPr id="5" name="Text 3"/>
          <p:cNvSpPr/>
          <p:nvPr/>
        </p:nvSpPr>
        <p:spPr>
          <a:xfrm>
            <a:off x="793790" y="2479000"/>
            <a:ext cx="2126456" cy="265747"/>
          </a:xfrm>
          <a:prstGeom prst="rect">
            <a:avLst/>
          </a:prstGeom>
          <a:noFill/>
          <a:ln/>
        </p:spPr>
        <p:txBody>
          <a:bodyPr wrap="none" lIns="0" tIns="0" rIns="0" bIns="0" rtlCol="0" anchor="t"/>
          <a:lstStyle/>
          <a:p>
            <a:pPr marL="0" indent="0" algn="l">
              <a:lnSpc>
                <a:spcPts val="2050"/>
              </a:lnSpc>
              <a:buNone/>
            </a:pPr>
            <a:r>
              <a:rPr lang="en-US" sz="1650" dirty="0">
                <a:solidFill>
                  <a:srgbClr val="3257B8"/>
                </a:solidFill>
                <a:latin typeface="Roboto Slab" pitchFamily="34" charset="0"/>
                <a:ea typeface="Roboto Slab" pitchFamily="34" charset="-122"/>
                <a:cs typeface="Roboto Slab" pitchFamily="34" charset="-120"/>
              </a:rPr>
              <a:t>Processing Steps</a:t>
            </a:r>
            <a:endParaRPr lang="en-US" sz="1650" dirty="0"/>
          </a:p>
        </p:txBody>
      </p:sp>
      <p:sp>
        <p:nvSpPr>
          <p:cNvPr id="6" name="Text 4"/>
          <p:cNvSpPr/>
          <p:nvPr/>
        </p:nvSpPr>
        <p:spPr>
          <a:xfrm>
            <a:off x="793790" y="2888218"/>
            <a:ext cx="170021" cy="212646"/>
          </a:xfrm>
          <a:prstGeom prst="rect">
            <a:avLst/>
          </a:prstGeom>
          <a:noFill/>
          <a:ln/>
        </p:spPr>
        <p:txBody>
          <a:bodyPr wrap="none" lIns="0" tIns="0" rIns="0" bIns="0" rtlCol="0" anchor="t"/>
          <a:lstStyle/>
          <a:p>
            <a:pPr marL="0" indent="0" algn="l">
              <a:lnSpc>
                <a:spcPts val="1850"/>
              </a:lnSpc>
              <a:buNone/>
            </a:pPr>
            <a:r>
              <a:rPr lang="en-US" sz="1300" dirty="0">
                <a:solidFill>
                  <a:srgbClr val="15213F"/>
                </a:solidFill>
                <a:latin typeface="Roboto Slab Light" pitchFamily="34" charset="0"/>
                <a:ea typeface="Roboto Slab Light" pitchFamily="34" charset="-122"/>
                <a:cs typeface="Roboto Slab Light" pitchFamily="34" charset="-120"/>
              </a:rPr>
              <a:t>01</a:t>
            </a:r>
            <a:endParaRPr lang="en-US" sz="1300" dirty="0"/>
          </a:p>
        </p:txBody>
      </p:sp>
      <p:pic>
        <p:nvPicPr>
          <p:cNvPr id="7" name="Image 0" descr="preencoded.png"/>
          <p:cNvPicPr>
            <a:picLocks noChangeAspect="1"/>
          </p:cNvPicPr>
          <p:nvPr/>
        </p:nvPicPr>
        <p:blipFill>
          <a:blip r:embed="rId3"/>
          <a:stretch>
            <a:fillRect/>
          </a:stretch>
        </p:blipFill>
        <p:spPr>
          <a:xfrm>
            <a:off x="793790" y="3154442"/>
            <a:ext cx="3093125" cy="22860"/>
          </a:xfrm>
          <a:prstGeom prst="rect">
            <a:avLst/>
          </a:prstGeom>
        </p:spPr>
      </p:pic>
      <p:sp>
        <p:nvSpPr>
          <p:cNvPr id="8" name="Text 5"/>
          <p:cNvSpPr/>
          <p:nvPr/>
        </p:nvSpPr>
        <p:spPr>
          <a:xfrm>
            <a:off x="793790" y="3285173"/>
            <a:ext cx="2565559" cy="265747"/>
          </a:xfrm>
          <a:prstGeom prst="rect">
            <a:avLst/>
          </a:prstGeom>
          <a:noFill/>
          <a:ln/>
        </p:spPr>
        <p:txBody>
          <a:bodyPr wrap="none" lIns="0" tIns="0" rIns="0" bIns="0" rtlCol="0" anchor="t"/>
          <a:lstStyle/>
          <a:p>
            <a:pPr marL="0" indent="0" algn="l">
              <a:lnSpc>
                <a:spcPts val="2050"/>
              </a:lnSpc>
              <a:buNone/>
            </a:pPr>
            <a:r>
              <a:rPr lang="en-US" sz="1650" dirty="0">
                <a:solidFill>
                  <a:srgbClr val="15213F"/>
                </a:solidFill>
                <a:latin typeface="Roboto Slab" pitchFamily="34" charset="0"/>
                <a:ea typeface="Roboto Slab" pitchFamily="34" charset="-122"/>
                <a:cs typeface="Roboto Slab" pitchFamily="34" charset="-120"/>
              </a:rPr>
              <a:t>Tokenization</a:t>
            </a:r>
          </a:p>
          <a:p>
            <a:pPr marL="0" indent="0" algn="l">
              <a:lnSpc>
                <a:spcPts val="2050"/>
              </a:lnSpc>
              <a:buNone/>
            </a:pPr>
            <a:r>
              <a:rPr lang="en-US" sz="1650" dirty="0">
                <a:solidFill>
                  <a:srgbClr val="15213F"/>
                </a:solidFill>
                <a:latin typeface="Roboto Slab" pitchFamily="34" charset="0"/>
                <a:ea typeface="Roboto Slab" pitchFamily="34" charset="-122"/>
                <a:cs typeface="Roboto Slab" pitchFamily="34" charset="-120"/>
              </a:rPr>
              <a:t>Simple Split: 8 Tokens</a:t>
            </a:r>
          </a:p>
          <a:p>
            <a:pPr marL="0" indent="0" algn="l">
              <a:lnSpc>
                <a:spcPts val="2050"/>
              </a:lnSpc>
              <a:buNone/>
            </a:pPr>
            <a:r>
              <a:rPr lang="en-US" sz="1650" dirty="0">
                <a:solidFill>
                  <a:srgbClr val="15213F"/>
                </a:solidFill>
                <a:latin typeface="Roboto Slab" pitchFamily="34" charset="0"/>
                <a:ea typeface="Roboto Slab" pitchFamily="34" charset="-122"/>
                <a:cs typeface="Roboto Slab" pitchFamily="34" charset="-120"/>
              </a:rPr>
              <a:t>NLTK Tokenize: 9 Tokens</a:t>
            </a:r>
            <a:endParaRPr lang="en-US" sz="1650" dirty="0"/>
          </a:p>
        </p:txBody>
      </p:sp>
      <p:sp>
        <p:nvSpPr>
          <p:cNvPr id="9" name="Text 6"/>
          <p:cNvSpPr/>
          <p:nvPr/>
        </p:nvSpPr>
        <p:spPr>
          <a:xfrm>
            <a:off x="4015799" y="2781895"/>
            <a:ext cx="170021" cy="212646"/>
          </a:xfrm>
          <a:prstGeom prst="rect">
            <a:avLst/>
          </a:prstGeom>
          <a:noFill/>
          <a:ln/>
        </p:spPr>
        <p:txBody>
          <a:bodyPr wrap="none" lIns="0" tIns="0" rIns="0" bIns="0" rtlCol="0" anchor="t"/>
          <a:lstStyle/>
          <a:p>
            <a:pPr marL="0" indent="0" algn="l">
              <a:lnSpc>
                <a:spcPts val="1850"/>
              </a:lnSpc>
              <a:buNone/>
            </a:pPr>
            <a:r>
              <a:rPr lang="en-US" sz="1300" dirty="0">
                <a:solidFill>
                  <a:srgbClr val="15213F"/>
                </a:solidFill>
                <a:latin typeface="Roboto Slab Light" pitchFamily="34" charset="0"/>
                <a:ea typeface="Roboto Slab Light" pitchFamily="34" charset="-122"/>
                <a:cs typeface="Roboto Slab Light" pitchFamily="34" charset="-120"/>
              </a:rPr>
              <a:t>02</a:t>
            </a:r>
            <a:endParaRPr lang="en-US" sz="1300" dirty="0"/>
          </a:p>
        </p:txBody>
      </p:sp>
      <p:pic>
        <p:nvPicPr>
          <p:cNvPr id="10" name="Image 1" descr="preencoded.png"/>
          <p:cNvPicPr>
            <a:picLocks noChangeAspect="1"/>
          </p:cNvPicPr>
          <p:nvPr/>
        </p:nvPicPr>
        <p:blipFill>
          <a:blip r:embed="rId3"/>
          <a:stretch>
            <a:fillRect/>
          </a:stretch>
        </p:blipFill>
        <p:spPr>
          <a:xfrm>
            <a:off x="4014430" y="3154442"/>
            <a:ext cx="3093244" cy="22860"/>
          </a:xfrm>
          <a:prstGeom prst="rect">
            <a:avLst/>
          </a:prstGeom>
        </p:spPr>
      </p:pic>
      <p:sp>
        <p:nvSpPr>
          <p:cNvPr id="11" name="Text 7"/>
          <p:cNvSpPr/>
          <p:nvPr/>
        </p:nvSpPr>
        <p:spPr>
          <a:xfrm>
            <a:off x="4014430" y="3285173"/>
            <a:ext cx="2298502" cy="265747"/>
          </a:xfrm>
          <a:prstGeom prst="rect">
            <a:avLst/>
          </a:prstGeom>
          <a:noFill/>
          <a:ln/>
        </p:spPr>
        <p:txBody>
          <a:bodyPr wrap="none" lIns="0" tIns="0" rIns="0" bIns="0" rtlCol="0" anchor="t"/>
          <a:lstStyle/>
          <a:p>
            <a:pPr marL="0" indent="0" algn="l">
              <a:lnSpc>
                <a:spcPts val="2050"/>
              </a:lnSpc>
              <a:buNone/>
            </a:pPr>
            <a:r>
              <a:rPr lang="en-US" sz="1650" dirty="0">
                <a:solidFill>
                  <a:srgbClr val="15213F"/>
                </a:solidFill>
                <a:latin typeface="Roboto Slab" pitchFamily="34" charset="0"/>
                <a:ea typeface="Roboto Slab" pitchFamily="34" charset="-122"/>
                <a:cs typeface="Roboto Slab" pitchFamily="34" charset="-120"/>
              </a:rPr>
              <a:t>Stop Removal → 5 kept</a:t>
            </a:r>
            <a:endParaRPr lang="en-US" sz="1650" dirty="0"/>
          </a:p>
        </p:txBody>
      </p:sp>
      <p:sp>
        <p:nvSpPr>
          <p:cNvPr id="12" name="Text 8"/>
          <p:cNvSpPr/>
          <p:nvPr/>
        </p:nvSpPr>
        <p:spPr>
          <a:xfrm>
            <a:off x="4014430" y="3678436"/>
            <a:ext cx="3093244" cy="476250"/>
          </a:xfrm>
          <a:prstGeom prst="rect">
            <a:avLst/>
          </a:prstGeom>
          <a:noFill/>
          <a:ln/>
        </p:spPr>
        <p:txBody>
          <a:bodyPr wrap="square" lIns="0" tIns="0" rIns="0" bIns="0" rtlCol="0" anchor="t"/>
          <a:lstStyle/>
          <a:p>
            <a:pPr marL="0" indent="0" algn="l">
              <a:lnSpc>
                <a:spcPts val="1850"/>
              </a:lnSpc>
              <a:buNone/>
            </a:pPr>
            <a:r>
              <a:rPr lang="en-US" sz="1300" dirty="0">
                <a:solidFill>
                  <a:srgbClr val="15213F"/>
                </a:solidFill>
                <a:latin typeface="Roboto" pitchFamily="34" charset="0"/>
                <a:ea typeface="Roboto" pitchFamily="34" charset="-122"/>
                <a:cs typeface="Roboto" pitchFamily="34" charset="-120"/>
              </a:rPr>
              <a:t>[all, living, organisms, made, cells]</a:t>
            </a:r>
            <a:endParaRPr lang="en-US" sz="1300" dirty="0"/>
          </a:p>
        </p:txBody>
      </p:sp>
      <p:sp>
        <p:nvSpPr>
          <p:cNvPr id="13" name="Shape 9"/>
          <p:cNvSpPr/>
          <p:nvPr/>
        </p:nvSpPr>
        <p:spPr>
          <a:xfrm>
            <a:off x="793790" y="4408646"/>
            <a:ext cx="6313884" cy="2858929"/>
          </a:xfrm>
          <a:prstGeom prst="roundRect">
            <a:avLst>
              <a:gd name="adj" fmla="val 893"/>
            </a:avLst>
          </a:prstGeom>
          <a:noFill/>
          <a:ln w="7620">
            <a:solidFill>
              <a:srgbClr val="000000">
                <a:alpha val="8000"/>
              </a:srgbClr>
            </a:solidFill>
            <a:prstDash val="solid"/>
          </a:ln>
        </p:spPr>
      </p:sp>
      <p:sp>
        <p:nvSpPr>
          <p:cNvPr id="14" name="Shape 10"/>
          <p:cNvSpPr/>
          <p:nvPr/>
        </p:nvSpPr>
        <p:spPr>
          <a:xfrm>
            <a:off x="801410" y="4416266"/>
            <a:ext cx="6298644" cy="406241"/>
          </a:xfrm>
          <a:prstGeom prst="rect">
            <a:avLst/>
          </a:prstGeom>
          <a:solidFill>
            <a:srgbClr val="FFFFFF">
              <a:alpha val="4000"/>
            </a:srgbClr>
          </a:solidFill>
          <a:ln/>
        </p:spPr>
      </p:sp>
      <p:sp>
        <p:nvSpPr>
          <p:cNvPr id="15" name="Text 11"/>
          <p:cNvSpPr/>
          <p:nvPr/>
        </p:nvSpPr>
        <p:spPr>
          <a:xfrm>
            <a:off x="963788" y="4885269"/>
            <a:ext cx="1797606" cy="238125"/>
          </a:xfrm>
          <a:prstGeom prst="rect">
            <a:avLst/>
          </a:prstGeom>
          <a:noFill/>
          <a:ln/>
        </p:spPr>
        <p:txBody>
          <a:bodyPr wrap="none" lIns="0" tIns="0" rIns="0" bIns="0" rtlCol="0" anchor="t"/>
          <a:lstStyle/>
          <a:p>
            <a:pPr marL="0" indent="0" algn="l">
              <a:lnSpc>
                <a:spcPts val="1850"/>
              </a:lnSpc>
              <a:buNone/>
            </a:pPr>
            <a:r>
              <a:rPr lang="en-US" sz="1300" b="1" dirty="0">
                <a:solidFill>
                  <a:srgbClr val="15213F"/>
                </a:solidFill>
                <a:latin typeface="Roboto" pitchFamily="34" charset="0"/>
                <a:ea typeface="Roboto" pitchFamily="34" charset="-122"/>
                <a:cs typeface="Roboto" pitchFamily="34" charset="-120"/>
              </a:rPr>
              <a:t>Token</a:t>
            </a:r>
            <a:endParaRPr lang="en-US" sz="1300" dirty="0"/>
          </a:p>
        </p:txBody>
      </p:sp>
      <p:sp>
        <p:nvSpPr>
          <p:cNvPr id="16" name="Text 12"/>
          <p:cNvSpPr/>
          <p:nvPr/>
        </p:nvSpPr>
        <p:spPr>
          <a:xfrm>
            <a:off x="3109056" y="4885269"/>
            <a:ext cx="1730812" cy="238125"/>
          </a:xfrm>
          <a:prstGeom prst="rect">
            <a:avLst/>
          </a:prstGeom>
          <a:noFill/>
          <a:ln/>
        </p:spPr>
        <p:txBody>
          <a:bodyPr wrap="none" lIns="0" tIns="0" rIns="0" bIns="0" rtlCol="0" anchor="t"/>
          <a:lstStyle/>
          <a:p>
            <a:pPr marL="0" indent="0" algn="l">
              <a:lnSpc>
                <a:spcPts val="1850"/>
              </a:lnSpc>
              <a:buNone/>
            </a:pPr>
            <a:r>
              <a:rPr lang="en-US" sz="1300" b="1" dirty="0">
                <a:solidFill>
                  <a:srgbClr val="15213F"/>
                </a:solidFill>
                <a:latin typeface="Roboto" pitchFamily="34" charset="0"/>
                <a:ea typeface="Roboto" pitchFamily="34" charset="-122"/>
                <a:cs typeface="Roboto" pitchFamily="34" charset="-120"/>
              </a:rPr>
              <a:t>Porter</a:t>
            </a:r>
            <a:endParaRPr lang="en-US" sz="1300" dirty="0"/>
          </a:p>
        </p:txBody>
      </p:sp>
      <p:sp>
        <p:nvSpPr>
          <p:cNvPr id="17" name="Text 13"/>
          <p:cNvSpPr/>
          <p:nvPr/>
        </p:nvSpPr>
        <p:spPr>
          <a:xfrm>
            <a:off x="5187530" y="4885269"/>
            <a:ext cx="1734622" cy="238125"/>
          </a:xfrm>
          <a:prstGeom prst="rect">
            <a:avLst/>
          </a:prstGeom>
          <a:noFill/>
          <a:ln/>
        </p:spPr>
        <p:txBody>
          <a:bodyPr wrap="none" lIns="0" tIns="0" rIns="0" bIns="0" rtlCol="0" anchor="t"/>
          <a:lstStyle/>
          <a:p>
            <a:pPr marL="0" indent="0" algn="l">
              <a:lnSpc>
                <a:spcPts val="1850"/>
              </a:lnSpc>
              <a:buNone/>
            </a:pPr>
            <a:r>
              <a:rPr lang="en-US" sz="1300" b="1" dirty="0">
                <a:solidFill>
                  <a:srgbClr val="15213F"/>
                </a:solidFill>
                <a:latin typeface="Roboto" pitchFamily="34" charset="0"/>
                <a:ea typeface="Roboto" pitchFamily="34" charset="-122"/>
                <a:cs typeface="Roboto" pitchFamily="34" charset="-120"/>
              </a:rPr>
              <a:t>Lancaster</a:t>
            </a:r>
            <a:endParaRPr lang="en-US" sz="1300" dirty="0"/>
          </a:p>
        </p:txBody>
      </p:sp>
      <p:sp>
        <p:nvSpPr>
          <p:cNvPr id="19" name="Text 15"/>
          <p:cNvSpPr/>
          <p:nvPr/>
        </p:nvSpPr>
        <p:spPr>
          <a:xfrm>
            <a:off x="963788" y="5291511"/>
            <a:ext cx="1797606" cy="238125"/>
          </a:xfrm>
          <a:prstGeom prst="rect">
            <a:avLst/>
          </a:prstGeom>
          <a:noFill/>
          <a:ln/>
        </p:spPr>
        <p:txBody>
          <a:bodyPr wrap="none" lIns="0" tIns="0" rIns="0" bIns="0" rtlCol="0" anchor="t"/>
          <a:lstStyle/>
          <a:p>
            <a:pPr marL="0" indent="0" algn="l">
              <a:lnSpc>
                <a:spcPts val="1850"/>
              </a:lnSpc>
              <a:buNone/>
            </a:pPr>
            <a:r>
              <a:rPr lang="en-US" sz="1300" dirty="0">
                <a:solidFill>
                  <a:srgbClr val="15213F"/>
                </a:solidFill>
                <a:latin typeface="Roboto" pitchFamily="34" charset="0"/>
                <a:ea typeface="Roboto" pitchFamily="34" charset="-122"/>
                <a:cs typeface="Roboto" pitchFamily="34" charset="-120"/>
              </a:rPr>
              <a:t>all	</a:t>
            </a:r>
            <a:endParaRPr lang="en-US" sz="1300" dirty="0"/>
          </a:p>
        </p:txBody>
      </p:sp>
      <p:sp>
        <p:nvSpPr>
          <p:cNvPr id="20" name="Text 16"/>
          <p:cNvSpPr/>
          <p:nvPr/>
        </p:nvSpPr>
        <p:spPr>
          <a:xfrm>
            <a:off x="3109056" y="5291511"/>
            <a:ext cx="1730812" cy="238125"/>
          </a:xfrm>
          <a:prstGeom prst="rect">
            <a:avLst/>
          </a:prstGeom>
          <a:noFill/>
          <a:ln/>
        </p:spPr>
        <p:txBody>
          <a:bodyPr wrap="none" lIns="0" tIns="0" rIns="0" bIns="0" rtlCol="0" anchor="t"/>
          <a:lstStyle/>
          <a:p>
            <a:pPr marL="0" indent="0" algn="l">
              <a:lnSpc>
                <a:spcPts val="1850"/>
              </a:lnSpc>
              <a:buNone/>
            </a:pPr>
            <a:r>
              <a:rPr lang="en-US" sz="1300" dirty="0">
                <a:solidFill>
                  <a:srgbClr val="15213F"/>
                </a:solidFill>
                <a:latin typeface="Roboto" pitchFamily="34" charset="0"/>
                <a:ea typeface="Roboto" pitchFamily="34" charset="-122"/>
                <a:cs typeface="Roboto" pitchFamily="34" charset="-120"/>
              </a:rPr>
              <a:t>all	</a:t>
            </a:r>
            <a:endParaRPr lang="en-US" sz="1300" dirty="0"/>
          </a:p>
        </p:txBody>
      </p:sp>
      <p:sp>
        <p:nvSpPr>
          <p:cNvPr id="21" name="Text 17"/>
          <p:cNvSpPr/>
          <p:nvPr/>
        </p:nvSpPr>
        <p:spPr>
          <a:xfrm>
            <a:off x="5187530" y="5291511"/>
            <a:ext cx="1734622" cy="238125"/>
          </a:xfrm>
          <a:prstGeom prst="rect">
            <a:avLst/>
          </a:prstGeom>
          <a:noFill/>
          <a:ln/>
        </p:spPr>
        <p:txBody>
          <a:bodyPr wrap="none" lIns="0" tIns="0" rIns="0" bIns="0" rtlCol="0" anchor="t"/>
          <a:lstStyle/>
          <a:p>
            <a:pPr>
              <a:lnSpc>
                <a:spcPts val="1850"/>
              </a:lnSpc>
            </a:pPr>
            <a:r>
              <a:rPr lang="en-US" sz="1300" dirty="0">
                <a:solidFill>
                  <a:srgbClr val="15213F"/>
                </a:solidFill>
                <a:latin typeface="Roboto" pitchFamily="34" charset="0"/>
                <a:ea typeface="Roboto" pitchFamily="34" charset="-122"/>
                <a:cs typeface="Roboto" pitchFamily="34" charset="-120"/>
              </a:rPr>
              <a:t>al ←</a:t>
            </a:r>
            <a:endParaRPr lang="en-US" sz="1300" dirty="0"/>
          </a:p>
        </p:txBody>
      </p:sp>
      <p:sp>
        <p:nvSpPr>
          <p:cNvPr id="22" name="Shape 18"/>
          <p:cNvSpPr/>
          <p:nvPr/>
        </p:nvSpPr>
        <p:spPr>
          <a:xfrm>
            <a:off x="793529" y="5596668"/>
            <a:ext cx="6298644" cy="406241"/>
          </a:xfrm>
          <a:prstGeom prst="rect">
            <a:avLst/>
          </a:prstGeom>
          <a:solidFill>
            <a:srgbClr val="FFFFFF">
              <a:alpha val="4000"/>
            </a:srgbClr>
          </a:solidFill>
          <a:ln/>
        </p:spPr>
        <p:txBody>
          <a:bodyPr/>
          <a:lstStyle/>
          <a:p>
            <a:endParaRPr lang="en-IN" dirty="0"/>
          </a:p>
        </p:txBody>
      </p:sp>
      <p:sp>
        <p:nvSpPr>
          <p:cNvPr id="23" name="Text 19"/>
          <p:cNvSpPr/>
          <p:nvPr/>
        </p:nvSpPr>
        <p:spPr>
          <a:xfrm>
            <a:off x="963788" y="5697752"/>
            <a:ext cx="1797606" cy="238125"/>
          </a:xfrm>
          <a:prstGeom prst="rect">
            <a:avLst/>
          </a:prstGeom>
          <a:noFill/>
          <a:ln/>
        </p:spPr>
        <p:txBody>
          <a:bodyPr wrap="none" lIns="0" tIns="0" rIns="0" bIns="0" rtlCol="0" anchor="t"/>
          <a:lstStyle/>
          <a:p>
            <a:pPr marL="0" indent="0" algn="l">
              <a:lnSpc>
                <a:spcPts val="1850"/>
              </a:lnSpc>
              <a:buNone/>
            </a:pPr>
            <a:r>
              <a:rPr lang="en-US" sz="1300" dirty="0">
                <a:solidFill>
                  <a:srgbClr val="15213F"/>
                </a:solidFill>
                <a:latin typeface="Roboto" pitchFamily="34" charset="0"/>
                <a:ea typeface="Roboto" pitchFamily="34" charset="-122"/>
                <a:cs typeface="Roboto" pitchFamily="34" charset="-120"/>
              </a:rPr>
              <a:t>living</a:t>
            </a:r>
            <a:endParaRPr lang="en-US" sz="1300" dirty="0"/>
          </a:p>
        </p:txBody>
      </p:sp>
      <p:sp>
        <p:nvSpPr>
          <p:cNvPr id="24" name="Text 20"/>
          <p:cNvSpPr/>
          <p:nvPr/>
        </p:nvSpPr>
        <p:spPr>
          <a:xfrm>
            <a:off x="3109056" y="5697752"/>
            <a:ext cx="1730812" cy="238125"/>
          </a:xfrm>
          <a:prstGeom prst="rect">
            <a:avLst/>
          </a:prstGeom>
          <a:noFill/>
          <a:ln/>
        </p:spPr>
        <p:txBody>
          <a:bodyPr wrap="none" lIns="0" tIns="0" rIns="0" bIns="0" rtlCol="0" anchor="t"/>
          <a:lstStyle/>
          <a:p>
            <a:pPr marL="0" indent="0" algn="l">
              <a:lnSpc>
                <a:spcPts val="1850"/>
              </a:lnSpc>
              <a:buNone/>
            </a:pPr>
            <a:r>
              <a:rPr lang="en-US" sz="1300" dirty="0">
                <a:solidFill>
                  <a:srgbClr val="15213F"/>
                </a:solidFill>
                <a:latin typeface="Roboto" pitchFamily="34" charset="0"/>
                <a:ea typeface="Roboto" pitchFamily="34" charset="-122"/>
                <a:cs typeface="Roboto" pitchFamily="34" charset="-120"/>
              </a:rPr>
              <a:t>live ←</a:t>
            </a:r>
            <a:endParaRPr lang="en-US" sz="1300" dirty="0"/>
          </a:p>
        </p:txBody>
      </p:sp>
      <p:sp>
        <p:nvSpPr>
          <p:cNvPr id="25" name="Text 21"/>
          <p:cNvSpPr/>
          <p:nvPr/>
        </p:nvSpPr>
        <p:spPr>
          <a:xfrm>
            <a:off x="5187530" y="5697752"/>
            <a:ext cx="1734622" cy="238125"/>
          </a:xfrm>
          <a:prstGeom prst="rect">
            <a:avLst/>
          </a:prstGeom>
          <a:noFill/>
          <a:ln/>
        </p:spPr>
        <p:txBody>
          <a:bodyPr wrap="none" lIns="0" tIns="0" rIns="0" bIns="0" rtlCol="0" anchor="t"/>
          <a:lstStyle/>
          <a:p>
            <a:pPr marL="0" indent="0" algn="l">
              <a:lnSpc>
                <a:spcPts val="1850"/>
              </a:lnSpc>
              <a:buNone/>
            </a:pPr>
            <a:r>
              <a:rPr lang="en-US" sz="1300" dirty="0">
                <a:solidFill>
                  <a:srgbClr val="15213F"/>
                </a:solidFill>
                <a:latin typeface="Roboto" pitchFamily="34" charset="0"/>
                <a:ea typeface="Roboto" pitchFamily="34" charset="-122"/>
                <a:cs typeface="Roboto" pitchFamily="34" charset="-120"/>
              </a:rPr>
              <a:t>liv ←</a:t>
            </a:r>
            <a:endParaRPr lang="en-US" sz="1300" dirty="0"/>
          </a:p>
        </p:txBody>
      </p:sp>
      <p:sp>
        <p:nvSpPr>
          <p:cNvPr id="26" name="Shape 22"/>
          <p:cNvSpPr/>
          <p:nvPr/>
        </p:nvSpPr>
        <p:spPr>
          <a:xfrm>
            <a:off x="793529" y="5975125"/>
            <a:ext cx="6298644" cy="406241"/>
          </a:xfrm>
          <a:prstGeom prst="rect">
            <a:avLst/>
          </a:prstGeom>
          <a:solidFill>
            <a:srgbClr val="000000">
              <a:alpha val="4000"/>
            </a:srgbClr>
          </a:solidFill>
          <a:ln/>
        </p:spPr>
        <p:txBody>
          <a:bodyPr/>
          <a:lstStyle/>
          <a:p>
            <a:endParaRPr lang="en-IN"/>
          </a:p>
        </p:txBody>
      </p:sp>
      <p:sp>
        <p:nvSpPr>
          <p:cNvPr id="27" name="Text 23"/>
          <p:cNvSpPr/>
          <p:nvPr/>
        </p:nvSpPr>
        <p:spPr>
          <a:xfrm>
            <a:off x="963788" y="6103993"/>
            <a:ext cx="1797606" cy="238125"/>
          </a:xfrm>
          <a:prstGeom prst="rect">
            <a:avLst/>
          </a:prstGeom>
          <a:noFill/>
          <a:ln/>
        </p:spPr>
        <p:txBody>
          <a:bodyPr wrap="none" lIns="0" tIns="0" rIns="0" bIns="0" rtlCol="0" anchor="t"/>
          <a:lstStyle/>
          <a:p>
            <a:pPr>
              <a:lnSpc>
                <a:spcPts val="1850"/>
              </a:lnSpc>
            </a:pPr>
            <a:r>
              <a:rPr lang="en-US" sz="1300" dirty="0">
                <a:solidFill>
                  <a:srgbClr val="15213F"/>
                </a:solidFill>
                <a:latin typeface="Roboto" pitchFamily="34" charset="0"/>
                <a:ea typeface="Roboto" pitchFamily="34" charset="-122"/>
                <a:cs typeface="Roboto" pitchFamily="34" charset="-120"/>
              </a:rPr>
              <a:t>organisms</a:t>
            </a:r>
            <a:endParaRPr lang="en-US" sz="1300" dirty="0"/>
          </a:p>
        </p:txBody>
      </p:sp>
      <p:sp>
        <p:nvSpPr>
          <p:cNvPr id="28" name="Text 24"/>
          <p:cNvSpPr/>
          <p:nvPr/>
        </p:nvSpPr>
        <p:spPr>
          <a:xfrm>
            <a:off x="3109056" y="6103993"/>
            <a:ext cx="1730812" cy="238125"/>
          </a:xfrm>
          <a:prstGeom prst="rect">
            <a:avLst/>
          </a:prstGeom>
          <a:noFill/>
          <a:ln/>
        </p:spPr>
        <p:txBody>
          <a:bodyPr wrap="none" lIns="0" tIns="0" rIns="0" bIns="0" rtlCol="0" anchor="t"/>
          <a:lstStyle/>
          <a:p>
            <a:pPr>
              <a:lnSpc>
                <a:spcPts val="1850"/>
              </a:lnSpc>
            </a:pPr>
            <a:r>
              <a:rPr lang="en-US" sz="1300" dirty="0">
                <a:solidFill>
                  <a:srgbClr val="15213F"/>
                </a:solidFill>
                <a:latin typeface="Roboto" pitchFamily="34" charset="0"/>
                <a:ea typeface="Roboto" pitchFamily="34" charset="-122"/>
                <a:cs typeface="Roboto" pitchFamily="34" charset="-120"/>
              </a:rPr>
              <a:t>organ ←</a:t>
            </a:r>
            <a:endParaRPr lang="en-US" sz="1300" dirty="0"/>
          </a:p>
        </p:txBody>
      </p:sp>
      <p:sp>
        <p:nvSpPr>
          <p:cNvPr id="29" name="Text 25"/>
          <p:cNvSpPr/>
          <p:nvPr/>
        </p:nvSpPr>
        <p:spPr>
          <a:xfrm>
            <a:off x="5187530" y="6103993"/>
            <a:ext cx="1734622" cy="238125"/>
          </a:xfrm>
          <a:prstGeom prst="rect">
            <a:avLst/>
          </a:prstGeom>
          <a:noFill/>
          <a:ln/>
        </p:spPr>
        <p:txBody>
          <a:bodyPr wrap="none" lIns="0" tIns="0" rIns="0" bIns="0" rtlCol="0" anchor="t"/>
          <a:lstStyle/>
          <a:p>
            <a:pPr>
              <a:lnSpc>
                <a:spcPts val="1850"/>
              </a:lnSpc>
            </a:pPr>
            <a:r>
              <a:rPr lang="en-US" sz="1300" dirty="0">
                <a:solidFill>
                  <a:srgbClr val="15213F"/>
                </a:solidFill>
                <a:latin typeface="Roboto" pitchFamily="34" charset="0"/>
                <a:ea typeface="Roboto" pitchFamily="34" charset="-122"/>
                <a:cs typeface="Roboto" pitchFamily="34" charset="-120"/>
              </a:rPr>
              <a:t>org ←</a:t>
            </a:r>
            <a:endParaRPr lang="en-US" sz="1300" dirty="0"/>
          </a:p>
        </p:txBody>
      </p:sp>
      <p:sp>
        <p:nvSpPr>
          <p:cNvPr id="30" name="Shape 26"/>
          <p:cNvSpPr/>
          <p:nvPr/>
        </p:nvSpPr>
        <p:spPr>
          <a:xfrm>
            <a:off x="793529" y="6409150"/>
            <a:ext cx="6298644" cy="406241"/>
          </a:xfrm>
          <a:prstGeom prst="rect">
            <a:avLst/>
          </a:prstGeom>
          <a:solidFill>
            <a:srgbClr val="FFFFFF">
              <a:alpha val="4000"/>
            </a:srgbClr>
          </a:solidFill>
          <a:ln/>
        </p:spPr>
        <p:txBody>
          <a:bodyPr/>
          <a:lstStyle/>
          <a:p>
            <a:endParaRPr lang="en-IN" dirty="0"/>
          </a:p>
        </p:txBody>
      </p:sp>
      <p:sp>
        <p:nvSpPr>
          <p:cNvPr id="31" name="Text 27"/>
          <p:cNvSpPr/>
          <p:nvPr/>
        </p:nvSpPr>
        <p:spPr>
          <a:xfrm>
            <a:off x="963788" y="6510234"/>
            <a:ext cx="1797606" cy="238125"/>
          </a:xfrm>
          <a:prstGeom prst="rect">
            <a:avLst/>
          </a:prstGeom>
          <a:noFill/>
          <a:ln/>
        </p:spPr>
        <p:txBody>
          <a:bodyPr wrap="none" lIns="0" tIns="0" rIns="0" bIns="0" rtlCol="0" anchor="t"/>
          <a:lstStyle/>
          <a:p>
            <a:pPr marL="0" indent="0" algn="l">
              <a:lnSpc>
                <a:spcPts val="1850"/>
              </a:lnSpc>
              <a:buNone/>
            </a:pPr>
            <a:r>
              <a:rPr lang="en-US" sz="1300" dirty="0">
                <a:solidFill>
                  <a:srgbClr val="15213F"/>
                </a:solidFill>
                <a:latin typeface="Roboto" pitchFamily="34" charset="0"/>
                <a:ea typeface="Roboto" pitchFamily="34" charset="-122"/>
                <a:cs typeface="Roboto" pitchFamily="34" charset="-120"/>
              </a:rPr>
              <a:t>made</a:t>
            </a:r>
            <a:endParaRPr lang="en-US" sz="1300" dirty="0"/>
          </a:p>
        </p:txBody>
      </p:sp>
      <p:sp>
        <p:nvSpPr>
          <p:cNvPr id="32" name="Text 28"/>
          <p:cNvSpPr/>
          <p:nvPr/>
        </p:nvSpPr>
        <p:spPr>
          <a:xfrm>
            <a:off x="3109056" y="6510234"/>
            <a:ext cx="1730812" cy="238125"/>
          </a:xfrm>
          <a:prstGeom prst="rect">
            <a:avLst/>
          </a:prstGeom>
          <a:noFill/>
          <a:ln/>
        </p:spPr>
        <p:txBody>
          <a:bodyPr wrap="none" lIns="0" tIns="0" rIns="0" bIns="0" rtlCol="0" anchor="t"/>
          <a:lstStyle/>
          <a:p>
            <a:pPr marL="0" indent="0" algn="l">
              <a:lnSpc>
                <a:spcPts val="1850"/>
              </a:lnSpc>
              <a:buNone/>
            </a:pPr>
            <a:r>
              <a:rPr lang="en-US" sz="1300" dirty="0">
                <a:solidFill>
                  <a:srgbClr val="15213F"/>
                </a:solidFill>
                <a:latin typeface="Roboto" pitchFamily="34" charset="0"/>
                <a:ea typeface="Roboto" pitchFamily="34" charset="-122"/>
                <a:cs typeface="Roboto" pitchFamily="34" charset="-120"/>
              </a:rPr>
              <a:t>made </a:t>
            </a:r>
            <a:endParaRPr lang="en-US" sz="1300" dirty="0"/>
          </a:p>
        </p:txBody>
      </p:sp>
      <p:sp>
        <p:nvSpPr>
          <p:cNvPr id="33" name="Text 29"/>
          <p:cNvSpPr/>
          <p:nvPr/>
        </p:nvSpPr>
        <p:spPr>
          <a:xfrm>
            <a:off x="5187530" y="6510234"/>
            <a:ext cx="1734622" cy="238125"/>
          </a:xfrm>
          <a:prstGeom prst="rect">
            <a:avLst/>
          </a:prstGeom>
          <a:noFill/>
          <a:ln/>
        </p:spPr>
        <p:txBody>
          <a:bodyPr wrap="none" lIns="0" tIns="0" rIns="0" bIns="0" rtlCol="0" anchor="t"/>
          <a:lstStyle/>
          <a:p>
            <a:pPr>
              <a:lnSpc>
                <a:spcPts val="1850"/>
              </a:lnSpc>
            </a:pPr>
            <a:r>
              <a:rPr lang="en-US" sz="1300" dirty="0"/>
              <a:t>mad </a:t>
            </a:r>
            <a:r>
              <a:rPr lang="en-US" sz="1300" dirty="0">
                <a:solidFill>
                  <a:srgbClr val="15213F"/>
                </a:solidFill>
                <a:latin typeface="Roboto" pitchFamily="34" charset="0"/>
                <a:ea typeface="Roboto" pitchFamily="34" charset="-122"/>
                <a:cs typeface="Roboto" pitchFamily="34" charset="-120"/>
              </a:rPr>
              <a:t>←</a:t>
            </a:r>
            <a:endParaRPr lang="en-US" sz="1300" dirty="0"/>
          </a:p>
        </p:txBody>
      </p:sp>
      <p:sp>
        <p:nvSpPr>
          <p:cNvPr id="34" name="Shape 30"/>
          <p:cNvSpPr/>
          <p:nvPr/>
        </p:nvSpPr>
        <p:spPr>
          <a:xfrm>
            <a:off x="793529" y="6815392"/>
            <a:ext cx="6298644" cy="406241"/>
          </a:xfrm>
          <a:prstGeom prst="rect">
            <a:avLst/>
          </a:prstGeom>
          <a:solidFill>
            <a:srgbClr val="000000">
              <a:alpha val="4000"/>
            </a:srgbClr>
          </a:solidFill>
          <a:ln/>
        </p:spPr>
      </p:sp>
      <p:sp>
        <p:nvSpPr>
          <p:cNvPr id="35" name="Text 31"/>
          <p:cNvSpPr/>
          <p:nvPr/>
        </p:nvSpPr>
        <p:spPr>
          <a:xfrm>
            <a:off x="963788" y="6916476"/>
            <a:ext cx="1797606" cy="238125"/>
          </a:xfrm>
          <a:prstGeom prst="rect">
            <a:avLst/>
          </a:prstGeom>
          <a:noFill/>
          <a:ln/>
        </p:spPr>
        <p:txBody>
          <a:bodyPr wrap="none" lIns="0" tIns="0" rIns="0" bIns="0" rtlCol="0" anchor="t"/>
          <a:lstStyle/>
          <a:p>
            <a:pPr>
              <a:lnSpc>
                <a:spcPts val="1850"/>
              </a:lnSpc>
            </a:pPr>
            <a:r>
              <a:rPr lang="en-US" sz="1300" dirty="0">
                <a:solidFill>
                  <a:srgbClr val="15213F"/>
                </a:solidFill>
                <a:latin typeface="Roboto" pitchFamily="34" charset="0"/>
                <a:ea typeface="Roboto" pitchFamily="34" charset="-122"/>
                <a:cs typeface="Roboto" pitchFamily="34" charset="-120"/>
              </a:rPr>
              <a:t>cells</a:t>
            </a:r>
            <a:endParaRPr lang="en-US" sz="1300" dirty="0"/>
          </a:p>
        </p:txBody>
      </p:sp>
      <p:sp>
        <p:nvSpPr>
          <p:cNvPr id="36" name="Text 32"/>
          <p:cNvSpPr/>
          <p:nvPr/>
        </p:nvSpPr>
        <p:spPr>
          <a:xfrm>
            <a:off x="3109056" y="6916476"/>
            <a:ext cx="1730812" cy="238125"/>
          </a:xfrm>
          <a:prstGeom prst="rect">
            <a:avLst/>
          </a:prstGeom>
          <a:noFill/>
          <a:ln/>
        </p:spPr>
        <p:txBody>
          <a:bodyPr wrap="none" lIns="0" tIns="0" rIns="0" bIns="0" rtlCol="0" anchor="t"/>
          <a:lstStyle/>
          <a:p>
            <a:pPr>
              <a:lnSpc>
                <a:spcPts val="1850"/>
              </a:lnSpc>
            </a:pPr>
            <a:r>
              <a:rPr lang="en-US" sz="1300" dirty="0">
                <a:solidFill>
                  <a:srgbClr val="15213F"/>
                </a:solidFill>
                <a:latin typeface="Roboto" pitchFamily="34" charset="0"/>
                <a:ea typeface="Roboto" pitchFamily="34" charset="-122"/>
                <a:cs typeface="Roboto" pitchFamily="34" charset="-120"/>
              </a:rPr>
              <a:t>cell ← </a:t>
            </a:r>
            <a:endParaRPr lang="en-US" sz="1300" dirty="0"/>
          </a:p>
        </p:txBody>
      </p:sp>
      <p:sp>
        <p:nvSpPr>
          <p:cNvPr id="37" name="Text 33"/>
          <p:cNvSpPr/>
          <p:nvPr/>
        </p:nvSpPr>
        <p:spPr>
          <a:xfrm>
            <a:off x="5187530" y="6925903"/>
            <a:ext cx="1734622" cy="238125"/>
          </a:xfrm>
          <a:prstGeom prst="rect">
            <a:avLst/>
          </a:prstGeom>
          <a:noFill/>
          <a:ln/>
        </p:spPr>
        <p:txBody>
          <a:bodyPr wrap="none" lIns="0" tIns="0" rIns="0" bIns="0" rtlCol="0" anchor="t"/>
          <a:lstStyle/>
          <a:p>
            <a:pPr>
              <a:lnSpc>
                <a:spcPts val="1850"/>
              </a:lnSpc>
            </a:pPr>
            <a:r>
              <a:rPr lang="en-US" sz="1300" dirty="0">
                <a:solidFill>
                  <a:srgbClr val="15213F"/>
                </a:solidFill>
                <a:latin typeface="Roboto" pitchFamily="34" charset="0"/>
                <a:ea typeface="Roboto" pitchFamily="34" charset="-122"/>
                <a:cs typeface="Roboto" pitchFamily="34" charset="-120"/>
              </a:rPr>
              <a:t>cel ← </a:t>
            </a:r>
            <a:endParaRPr lang="en-US" sz="1300" dirty="0"/>
          </a:p>
        </p:txBody>
      </p:sp>
      <p:sp>
        <p:nvSpPr>
          <p:cNvPr id="39" name="Text 35"/>
          <p:cNvSpPr/>
          <p:nvPr/>
        </p:nvSpPr>
        <p:spPr>
          <a:xfrm>
            <a:off x="963788" y="7322717"/>
            <a:ext cx="1797606" cy="238125"/>
          </a:xfrm>
          <a:prstGeom prst="rect">
            <a:avLst/>
          </a:prstGeom>
          <a:noFill/>
          <a:ln/>
        </p:spPr>
        <p:txBody>
          <a:bodyPr wrap="none" lIns="0" tIns="0" rIns="0" bIns="0" rtlCol="0" anchor="t"/>
          <a:lstStyle/>
          <a:p>
            <a:pPr>
              <a:lnSpc>
                <a:spcPts val="1850"/>
              </a:lnSpc>
            </a:pPr>
            <a:endParaRPr lang="en-US" sz="1300" dirty="0"/>
          </a:p>
        </p:txBody>
      </p:sp>
      <p:sp>
        <p:nvSpPr>
          <p:cNvPr id="40" name="Text 36"/>
          <p:cNvSpPr/>
          <p:nvPr/>
        </p:nvSpPr>
        <p:spPr>
          <a:xfrm>
            <a:off x="3109056" y="7322717"/>
            <a:ext cx="1730812" cy="238125"/>
          </a:xfrm>
          <a:prstGeom prst="rect">
            <a:avLst/>
          </a:prstGeom>
          <a:noFill/>
          <a:ln/>
        </p:spPr>
        <p:txBody>
          <a:bodyPr wrap="none" lIns="0" tIns="0" rIns="0" bIns="0" rtlCol="0" anchor="t"/>
          <a:lstStyle/>
          <a:p>
            <a:pPr>
              <a:lnSpc>
                <a:spcPts val="1850"/>
              </a:lnSpc>
            </a:pPr>
            <a:endParaRPr lang="en-US" sz="1300" dirty="0"/>
          </a:p>
        </p:txBody>
      </p:sp>
      <p:sp>
        <p:nvSpPr>
          <p:cNvPr id="42" name="Shape 38"/>
          <p:cNvSpPr/>
          <p:nvPr/>
        </p:nvSpPr>
        <p:spPr>
          <a:xfrm>
            <a:off x="7407831" y="2368391"/>
            <a:ext cx="6558915" cy="3891320"/>
          </a:xfrm>
          <a:prstGeom prst="roundRect">
            <a:avLst>
              <a:gd name="adj" fmla="val 506"/>
            </a:avLst>
          </a:prstGeom>
          <a:solidFill>
            <a:srgbClr val="3257B8"/>
          </a:solidFill>
          <a:ln/>
        </p:spPr>
      </p:sp>
      <p:sp>
        <p:nvSpPr>
          <p:cNvPr id="43" name="Text 39"/>
          <p:cNvSpPr/>
          <p:nvPr/>
        </p:nvSpPr>
        <p:spPr>
          <a:xfrm>
            <a:off x="7577852" y="2479000"/>
            <a:ext cx="3242905" cy="265747"/>
          </a:xfrm>
          <a:prstGeom prst="rect">
            <a:avLst/>
          </a:prstGeom>
          <a:noFill/>
          <a:ln/>
        </p:spPr>
        <p:txBody>
          <a:bodyPr wrap="none" lIns="0" tIns="0" rIns="0" bIns="0" rtlCol="0" anchor="t"/>
          <a:lstStyle/>
          <a:p>
            <a:pPr marL="0" indent="0" algn="l">
              <a:lnSpc>
                <a:spcPts val="2050"/>
              </a:lnSpc>
              <a:buNone/>
            </a:pPr>
            <a:r>
              <a:rPr lang="en-US" sz="1650" dirty="0">
                <a:solidFill>
                  <a:srgbClr val="FFFFFF"/>
                </a:solidFill>
                <a:latin typeface="Roboto Slab" pitchFamily="34" charset="0"/>
                <a:ea typeface="Roboto Slab" pitchFamily="34" charset="-122"/>
                <a:cs typeface="Roboto Slab" pitchFamily="34" charset="-120"/>
              </a:rPr>
              <a:t>English vs Hinglish Comparison</a:t>
            </a:r>
            <a:endParaRPr lang="en-US" sz="1650" dirty="0"/>
          </a:p>
        </p:txBody>
      </p:sp>
      <p:sp>
        <p:nvSpPr>
          <p:cNvPr id="44" name="Shape 40"/>
          <p:cNvSpPr/>
          <p:nvPr/>
        </p:nvSpPr>
        <p:spPr>
          <a:xfrm>
            <a:off x="7577852" y="2905125"/>
            <a:ext cx="6218873" cy="3097054"/>
          </a:xfrm>
          <a:prstGeom prst="roundRect">
            <a:avLst>
              <a:gd name="adj" fmla="val 824"/>
            </a:avLst>
          </a:prstGeom>
          <a:noFill/>
          <a:ln w="7620">
            <a:solidFill>
              <a:srgbClr val="FFFFFF">
                <a:alpha val="24000"/>
              </a:srgbClr>
            </a:solidFill>
            <a:prstDash val="solid"/>
          </a:ln>
        </p:spPr>
      </p:sp>
      <p:sp>
        <p:nvSpPr>
          <p:cNvPr id="45" name="Shape 41"/>
          <p:cNvSpPr/>
          <p:nvPr/>
        </p:nvSpPr>
        <p:spPr>
          <a:xfrm>
            <a:off x="7585472" y="2912745"/>
            <a:ext cx="6203633" cy="406241"/>
          </a:xfrm>
          <a:prstGeom prst="rect">
            <a:avLst/>
          </a:prstGeom>
          <a:solidFill>
            <a:srgbClr val="FFFFFF">
              <a:alpha val="4000"/>
            </a:srgbClr>
          </a:solidFill>
          <a:ln/>
        </p:spPr>
      </p:sp>
      <p:sp>
        <p:nvSpPr>
          <p:cNvPr id="46" name="Text 42"/>
          <p:cNvSpPr/>
          <p:nvPr/>
        </p:nvSpPr>
        <p:spPr>
          <a:xfrm>
            <a:off x="7755612" y="2979896"/>
            <a:ext cx="2447687" cy="238125"/>
          </a:xfrm>
          <a:prstGeom prst="rect">
            <a:avLst/>
          </a:prstGeom>
          <a:noFill/>
          <a:ln/>
        </p:spPr>
        <p:txBody>
          <a:bodyPr wrap="none" lIns="0" tIns="0" rIns="0" bIns="0" rtlCol="0" anchor="t"/>
          <a:lstStyle/>
          <a:p>
            <a:pPr marL="0" indent="0" algn="l">
              <a:lnSpc>
                <a:spcPts val="1850"/>
              </a:lnSpc>
              <a:buNone/>
            </a:pPr>
            <a:r>
              <a:rPr lang="en-US" sz="1300" b="1" dirty="0">
                <a:solidFill>
                  <a:srgbClr val="FFFFFF"/>
                </a:solidFill>
                <a:latin typeface="Roboto" pitchFamily="34" charset="0"/>
                <a:ea typeface="Roboto" pitchFamily="34" charset="-122"/>
                <a:cs typeface="Roboto" pitchFamily="34" charset="-120"/>
              </a:rPr>
              <a:t>Aspect</a:t>
            </a:r>
            <a:endParaRPr lang="en-US" sz="1300" dirty="0"/>
          </a:p>
        </p:txBody>
      </p:sp>
      <p:sp>
        <p:nvSpPr>
          <p:cNvPr id="47" name="Text 43"/>
          <p:cNvSpPr/>
          <p:nvPr/>
        </p:nvSpPr>
        <p:spPr>
          <a:xfrm>
            <a:off x="10550962" y="2979896"/>
            <a:ext cx="1327309" cy="238125"/>
          </a:xfrm>
          <a:prstGeom prst="rect">
            <a:avLst/>
          </a:prstGeom>
          <a:noFill/>
          <a:ln/>
        </p:spPr>
        <p:txBody>
          <a:bodyPr wrap="none" lIns="0" tIns="0" rIns="0" bIns="0" rtlCol="0" anchor="t"/>
          <a:lstStyle/>
          <a:p>
            <a:pPr marL="0" indent="0" algn="l">
              <a:lnSpc>
                <a:spcPts val="1850"/>
              </a:lnSpc>
              <a:buNone/>
            </a:pPr>
            <a:r>
              <a:rPr lang="en-US" sz="1300" b="1" dirty="0">
                <a:solidFill>
                  <a:srgbClr val="FFFFFF"/>
                </a:solidFill>
                <a:latin typeface="Roboto" pitchFamily="34" charset="0"/>
                <a:ea typeface="Roboto" pitchFamily="34" charset="-122"/>
                <a:cs typeface="Roboto" pitchFamily="34" charset="-120"/>
              </a:rPr>
              <a:t>English</a:t>
            </a:r>
            <a:endParaRPr lang="en-US" sz="1300" dirty="0"/>
          </a:p>
        </p:txBody>
      </p:sp>
      <p:sp>
        <p:nvSpPr>
          <p:cNvPr id="48" name="Text 44"/>
          <p:cNvSpPr/>
          <p:nvPr/>
        </p:nvSpPr>
        <p:spPr>
          <a:xfrm>
            <a:off x="12225933" y="2979896"/>
            <a:ext cx="1393150" cy="238125"/>
          </a:xfrm>
          <a:prstGeom prst="rect">
            <a:avLst/>
          </a:prstGeom>
          <a:noFill/>
          <a:ln/>
        </p:spPr>
        <p:txBody>
          <a:bodyPr wrap="none" lIns="0" tIns="0" rIns="0" bIns="0" rtlCol="0" anchor="t"/>
          <a:lstStyle/>
          <a:p>
            <a:pPr marL="0" indent="0" algn="l">
              <a:lnSpc>
                <a:spcPts val="1850"/>
              </a:lnSpc>
              <a:buNone/>
            </a:pPr>
            <a:r>
              <a:rPr lang="en-US" sz="1300" b="1" dirty="0">
                <a:solidFill>
                  <a:srgbClr val="FFFFFF"/>
                </a:solidFill>
                <a:latin typeface="Roboto" pitchFamily="34" charset="0"/>
                <a:ea typeface="Roboto" pitchFamily="34" charset="-122"/>
                <a:cs typeface="Roboto" pitchFamily="34" charset="-120"/>
              </a:rPr>
              <a:t>Hinglish</a:t>
            </a:r>
            <a:endParaRPr lang="en-US" sz="1300" dirty="0"/>
          </a:p>
        </p:txBody>
      </p:sp>
      <p:sp>
        <p:nvSpPr>
          <p:cNvPr id="49" name="Shape 45"/>
          <p:cNvSpPr/>
          <p:nvPr/>
        </p:nvSpPr>
        <p:spPr>
          <a:xfrm>
            <a:off x="7585472" y="3318986"/>
            <a:ext cx="6203633" cy="406241"/>
          </a:xfrm>
          <a:prstGeom prst="rect">
            <a:avLst/>
          </a:prstGeom>
          <a:solidFill>
            <a:srgbClr val="000000">
              <a:alpha val="4000"/>
            </a:srgbClr>
          </a:solidFill>
          <a:ln/>
        </p:spPr>
      </p:sp>
      <p:sp>
        <p:nvSpPr>
          <p:cNvPr id="50" name="Text 46"/>
          <p:cNvSpPr/>
          <p:nvPr/>
        </p:nvSpPr>
        <p:spPr>
          <a:xfrm>
            <a:off x="7755612" y="3386138"/>
            <a:ext cx="2447687" cy="238125"/>
          </a:xfrm>
          <a:prstGeom prst="rect">
            <a:avLst/>
          </a:prstGeom>
          <a:noFill/>
          <a:ln/>
        </p:spPr>
        <p:txBody>
          <a:bodyPr wrap="none" lIns="0" tIns="0" rIns="0" bIns="0" rtlCol="0" anchor="t"/>
          <a:lstStyle/>
          <a:p>
            <a:pPr marL="0" indent="0" algn="l">
              <a:lnSpc>
                <a:spcPts val="1850"/>
              </a:lnSpc>
              <a:buNone/>
            </a:pPr>
            <a:r>
              <a:rPr lang="en-US" sz="1300" dirty="0">
                <a:solidFill>
                  <a:srgbClr val="FFFFFF"/>
                </a:solidFill>
                <a:latin typeface="Roboto" pitchFamily="34" charset="0"/>
                <a:ea typeface="Roboto" pitchFamily="34" charset="-122"/>
                <a:cs typeface="Roboto" pitchFamily="34" charset="-120"/>
              </a:rPr>
              <a:t>Total Tokens</a:t>
            </a:r>
            <a:endParaRPr lang="en-US" sz="1300" dirty="0"/>
          </a:p>
        </p:txBody>
      </p:sp>
      <p:sp>
        <p:nvSpPr>
          <p:cNvPr id="51" name="Text 47"/>
          <p:cNvSpPr/>
          <p:nvPr/>
        </p:nvSpPr>
        <p:spPr>
          <a:xfrm>
            <a:off x="10550962" y="3386138"/>
            <a:ext cx="1327309" cy="238125"/>
          </a:xfrm>
          <a:prstGeom prst="rect">
            <a:avLst/>
          </a:prstGeom>
          <a:noFill/>
          <a:ln/>
        </p:spPr>
        <p:txBody>
          <a:bodyPr wrap="none" lIns="0" tIns="0" rIns="0" bIns="0" rtlCol="0" anchor="t"/>
          <a:lstStyle/>
          <a:p>
            <a:pPr marL="0" indent="0" algn="l">
              <a:lnSpc>
                <a:spcPts val="1850"/>
              </a:lnSpc>
              <a:buNone/>
            </a:pPr>
            <a:r>
              <a:rPr lang="en-US" sz="1300" dirty="0">
                <a:solidFill>
                  <a:srgbClr val="FFFFFF"/>
                </a:solidFill>
                <a:latin typeface="Roboto" pitchFamily="34" charset="0"/>
                <a:ea typeface="Roboto" pitchFamily="34" charset="-122"/>
                <a:cs typeface="Roboto" pitchFamily="34" charset="-120"/>
              </a:rPr>
              <a:t>16</a:t>
            </a:r>
            <a:endParaRPr lang="en-US" sz="1300" dirty="0"/>
          </a:p>
        </p:txBody>
      </p:sp>
      <p:sp>
        <p:nvSpPr>
          <p:cNvPr id="52" name="Text 48"/>
          <p:cNvSpPr/>
          <p:nvPr/>
        </p:nvSpPr>
        <p:spPr>
          <a:xfrm>
            <a:off x="12225933" y="3386138"/>
            <a:ext cx="1393150" cy="238125"/>
          </a:xfrm>
          <a:prstGeom prst="rect">
            <a:avLst/>
          </a:prstGeom>
          <a:noFill/>
          <a:ln/>
        </p:spPr>
        <p:txBody>
          <a:bodyPr wrap="none" lIns="0" tIns="0" rIns="0" bIns="0" rtlCol="0" anchor="t"/>
          <a:lstStyle/>
          <a:p>
            <a:pPr marL="0" indent="0" algn="l">
              <a:lnSpc>
                <a:spcPts val="1850"/>
              </a:lnSpc>
              <a:buNone/>
            </a:pPr>
            <a:r>
              <a:rPr lang="en-US" sz="1300" dirty="0">
                <a:solidFill>
                  <a:srgbClr val="FFFFFF"/>
                </a:solidFill>
                <a:latin typeface="Roboto" pitchFamily="34" charset="0"/>
                <a:ea typeface="Roboto" pitchFamily="34" charset="-122"/>
                <a:cs typeface="Roboto" pitchFamily="34" charset="-120"/>
              </a:rPr>
              <a:t>19</a:t>
            </a:r>
            <a:endParaRPr lang="en-US" sz="1300" dirty="0"/>
          </a:p>
        </p:txBody>
      </p:sp>
      <p:sp>
        <p:nvSpPr>
          <p:cNvPr id="53" name="Shape 49"/>
          <p:cNvSpPr/>
          <p:nvPr/>
        </p:nvSpPr>
        <p:spPr>
          <a:xfrm>
            <a:off x="7585472" y="3725227"/>
            <a:ext cx="6203633" cy="406241"/>
          </a:xfrm>
          <a:prstGeom prst="rect">
            <a:avLst/>
          </a:prstGeom>
          <a:solidFill>
            <a:srgbClr val="FFFFFF">
              <a:alpha val="4000"/>
            </a:srgbClr>
          </a:solidFill>
          <a:ln/>
        </p:spPr>
      </p:sp>
      <p:sp>
        <p:nvSpPr>
          <p:cNvPr id="54" name="Text 50"/>
          <p:cNvSpPr/>
          <p:nvPr/>
        </p:nvSpPr>
        <p:spPr>
          <a:xfrm>
            <a:off x="7755612" y="3792379"/>
            <a:ext cx="2447687" cy="238125"/>
          </a:xfrm>
          <a:prstGeom prst="rect">
            <a:avLst/>
          </a:prstGeom>
          <a:noFill/>
          <a:ln/>
        </p:spPr>
        <p:txBody>
          <a:bodyPr wrap="none" lIns="0" tIns="0" rIns="0" bIns="0" rtlCol="0" anchor="t"/>
          <a:lstStyle/>
          <a:p>
            <a:pPr marL="0" indent="0" algn="l">
              <a:lnSpc>
                <a:spcPts val="1850"/>
              </a:lnSpc>
              <a:buNone/>
            </a:pPr>
            <a:r>
              <a:rPr lang="en-US" sz="1300" dirty="0">
                <a:solidFill>
                  <a:srgbClr val="FFFFFF"/>
                </a:solidFill>
                <a:latin typeface="Roboto" pitchFamily="34" charset="0"/>
                <a:ea typeface="Roboto" pitchFamily="34" charset="-122"/>
                <a:cs typeface="Roboto" pitchFamily="34" charset="-120"/>
              </a:rPr>
              <a:t>After Stop Removal</a:t>
            </a:r>
            <a:endParaRPr lang="en-US" sz="1300" dirty="0"/>
          </a:p>
        </p:txBody>
      </p:sp>
      <p:sp>
        <p:nvSpPr>
          <p:cNvPr id="55" name="Text 51"/>
          <p:cNvSpPr/>
          <p:nvPr/>
        </p:nvSpPr>
        <p:spPr>
          <a:xfrm>
            <a:off x="10550962" y="3792379"/>
            <a:ext cx="1327309" cy="238125"/>
          </a:xfrm>
          <a:prstGeom prst="rect">
            <a:avLst/>
          </a:prstGeom>
          <a:noFill/>
          <a:ln/>
        </p:spPr>
        <p:txBody>
          <a:bodyPr wrap="none" lIns="0" tIns="0" rIns="0" bIns="0" rtlCol="0" anchor="t"/>
          <a:lstStyle/>
          <a:p>
            <a:pPr marL="0" indent="0" algn="l">
              <a:lnSpc>
                <a:spcPts val="1850"/>
              </a:lnSpc>
              <a:buNone/>
            </a:pPr>
            <a:r>
              <a:rPr lang="en-US" sz="1300" dirty="0">
                <a:solidFill>
                  <a:srgbClr val="FFFFFF"/>
                </a:solidFill>
                <a:latin typeface="Roboto" pitchFamily="34" charset="0"/>
                <a:ea typeface="Roboto" pitchFamily="34" charset="-122"/>
                <a:cs typeface="Roboto" pitchFamily="34" charset="-120"/>
              </a:rPr>
              <a:t>6</a:t>
            </a:r>
            <a:endParaRPr lang="en-US" sz="1300" dirty="0"/>
          </a:p>
        </p:txBody>
      </p:sp>
      <p:sp>
        <p:nvSpPr>
          <p:cNvPr id="56" name="Text 52"/>
          <p:cNvSpPr/>
          <p:nvPr/>
        </p:nvSpPr>
        <p:spPr>
          <a:xfrm>
            <a:off x="12225933" y="3792379"/>
            <a:ext cx="1393150" cy="238125"/>
          </a:xfrm>
          <a:prstGeom prst="rect">
            <a:avLst/>
          </a:prstGeom>
          <a:noFill/>
          <a:ln/>
        </p:spPr>
        <p:txBody>
          <a:bodyPr wrap="none" lIns="0" tIns="0" rIns="0" bIns="0" rtlCol="0" anchor="t"/>
          <a:lstStyle/>
          <a:p>
            <a:pPr marL="0" indent="0" algn="l">
              <a:lnSpc>
                <a:spcPts val="1850"/>
              </a:lnSpc>
              <a:buNone/>
            </a:pPr>
            <a:r>
              <a:rPr lang="en-US" sz="1300" dirty="0">
                <a:solidFill>
                  <a:srgbClr val="FFFFFF"/>
                </a:solidFill>
                <a:latin typeface="Roboto" pitchFamily="34" charset="0"/>
                <a:ea typeface="Roboto" pitchFamily="34" charset="-122"/>
                <a:cs typeface="Roboto" pitchFamily="34" charset="-120"/>
              </a:rPr>
              <a:t>10</a:t>
            </a:r>
            <a:endParaRPr lang="en-US" sz="1300" dirty="0"/>
          </a:p>
        </p:txBody>
      </p:sp>
      <p:sp>
        <p:nvSpPr>
          <p:cNvPr id="57" name="Shape 53"/>
          <p:cNvSpPr/>
          <p:nvPr/>
        </p:nvSpPr>
        <p:spPr>
          <a:xfrm>
            <a:off x="7585472" y="4131469"/>
            <a:ext cx="6203633" cy="406241"/>
          </a:xfrm>
          <a:prstGeom prst="rect">
            <a:avLst/>
          </a:prstGeom>
          <a:solidFill>
            <a:srgbClr val="000000">
              <a:alpha val="4000"/>
            </a:srgbClr>
          </a:solidFill>
          <a:ln/>
        </p:spPr>
      </p:sp>
      <p:sp>
        <p:nvSpPr>
          <p:cNvPr id="58" name="Text 54"/>
          <p:cNvSpPr/>
          <p:nvPr/>
        </p:nvSpPr>
        <p:spPr>
          <a:xfrm>
            <a:off x="7755612" y="4198620"/>
            <a:ext cx="2447687" cy="238125"/>
          </a:xfrm>
          <a:prstGeom prst="rect">
            <a:avLst/>
          </a:prstGeom>
          <a:noFill/>
          <a:ln/>
        </p:spPr>
        <p:txBody>
          <a:bodyPr wrap="none" lIns="0" tIns="0" rIns="0" bIns="0" rtlCol="0" anchor="t"/>
          <a:lstStyle/>
          <a:p>
            <a:pPr marL="0" indent="0" algn="l">
              <a:lnSpc>
                <a:spcPts val="1850"/>
              </a:lnSpc>
              <a:buNone/>
            </a:pPr>
            <a:r>
              <a:rPr lang="en-US" sz="1300" dirty="0">
                <a:solidFill>
                  <a:srgbClr val="FFFFFF"/>
                </a:solidFill>
                <a:latin typeface="Roboto" pitchFamily="34" charset="0"/>
                <a:ea typeface="Roboto" pitchFamily="34" charset="-122"/>
                <a:cs typeface="Roboto" pitchFamily="34" charset="-120"/>
              </a:rPr>
              <a:t>CMI</a:t>
            </a:r>
            <a:endParaRPr lang="en-US" sz="1300" dirty="0"/>
          </a:p>
        </p:txBody>
      </p:sp>
      <p:sp>
        <p:nvSpPr>
          <p:cNvPr id="59" name="Text 55"/>
          <p:cNvSpPr/>
          <p:nvPr/>
        </p:nvSpPr>
        <p:spPr>
          <a:xfrm>
            <a:off x="10550962" y="4198620"/>
            <a:ext cx="1327309" cy="238125"/>
          </a:xfrm>
          <a:prstGeom prst="rect">
            <a:avLst/>
          </a:prstGeom>
          <a:noFill/>
          <a:ln/>
        </p:spPr>
        <p:txBody>
          <a:bodyPr wrap="none" lIns="0" tIns="0" rIns="0" bIns="0" rtlCol="0" anchor="t"/>
          <a:lstStyle/>
          <a:p>
            <a:pPr marL="0" indent="0" algn="l">
              <a:lnSpc>
                <a:spcPts val="1850"/>
              </a:lnSpc>
              <a:buNone/>
            </a:pPr>
            <a:r>
              <a:rPr lang="en-US" sz="1300" dirty="0">
                <a:solidFill>
                  <a:srgbClr val="FFFFFF"/>
                </a:solidFill>
                <a:latin typeface="Roboto" pitchFamily="34" charset="0"/>
                <a:ea typeface="Roboto" pitchFamily="34" charset="-122"/>
                <a:cs typeface="Roboto" pitchFamily="34" charset="-120"/>
              </a:rPr>
              <a:t>N/A</a:t>
            </a:r>
            <a:endParaRPr lang="en-US" sz="1300" dirty="0"/>
          </a:p>
        </p:txBody>
      </p:sp>
      <p:sp>
        <p:nvSpPr>
          <p:cNvPr id="60" name="Text 56"/>
          <p:cNvSpPr/>
          <p:nvPr/>
        </p:nvSpPr>
        <p:spPr>
          <a:xfrm>
            <a:off x="12225933" y="4198620"/>
            <a:ext cx="1393150" cy="238125"/>
          </a:xfrm>
          <a:prstGeom prst="rect">
            <a:avLst/>
          </a:prstGeom>
          <a:noFill/>
          <a:ln/>
        </p:spPr>
        <p:txBody>
          <a:bodyPr wrap="none" lIns="0" tIns="0" rIns="0" bIns="0" rtlCol="0" anchor="t"/>
          <a:lstStyle/>
          <a:p>
            <a:pPr marL="0" indent="0" algn="l">
              <a:lnSpc>
                <a:spcPts val="1850"/>
              </a:lnSpc>
              <a:buNone/>
            </a:pPr>
            <a:r>
              <a:rPr lang="en-US" sz="1300" dirty="0">
                <a:solidFill>
                  <a:srgbClr val="FFFFFF"/>
                </a:solidFill>
                <a:latin typeface="Roboto" pitchFamily="34" charset="0"/>
                <a:ea typeface="Roboto" pitchFamily="34" charset="-122"/>
                <a:cs typeface="Roboto" pitchFamily="34" charset="-120"/>
              </a:rPr>
              <a:t>44.4%</a:t>
            </a:r>
            <a:endParaRPr lang="en-US" sz="1300" dirty="0"/>
          </a:p>
        </p:txBody>
      </p:sp>
      <p:sp>
        <p:nvSpPr>
          <p:cNvPr id="61" name="Shape 57"/>
          <p:cNvSpPr/>
          <p:nvPr/>
        </p:nvSpPr>
        <p:spPr>
          <a:xfrm>
            <a:off x="7585472" y="4537710"/>
            <a:ext cx="6203633" cy="406241"/>
          </a:xfrm>
          <a:prstGeom prst="rect">
            <a:avLst/>
          </a:prstGeom>
          <a:solidFill>
            <a:srgbClr val="FFFFFF">
              <a:alpha val="4000"/>
            </a:srgbClr>
          </a:solidFill>
          <a:ln/>
        </p:spPr>
      </p:sp>
      <p:sp>
        <p:nvSpPr>
          <p:cNvPr id="62" name="Text 58"/>
          <p:cNvSpPr/>
          <p:nvPr/>
        </p:nvSpPr>
        <p:spPr>
          <a:xfrm>
            <a:off x="7755612" y="4604861"/>
            <a:ext cx="2447687" cy="238125"/>
          </a:xfrm>
          <a:prstGeom prst="rect">
            <a:avLst/>
          </a:prstGeom>
          <a:noFill/>
          <a:ln/>
        </p:spPr>
        <p:txBody>
          <a:bodyPr wrap="none" lIns="0" tIns="0" rIns="0" bIns="0" rtlCol="0" anchor="t"/>
          <a:lstStyle/>
          <a:p>
            <a:pPr marL="0" indent="0" algn="l">
              <a:lnSpc>
                <a:spcPts val="1850"/>
              </a:lnSpc>
              <a:buNone/>
            </a:pPr>
            <a:r>
              <a:rPr lang="en-US" sz="1300" dirty="0">
                <a:solidFill>
                  <a:srgbClr val="FFFFFF"/>
                </a:solidFill>
                <a:latin typeface="Roboto" pitchFamily="34" charset="0"/>
                <a:ea typeface="Roboto" pitchFamily="34" charset="-122"/>
                <a:cs typeface="Roboto" pitchFamily="34" charset="-120"/>
              </a:rPr>
              <a:t>Languages</a:t>
            </a:r>
            <a:endParaRPr lang="en-US" sz="1300" dirty="0"/>
          </a:p>
        </p:txBody>
      </p:sp>
      <p:sp>
        <p:nvSpPr>
          <p:cNvPr id="63" name="Text 59"/>
          <p:cNvSpPr/>
          <p:nvPr/>
        </p:nvSpPr>
        <p:spPr>
          <a:xfrm>
            <a:off x="10550962" y="4604861"/>
            <a:ext cx="1327309" cy="238125"/>
          </a:xfrm>
          <a:prstGeom prst="rect">
            <a:avLst/>
          </a:prstGeom>
          <a:noFill/>
          <a:ln/>
        </p:spPr>
        <p:txBody>
          <a:bodyPr wrap="none" lIns="0" tIns="0" rIns="0" bIns="0" rtlCol="0" anchor="t"/>
          <a:lstStyle/>
          <a:p>
            <a:pPr marL="0" indent="0" algn="l">
              <a:lnSpc>
                <a:spcPts val="1850"/>
              </a:lnSpc>
              <a:buNone/>
            </a:pPr>
            <a:r>
              <a:rPr lang="en-US" sz="1300" dirty="0">
                <a:solidFill>
                  <a:srgbClr val="FFFFFF"/>
                </a:solidFill>
                <a:latin typeface="Roboto" pitchFamily="34" charset="0"/>
                <a:ea typeface="Roboto" pitchFamily="34" charset="-122"/>
                <a:cs typeface="Roboto" pitchFamily="34" charset="-120"/>
              </a:rPr>
              <a:t>EN only</a:t>
            </a:r>
            <a:endParaRPr lang="en-US" sz="1300" dirty="0"/>
          </a:p>
        </p:txBody>
      </p:sp>
      <p:sp>
        <p:nvSpPr>
          <p:cNvPr id="64" name="Text 60"/>
          <p:cNvSpPr/>
          <p:nvPr/>
        </p:nvSpPr>
        <p:spPr>
          <a:xfrm>
            <a:off x="12225933" y="4604861"/>
            <a:ext cx="1393150" cy="238125"/>
          </a:xfrm>
          <a:prstGeom prst="rect">
            <a:avLst/>
          </a:prstGeom>
          <a:noFill/>
          <a:ln/>
        </p:spPr>
        <p:txBody>
          <a:bodyPr wrap="none" lIns="0" tIns="0" rIns="0" bIns="0" rtlCol="0" anchor="t"/>
          <a:lstStyle/>
          <a:p>
            <a:pPr marL="0" indent="0" algn="l">
              <a:lnSpc>
                <a:spcPts val="1850"/>
              </a:lnSpc>
              <a:buNone/>
            </a:pPr>
            <a:r>
              <a:rPr lang="en-US" sz="1300" dirty="0">
                <a:solidFill>
                  <a:srgbClr val="FFFFFF"/>
                </a:solidFill>
                <a:latin typeface="Roboto" pitchFamily="34" charset="0"/>
                <a:ea typeface="Roboto" pitchFamily="34" charset="-122"/>
                <a:cs typeface="Roboto" pitchFamily="34" charset="-120"/>
              </a:rPr>
              <a:t>HI:10 EN:8</a:t>
            </a:r>
            <a:endParaRPr lang="en-US" sz="1300" dirty="0"/>
          </a:p>
        </p:txBody>
      </p:sp>
      <p:sp>
        <p:nvSpPr>
          <p:cNvPr id="65" name="Shape 61"/>
          <p:cNvSpPr/>
          <p:nvPr/>
        </p:nvSpPr>
        <p:spPr>
          <a:xfrm>
            <a:off x="7585472" y="4943951"/>
            <a:ext cx="6203633" cy="406241"/>
          </a:xfrm>
          <a:prstGeom prst="rect">
            <a:avLst/>
          </a:prstGeom>
          <a:solidFill>
            <a:srgbClr val="000000">
              <a:alpha val="4000"/>
            </a:srgbClr>
          </a:solidFill>
          <a:ln/>
        </p:spPr>
      </p:sp>
      <p:sp>
        <p:nvSpPr>
          <p:cNvPr id="66" name="Text 62"/>
          <p:cNvSpPr/>
          <p:nvPr/>
        </p:nvSpPr>
        <p:spPr>
          <a:xfrm>
            <a:off x="7755612" y="5011103"/>
            <a:ext cx="2447687" cy="238125"/>
          </a:xfrm>
          <a:prstGeom prst="rect">
            <a:avLst/>
          </a:prstGeom>
          <a:noFill/>
          <a:ln/>
        </p:spPr>
        <p:txBody>
          <a:bodyPr wrap="none" lIns="0" tIns="0" rIns="0" bIns="0" rtlCol="0" anchor="t"/>
          <a:lstStyle/>
          <a:p>
            <a:pPr marL="0" indent="0" algn="l">
              <a:lnSpc>
                <a:spcPts val="1850"/>
              </a:lnSpc>
              <a:buNone/>
            </a:pPr>
            <a:r>
              <a:rPr lang="en-US" sz="1300" dirty="0">
                <a:solidFill>
                  <a:srgbClr val="FFFFFF"/>
                </a:solidFill>
                <a:latin typeface="Roboto" pitchFamily="34" charset="0"/>
                <a:ea typeface="Roboto" pitchFamily="34" charset="-122"/>
                <a:cs typeface="Roboto" pitchFamily="34" charset="-120"/>
              </a:rPr>
              <a:t>Stemming applied</a:t>
            </a:r>
            <a:endParaRPr lang="en-US" sz="1300" dirty="0"/>
          </a:p>
        </p:txBody>
      </p:sp>
      <p:sp>
        <p:nvSpPr>
          <p:cNvPr id="67" name="Text 63"/>
          <p:cNvSpPr/>
          <p:nvPr/>
        </p:nvSpPr>
        <p:spPr>
          <a:xfrm>
            <a:off x="10550962" y="5011103"/>
            <a:ext cx="1327309" cy="238125"/>
          </a:xfrm>
          <a:prstGeom prst="rect">
            <a:avLst/>
          </a:prstGeom>
          <a:noFill/>
          <a:ln/>
        </p:spPr>
        <p:txBody>
          <a:bodyPr wrap="none" lIns="0" tIns="0" rIns="0" bIns="0" rtlCol="0" anchor="t"/>
          <a:lstStyle/>
          <a:p>
            <a:pPr marL="0" indent="0" algn="l">
              <a:lnSpc>
                <a:spcPts val="1850"/>
              </a:lnSpc>
              <a:buNone/>
            </a:pPr>
            <a:r>
              <a:rPr lang="en-US" sz="1300" dirty="0">
                <a:solidFill>
                  <a:srgbClr val="FFFFFF"/>
                </a:solidFill>
                <a:latin typeface="Roboto" pitchFamily="34" charset="0"/>
                <a:ea typeface="Roboto" pitchFamily="34" charset="-122"/>
                <a:cs typeface="Roboto" pitchFamily="34" charset="-120"/>
              </a:rPr>
              <a:t>All words</a:t>
            </a:r>
            <a:endParaRPr lang="en-US" sz="1300" dirty="0"/>
          </a:p>
        </p:txBody>
      </p:sp>
      <p:sp>
        <p:nvSpPr>
          <p:cNvPr id="68" name="Text 64"/>
          <p:cNvSpPr/>
          <p:nvPr/>
        </p:nvSpPr>
        <p:spPr>
          <a:xfrm>
            <a:off x="12225933" y="5011103"/>
            <a:ext cx="1393150" cy="238125"/>
          </a:xfrm>
          <a:prstGeom prst="rect">
            <a:avLst/>
          </a:prstGeom>
          <a:noFill/>
          <a:ln/>
        </p:spPr>
        <p:txBody>
          <a:bodyPr wrap="none" lIns="0" tIns="0" rIns="0" bIns="0" rtlCol="0" anchor="t"/>
          <a:lstStyle/>
          <a:p>
            <a:pPr marL="0" indent="0" algn="l">
              <a:lnSpc>
                <a:spcPts val="1850"/>
              </a:lnSpc>
              <a:buNone/>
            </a:pPr>
            <a:r>
              <a:rPr lang="en-US" sz="1300" dirty="0">
                <a:solidFill>
                  <a:srgbClr val="FFFFFF"/>
                </a:solidFill>
                <a:latin typeface="Roboto" pitchFamily="34" charset="0"/>
                <a:ea typeface="Roboto" pitchFamily="34" charset="-122"/>
                <a:cs typeface="Roboto" pitchFamily="34" charset="-120"/>
              </a:rPr>
              <a:t>EN words only</a:t>
            </a:r>
            <a:endParaRPr lang="en-US" sz="1300" dirty="0"/>
          </a:p>
        </p:txBody>
      </p:sp>
      <p:sp>
        <p:nvSpPr>
          <p:cNvPr id="69" name="Shape 65"/>
          <p:cNvSpPr/>
          <p:nvPr/>
        </p:nvSpPr>
        <p:spPr>
          <a:xfrm>
            <a:off x="7585472" y="5350193"/>
            <a:ext cx="6203633" cy="644366"/>
          </a:xfrm>
          <a:prstGeom prst="rect">
            <a:avLst/>
          </a:prstGeom>
          <a:solidFill>
            <a:srgbClr val="FFFFFF">
              <a:alpha val="4000"/>
            </a:srgbClr>
          </a:solidFill>
          <a:ln/>
        </p:spPr>
      </p:sp>
      <p:sp>
        <p:nvSpPr>
          <p:cNvPr id="70" name="Text 66"/>
          <p:cNvSpPr/>
          <p:nvPr/>
        </p:nvSpPr>
        <p:spPr>
          <a:xfrm>
            <a:off x="7755612" y="5417344"/>
            <a:ext cx="2447687" cy="238125"/>
          </a:xfrm>
          <a:prstGeom prst="rect">
            <a:avLst/>
          </a:prstGeom>
          <a:noFill/>
          <a:ln/>
        </p:spPr>
        <p:txBody>
          <a:bodyPr wrap="none" lIns="0" tIns="0" rIns="0" bIns="0" rtlCol="0" anchor="t"/>
          <a:lstStyle/>
          <a:p>
            <a:pPr marL="0" indent="0" algn="l">
              <a:lnSpc>
                <a:spcPts val="1850"/>
              </a:lnSpc>
              <a:buNone/>
            </a:pPr>
            <a:r>
              <a:rPr lang="en-US" sz="1300" dirty="0">
                <a:solidFill>
                  <a:srgbClr val="FFFFFF"/>
                </a:solidFill>
                <a:latin typeface="Roboto" pitchFamily="34" charset="0"/>
                <a:ea typeface="Roboto" pitchFamily="34" charset="-122"/>
                <a:cs typeface="Roboto" pitchFamily="34" charset="-120"/>
              </a:rPr>
              <a:t>Extra steps needed</a:t>
            </a:r>
            <a:endParaRPr lang="en-US" sz="1300" dirty="0"/>
          </a:p>
        </p:txBody>
      </p:sp>
      <p:sp>
        <p:nvSpPr>
          <p:cNvPr id="71" name="Text 67"/>
          <p:cNvSpPr/>
          <p:nvPr/>
        </p:nvSpPr>
        <p:spPr>
          <a:xfrm>
            <a:off x="10550962" y="5417344"/>
            <a:ext cx="1327309" cy="238125"/>
          </a:xfrm>
          <a:prstGeom prst="rect">
            <a:avLst/>
          </a:prstGeom>
          <a:noFill/>
          <a:ln/>
        </p:spPr>
        <p:txBody>
          <a:bodyPr wrap="none" lIns="0" tIns="0" rIns="0" bIns="0" rtlCol="0" anchor="t"/>
          <a:lstStyle/>
          <a:p>
            <a:pPr marL="0" indent="0" algn="l">
              <a:lnSpc>
                <a:spcPts val="1850"/>
              </a:lnSpc>
              <a:buNone/>
            </a:pPr>
            <a:r>
              <a:rPr lang="en-US" sz="1300" dirty="0">
                <a:solidFill>
                  <a:srgbClr val="FFFFFF"/>
                </a:solidFill>
                <a:latin typeface="Roboto" pitchFamily="34" charset="0"/>
                <a:ea typeface="Roboto" pitchFamily="34" charset="-122"/>
                <a:cs typeface="Roboto" pitchFamily="34" charset="-120"/>
              </a:rPr>
              <a:t>0</a:t>
            </a:r>
            <a:endParaRPr lang="en-US" sz="1300" dirty="0"/>
          </a:p>
        </p:txBody>
      </p:sp>
      <p:sp>
        <p:nvSpPr>
          <p:cNvPr id="72" name="Text 68"/>
          <p:cNvSpPr/>
          <p:nvPr/>
        </p:nvSpPr>
        <p:spPr>
          <a:xfrm>
            <a:off x="12225933" y="5417344"/>
            <a:ext cx="1393150" cy="476250"/>
          </a:xfrm>
          <a:prstGeom prst="rect">
            <a:avLst/>
          </a:prstGeom>
          <a:noFill/>
          <a:ln/>
        </p:spPr>
        <p:txBody>
          <a:bodyPr wrap="square" lIns="0" tIns="0" rIns="0" bIns="0" rtlCol="0" anchor="t"/>
          <a:lstStyle/>
          <a:p>
            <a:pPr marL="0" indent="0" algn="l">
              <a:lnSpc>
                <a:spcPts val="1850"/>
              </a:lnSpc>
              <a:buNone/>
            </a:pPr>
            <a:r>
              <a:rPr lang="en-US" sz="1300" dirty="0">
                <a:solidFill>
                  <a:srgbClr val="FFFFFF"/>
                </a:solidFill>
                <a:latin typeface="Roboto" pitchFamily="34" charset="0"/>
                <a:ea typeface="Roboto" pitchFamily="34" charset="-122"/>
                <a:cs typeface="Roboto" pitchFamily="34" charset="-120"/>
              </a:rPr>
              <a:t>3 (Script + Normalize + LID)</a:t>
            </a:r>
            <a:endParaRPr lang="en-US" sz="1300" dirty="0"/>
          </a:p>
        </p:txBody>
      </p:sp>
      <p:sp>
        <p:nvSpPr>
          <p:cNvPr id="75" name="TextBox 74">
            <a:extLst>
              <a:ext uri="{FF2B5EF4-FFF2-40B4-BE49-F238E27FC236}">
                <a16:creationId xmlns:a16="http://schemas.microsoft.com/office/drawing/2014/main" id="{39E6806A-80CC-F5F2-7B7A-BCA17E6A5622}"/>
              </a:ext>
            </a:extLst>
          </p:cNvPr>
          <p:cNvSpPr txBox="1"/>
          <p:nvPr/>
        </p:nvSpPr>
        <p:spPr>
          <a:xfrm>
            <a:off x="833675" y="4456960"/>
            <a:ext cx="7315200" cy="369332"/>
          </a:xfrm>
          <a:prstGeom prst="rect">
            <a:avLst/>
          </a:prstGeom>
          <a:noFill/>
        </p:spPr>
        <p:txBody>
          <a:bodyPr wrap="square">
            <a:spAutoFit/>
          </a:bodyPr>
          <a:lstStyle/>
          <a:p>
            <a:r>
              <a:rPr lang="en-US" sz="1800" dirty="0">
                <a:solidFill>
                  <a:srgbClr val="15213F"/>
                </a:solidFill>
                <a:latin typeface="Roboto Slab Light" pitchFamily="34" charset="0"/>
                <a:ea typeface="Roboto Slab Light" pitchFamily="34" charset="-122"/>
                <a:cs typeface="Roboto Slab Light" pitchFamily="34" charset="-120"/>
              </a:rPr>
              <a:t>03 Stemming</a:t>
            </a:r>
            <a:endParaRPr lang="en-IN" dirty="0"/>
          </a:p>
        </p:txBody>
      </p:sp>
      <p:pic>
        <p:nvPicPr>
          <p:cNvPr id="77" name="Picture 76">
            <a:extLst>
              <a:ext uri="{FF2B5EF4-FFF2-40B4-BE49-F238E27FC236}">
                <a16:creationId xmlns:a16="http://schemas.microsoft.com/office/drawing/2014/main" id="{17D01D86-D4DE-FEA5-7C64-7FD4A66BB969}"/>
              </a:ext>
            </a:extLst>
          </p:cNvPr>
          <p:cNvPicPr>
            <a:picLocks noChangeAspect="1"/>
          </p:cNvPicPr>
          <p:nvPr/>
        </p:nvPicPr>
        <p:blipFill>
          <a:blip r:embed="rId4"/>
          <a:stretch>
            <a:fillRect/>
          </a:stretch>
        </p:blipFill>
        <p:spPr>
          <a:xfrm>
            <a:off x="12839450" y="7715178"/>
            <a:ext cx="1790950" cy="51442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2FB7B6-B7DF-F2FB-3454-82CF4C2B4746}"/>
              </a:ext>
            </a:extLst>
          </p:cNvPr>
          <p:cNvPicPr>
            <a:picLocks noChangeAspect="1"/>
          </p:cNvPicPr>
          <p:nvPr/>
        </p:nvPicPr>
        <p:blipFill>
          <a:blip r:embed="rId2"/>
          <a:stretch>
            <a:fillRect/>
          </a:stretch>
        </p:blipFill>
        <p:spPr>
          <a:xfrm>
            <a:off x="12839450" y="7715178"/>
            <a:ext cx="1790950" cy="514422"/>
          </a:xfrm>
          <a:prstGeom prst="rect">
            <a:avLst/>
          </a:prstGeom>
        </p:spPr>
      </p:pic>
      <p:pic>
        <p:nvPicPr>
          <p:cNvPr id="6" name="Picture 5">
            <a:extLst>
              <a:ext uri="{FF2B5EF4-FFF2-40B4-BE49-F238E27FC236}">
                <a16:creationId xmlns:a16="http://schemas.microsoft.com/office/drawing/2014/main" id="{AAB736A0-E740-25FC-380C-A66C0855E21A}"/>
              </a:ext>
            </a:extLst>
          </p:cNvPr>
          <p:cNvPicPr>
            <a:picLocks noChangeAspect="1"/>
          </p:cNvPicPr>
          <p:nvPr/>
        </p:nvPicPr>
        <p:blipFill>
          <a:blip r:embed="rId3"/>
          <a:stretch>
            <a:fillRect/>
          </a:stretch>
        </p:blipFill>
        <p:spPr>
          <a:xfrm>
            <a:off x="0" y="0"/>
            <a:ext cx="6108569" cy="4911365"/>
          </a:xfrm>
          <a:prstGeom prst="rect">
            <a:avLst/>
          </a:prstGeom>
        </p:spPr>
      </p:pic>
      <p:pic>
        <p:nvPicPr>
          <p:cNvPr id="10" name="Picture 9">
            <a:extLst>
              <a:ext uri="{FF2B5EF4-FFF2-40B4-BE49-F238E27FC236}">
                <a16:creationId xmlns:a16="http://schemas.microsoft.com/office/drawing/2014/main" id="{451A0FAE-DC3E-590A-A576-D2861264C8E0}"/>
              </a:ext>
            </a:extLst>
          </p:cNvPr>
          <p:cNvPicPr>
            <a:picLocks noChangeAspect="1"/>
          </p:cNvPicPr>
          <p:nvPr/>
        </p:nvPicPr>
        <p:blipFill>
          <a:blip r:embed="rId4"/>
          <a:stretch>
            <a:fillRect/>
          </a:stretch>
        </p:blipFill>
        <p:spPr>
          <a:xfrm>
            <a:off x="0" y="4911365"/>
            <a:ext cx="6613392" cy="3318235"/>
          </a:xfrm>
          <a:prstGeom prst="rect">
            <a:avLst/>
          </a:prstGeom>
        </p:spPr>
      </p:pic>
      <p:pic>
        <p:nvPicPr>
          <p:cNvPr id="8" name="Picture 7">
            <a:extLst>
              <a:ext uri="{FF2B5EF4-FFF2-40B4-BE49-F238E27FC236}">
                <a16:creationId xmlns:a16="http://schemas.microsoft.com/office/drawing/2014/main" id="{590FD1DA-207C-6562-CC95-69686FC95716}"/>
              </a:ext>
            </a:extLst>
          </p:cNvPr>
          <p:cNvPicPr>
            <a:picLocks noChangeAspect="1"/>
          </p:cNvPicPr>
          <p:nvPr/>
        </p:nvPicPr>
        <p:blipFill>
          <a:blip r:embed="rId5"/>
          <a:stretch>
            <a:fillRect/>
          </a:stretch>
        </p:blipFill>
        <p:spPr>
          <a:xfrm>
            <a:off x="6110359" y="0"/>
            <a:ext cx="8520041" cy="8229600"/>
          </a:xfrm>
          <a:prstGeom prst="rect">
            <a:avLst/>
          </a:prstGeom>
        </p:spPr>
      </p:pic>
    </p:spTree>
    <p:extLst>
      <p:ext uri="{BB962C8B-B14F-4D97-AF65-F5344CB8AC3E}">
        <p14:creationId xmlns:p14="http://schemas.microsoft.com/office/powerpoint/2010/main" val="11225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976670"/>
            <a:ext cx="5387102" cy="673418"/>
          </a:xfrm>
          <a:prstGeom prst="rect">
            <a:avLst/>
          </a:prstGeom>
          <a:noFill/>
          <a:ln/>
        </p:spPr>
        <p:txBody>
          <a:bodyPr wrap="none" lIns="0" tIns="0" rIns="0" bIns="0" rtlCol="0" anchor="t"/>
          <a:lstStyle/>
          <a:p>
            <a:pPr marL="0" indent="0" algn="l">
              <a:lnSpc>
                <a:spcPts val="5300"/>
              </a:lnSpc>
              <a:buNone/>
            </a:pPr>
            <a:r>
              <a:rPr lang="en-US" sz="4200" dirty="0">
                <a:solidFill>
                  <a:srgbClr val="3257B8"/>
                </a:solidFill>
                <a:latin typeface="Roboto Slab" pitchFamily="34" charset="0"/>
                <a:ea typeface="Roboto Slab" pitchFamily="34" charset="-122"/>
                <a:cs typeface="Roboto Slab" pitchFamily="34" charset="-120"/>
              </a:rPr>
              <a:t>Conclusion</a:t>
            </a:r>
            <a:endParaRPr lang="en-US" sz="4200" dirty="0"/>
          </a:p>
        </p:txBody>
      </p:sp>
      <p:sp>
        <p:nvSpPr>
          <p:cNvPr id="3" name="Text 1"/>
          <p:cNvSpPr/>
          <p:nvPr/>
        </p:nvSpPr>
        <p:spPr>
          <a:xfrm>
            <a:off x="793790" y="2161818"/>
            <a:ext cx="3951803" cy="673179"/>
          </a:xfrm>
          <a:prstGeom prst="rect">
            <a:avLst/>
          </a:prstGeom>
          <a:noFill/>
          <a:ln/>
        </p:spPr>
        <p:txBody>
          <a:bodyPr wrap="square" lIns="0" tIns="0" rIns="0" bIns="0" rtlCol="0" anchor="t"/>
          <a:lstStyle/>
          <a:p>
            <a:pPr marL="0" indent="0" algn="l">
              <a:lnSpc>
                <a:spcPts val="2650"/>
              </a:lnSpc>
              <a:buNone/>
            </a:pPr>
            <a:r>
              <a:rPr lang="en-US" sz="2100" dirty="0">
                <a:solidFill>
                  <a:srgbClr val="3257B8"/>
                </a:solidFill>
                <a:latin typeface="Roboto Slab" pitchFamily="34" charset="0"/>
                <a:ea typeface="Roboto Slab" pitchFamily="34" charset="-122"/>
                <a:cs typeface="Roboto Slab" pitchFamily="34" charset="-120"/>
              </a:rPr>
              <a:t>What We Built (M1 — Complete)</a:t>
            </a:r>
            <a:endParaRPr lang="en-US" sz="2100" dirty="0"/>
          </a:p>
        </p:txBody>
      </p:sp>
      <p:sp>
        <p:nvSpPr>
          <p:cNvPr id="4" name="Text 2"/>
          <p:cNvSpPr/>
          <p:nvPr/>
        </p:nvSpPr>
        <p:spPr>
          <a:xfrm>
            <a:off x="793790" y="3039666"/>
            <a:ext cx="3951803" cy="3239691"/>
          </a:xfrm>
          <a:prstGeom prst="rect">
            <a:avLst/>
          </a:prstGeom>
          <a:noFill/>
          <a:ln/>
        </p:spPr>
        <p:txBody>
          <a:bodyPr wrap="square" lIns="0" tIns="0" rIns="0" bIns="0" rtlCol="0" anchor="t"/>
          <a:lstStyle/>
          <a:p>
            <a:pPr marL="342900" indent="-342900" algn="l">
              <a:lnSpc>
                <a:spcPts val="2600"/>
              </a:lnSpc>
              <a:buSzPct val="100000"/>
              <a:buChar char="•"/>
            </a:pPr>
            <a:r>
              <a:rPr lang="en-US" sz="1650" dirty="0">
                <a:solidFill>
                  <a:srgbClr val="15213F"/>
                </a:solidFill>
                <a:latin typeface="Roboto" pitchFamily="34" charset="0"/>
                <a:ea typeface="Roboto" pitchFamily="34" charset="-122"/>
                <a:cs typeface="Roboto" pitchFamily="34" charset="-120"/>
              </a:rPr>
              <a:t>A 7-step preprocessing pipeline handling Roman, Devanagari &amp; Mixed script Hinglish</a:t>
            </a:r>
            <a:endParaRPr lang="en-US" sz="1650" dirty="0"/>
          </a:p>
          <a:p>
            <a:pPr marL="342900" indent="-342900" algn="l">
              <a:lnSpc>
                <a:spcPts val="2600"/>
              </a:lnSpc>
              <a:buSzPct val="100000"/>
              <a:buChar char="•"/>
            </a:pPr>
            <a:r>
              <a:rPr lang="en-US" sz="1650" dirty="0">
                <a:solidFill>
                  <a:srgbClr val="15213F"/>
                </a:solidFill>
                <a:latin typeface="Roboto" pitchFamily="34" charset="0"/>
                <a:ea typeface="Roboto" pitchFamily="34" charset="-122"/>
                <a:cs typeface="Roboto" pitchFamily="34" charset="-120"/>
              </a:rPr>
              <a:t>Rule-based Word-Level Language Identification with CMI computation</a:t>
            </a:r>
            <a:endParaRPr lang="en-US" sz="1650" dirty="0"/>
          </a:p>
          <a:p>
            <a:pPr marL="342900" indent="-342900" algn="l">
              <a:lnSpc>
                <a:spcPts val="2600"/>
              </a:lnSpc>
              <a:buSzPct val="100000"/>
              <a:buChar char="•"/>
            </a:pPr>
            <a:r>
              <a:rPr lang="en-US" sz="1650" dirty="0">
                <a:solidFill>
                  <a:srgbClr val="15213F"/>
                </a:solidFill>
                <a:latin typeface="Roboto" pitchFamily="34" charset="0"/>
                <a:ea typeface="Roboto" pitchFamily="34" charset="-122"/>
                <a:cs typeface="Roboto" pitchFamily="34" charset="-120"/>
              </a:rPr>
              <a:t>15-sentence labeled Hinglish dataset for NCERT Class 9 Biology Ch. 5</a:t>
            </a:r>
            <a:endParaRPr lang="en-US" sz="1650" dirty="0"/>
          </a:p>
          <a:p>
            <a:pPr marL="342900" indent="-342900" algn="l">
              <a:lnSpc>
                <a:spcPts val="2600"/>
              </a:lnSpc>
              <a:buSzPct val="100000"/>
              <a:buChar char="•"/>
            </a:pPr>
            <a:r>
              <a:rPr lang="en-US" sz="1650" dirty="0">
                <a:solidFill>
                  <a:srgbClr val="15213F"/>
                </a:solidFill>
                <a:latin typeface="Roboto" pitchFamily="34" charset="0"/>
                <a:ea typeface="Roboto" pitchFamily="34" charset="-122"/>
                <a:cs typeface="Roboto" pitchFamily="34" charset="-120"/>
              </a:rPr>
              <a:t>Spelling normalization (kia→kya, h→hai, plz→please)</a:t>
            </a:r>
            <a:endParaRPr lang="en-US" sz="1650" dirty="0"/>
          </a:p>
        </p:txBody>
      </p:sp>
      <p:sp>
        <p:nvSpPr>
          <p:cNvPr id="5" name="Text 3"/>
          <p:cNvSpPr/>
          <p:nvPr/>
        </p:nvSpPr>
        <p:spPr>
          <a:xfrm>
            <a:off x="5278993" y="2161818"/>
            <a:ext cx="2693551" cy="336590"/>
          </a:xfrm>
          <a:prstGeom prst="rect">
            <a:avLst/>
          </a:prstGeom>
          <a:noFill/>
          <a:ln/>
        </p:spPr>
        <p:txBody>
          <a:bodyPr wrap="none" lIns="0" tIns="0" rIns="0" bIns="0" rtlCol="0" anchor="t"/>
          <a:lstStyle/>
          <a:p>
            <a:pPr marL="0" indent="0" algn="l">
              <a:lnSpc>
                <a:spcPts val="2650"/>
              </a:lnSpc>
              <a:buNone/>
            </a:pPr>
            <a:r>
              <a:rPr lang="en-US" sz="2100" dirty="0">
                <a:solidFill>
                  <a:srgbClr val="3257B8"/>
                </a:solidFill>
                <a:latin typeface="Roboto Slab" pitchFamily="34" charset="0"/>
                <a:ea typeface="Roboto Slab" pitchFamily="34" charset="-122"/>
                <a:cs typeface="Roboto Slab" pitchFamily="34" charset="-120"/>
              </a:rPr>
              <a:t>Key Findings</a:t>
            </a:r>
            <a:endParaRPr lang="en-US" sz="2100" dirty="0"/>
          </a:p>
        </p:txBody>
      </p:sp>
      <p:sp>
        <p:nvSpPr>
          <p:cNvPr id="6" name="Text 4"/>
          <p:cNvSpPr/>
          <p:nvPr/>
        </p:nvSpPr>
        <p:spPr>
          <a:xfrm>
            <a:off x="5278993" y="2703076"/>
            <a:ext cx="4087535" cy="3911918"/>
          </a:xfrm>
          <a:prstGeom prst="rect">
            <a:avLst/>
          </a:prstGeom>
          <a:noFill/>
          <a:ln/>
        </p:spPr>
        <p:txBody>
          <a:bodyPr wrap="square" lIns="0" tIns="0" rIns="0" bIns="0" rtlCol="0" anchor="t"/>
          <a:lstStyle/>
          <a:p>
            <a:pPr marL="342900" indent="-342900" algn="l">
              <a:lnSpc>
                <a:spcPts val="2600"/>
              </a:lnSpc>
              <a:buSzPct val="100000"/>
              <a:buChar char="•"/>
            </a:pPr>
            <a:r>
              <a:rPr lang="en-US" sz="1650" dirty="0">
                <a:solidFill>
                  <a:srgbClr val="15213F"/>
                </a:solidFill>
                <a:latin typeface="Roboto" pitchFamily="34" charset="0"/>
                <a:ea typeface="Roboto" pitchFamily="34" charset="-122"/>
                <a:cs typeface="Roboto" pitchFamily="34" charset="-120"/>
              </a:rPr>
              <a:t>Standard NLP tools (NLTK/spaCy) fail silently on Hinglish — validated by Çetinoğlu et al.</a:t>
            </a:r>
            <a:endParaRPr lang="en-US" sz="1650" dirty="0"/>
          </a:p>
          <a:p>
            <a:pPr marL="342900" indent="-342900" algn="l">
              <a:lnSpc>
                <a:spcPts val="2600"/>
              </a:lnSpc>
              <a:buSzPct val="100000"/>
              <a:buChar char="•"/>
            </a:pPr>
            <a:r>
              <a:rPr lang="en-US" sz="1650" dirty="0">
                <a:solidFill>
                  <a:srgbClr val="15213F"/>
                </a:solidFill>
                <a:latin typeface="Roboto" pitchFamily="34" charset="0"/>
                <a:ea typeface="Roboto" pitchFamily="34" charset="-122"/>
                <a:cs typeface="Roboto" pitchFamily="34" charset="-120"/>
              </a:rPr>
              <a:t>CMI score of 38.9% confirms our test sentences exhibit natural Hinglish mixing</a:t>
            </a:r>
            <a:endParaRPr lang="en-US" sz="1650" dirty="0"/>
          </a:p>
          <a:p>
            <a:pPr marL="342900" indent="-342900" algn="l">
              <a:lnSpc>
                <a:spcPts val="2600"/>
              </a:lnSpc>
              <a:buSzPct val="100000"/>
              <a:buChar char="•"/>
            </a:pPr>
            <a:r>
              <a:rPr lang="en-US" sz="1650" dirty="0">
                <a:solidFill>
                  <a:srgbClr val="15213F"/>
                </a:solidFill>
                <a:latin typeface="Roboto" pitchFamily="34" charset="0"/>
                <a:ea typeface="Roboto" pitchFamily="34" charset="-122"/>
                <a:cs typeface="Roboto" pitchFamily="34" charset="-120"/>
              </a:rPr>
              <a:t>spaCy outperforms NLTK for sentence segmentation in scientific text</a:t>
            </a:r>
            <a:endParaRPr lang="en-US" sz="1650" dirty="0"/>
          </a:p>
          <a:p>
            <a:pPr marL="342900" indent="-342900" algn="l">
              <a:lnSpc>
                <a:spcPts val="2600"/>
              </a:lnSpc>
              <a:buSzPct val="100000"/>
              <a:buChar char="•"/>
            </a:pPr>
            <a:r>
              <a:rPr lang="en-US" sz="1650" dirty="0">
                <a:solidFill>
                  <a:srgbClr val="15213F"/>
                </a:solidFill>
                <a:latin typeface="Roboto" pitchFamily="34" charset="0"/>
                <a:ea typeface="Roboto" pitchFamily="34" charset="-122"/>
                <a:cs typeface="Roboto" pitchFamily="34" charset="-120"/>
              </a:rPr>
              <a:t>Hindi words must be preserved during stemming/lemmatization — English-only processing essential</a:t>
            </a:r>
            <a:endParaRPr lang="en-US" sz="1650" dirty="0"/>
          </a:p>
        </p:txBody>
      </p:sp>
      <p:sp>
        <p:nvSpPr>
          <p:cNvPr id="7" name="Text 5"/>
          <p:cNvSpPr/>
          <p:nvPr/>
        </p:nvSpPr>
        <p:spPr>
          <a:xfrm>
            <a:off x="9899928" y="2161818"/>
            <a:ext cx="3229689" cy="336590"/>
          </a:xfrm>
          <a:prstGeom prst="rect">
            <a:avLst/>
          </a:prstGeom>
          <a:noFill/>
          <a:ln/>
        </p:spPr>
        <p:txBody>
          <a:bodyPr wrap="none" lIns="0" tIns="0" rIns="0" bIns="0" rtlCol="0" anchor="t"/>
          <a:lstStyle/>
          <a:p>
            <a:pPr marL="0" indent="0" algn="l">
              <a:lnSpc>
                <a:spcPts val="2650"/>
              </a:lnSpc>
              <a:buNone/>
            </a:pPr>
            <a:r>
              <a:rPr lang="en-US" sz="2100" dirty="0">
                <a:solidFill>
                  <a:srgbClr val="3257B8"/>
                </a:solidFill>
                <a:latin typeface="Roboto Slab" pitchFamily="34" charset="0"/>
                <a:ea typeface="Roboto Slab" pitchFamily="34" charset="-122"/>
                <a:cs typeface="Roboto Slab" pitchFamily="34" charset="-120"/>
              </a:rPr>
              <a:t>Roadmap (Next 3 Phases)</a:t>
            </a:r>
            <a:endParaRPr lang="en-US" sz="2100" dirty="0"/>
          </a:p>
        </p:txBody>
      </p:sp>
      <p:sp>
        <p:nvSpPr>
          <p:cNvPr id="8" name="Text 6"/>
          <p:cNvSpPr/>
          <p:nvPr/>
        </p:nvSpPr>
        <p:spPr>
          <a:xfrm>
            <a:off x="9899928" y="2703076"/>
            <a:ext cx="3951803" cy="2495907"/>
          </a:xfrm>
          <a:prstGeom prst="rect">
            <a:avLst/>
          </a:prstGeom>
          <a:noFill/>
          <a:ln/>
        </p:spPr>
        <p:txBody>
          <a:bodyPr wrap="square" lIns="0" tIns="0" rIns="0" bIns="0" rtlCol="0" anchor="t"/>
          <a:lstStyle/>
          <a:p>
            <a:pPr marL="342900" indent="-342900" algn="l">
              <a:lnSpc>
                <a:spcPts val="2600"/>
              </a:lnSpc>
              <a:buSzPct val="100000"/>
              <a:buChar char="•"/>
            </a:pPr>
            <a:r>
              <a:rPr lang="en-US" sz="1650" dirty="0">
                <a:solidFill>
                  <a:srgbClr val="15213F"/>
                </a:solidFill>
                <a:latin typeface="Roboto" pitchFamily="34" charset="0"/>
                <a:ea typeface="Roboto" pitchFamily="34" charset="-122"/>
                <a:cs typeface="Roboto" pitchFamily="34" charset="-120"/>
              </a:rPr>
              <a:t>Phase 2: NCERT RAG pipeline (Module 2) — vector embeddings + FAISS retrieval</a:t>
            </a:r>
            <a:endParaRPr lang="en-US" sz="1650" dirty="0"/>
          </a:p>
          <a:p>
            <a:pPr marL="342900" indent="-342900" algn="l">
              <a:lnSpc>
                <a:spcPts val="2600"/>
              </a:lnSpc>
              <a:buSzPct val="100000"/>
              <a:buChar char="•"/>
            </a:pPr>
            <a:r>
              <a:rPr lang="en-US" sz="1650" dirty="0">
                <a:solidFill>
                  <a:srgbClr val="15213F"/>
                </a:solidFill>
                <a:latin typeface="Roboto" pitchFamily="34" charset="0"/>
                <a:ea typeface="Roboto" pitchFamily="34" charset="-122"/>
                <a:cs typeface="Roboto" pitchFamily="34" charset="-120"/>
              </a:rPr>
              <a:t>Phase 3: LLaMA fine-tuning for Hinglish generation (Module 3)</a:t>
            </a:r>
            <a:endParaRPr lang="en-US" sz="1650" dirty="0"/>
          </a:p>
          <a:p>
            <a:pPr marL="342900" indent="-342900" algn="l">
              <a:lnSpc>
                <a:spcPts val="2600"/>
              </a:lnSpc>
              <a:buSzPct val="100000"/>
              <a:buChar char="•"/>
            </a:pPr>
            <a:r>
              <a:rPr lang="en-US" sz="1650" dirty="0">
                <a:solidFill>
                  <a:srgbClr val="15213F"/>
                </a:solidFill>
                <a:latin typeface="Roboto" pitchFamily="34" charset="0"/>
                <a:ea typeface="Roboto" pitchFamily="34" charset="-122"/>
                <a:cs typeface="Roboto" pitchFamily="34" charset="-120"/>
              </a:rPr>
              <a:t>Phase 4: GEC module + Web UI deployment (Modules 4 &amp; 5)</a:t>
            </a:r>
            <a:endParaRPr lang="en-US" sz="1650" dirty="0"/>
          </a:p>
        </p:txBody>
      </p:sp>
      <p:sp>
        <p:nvSpPr>
          <p:cNvPr id="9" name="Text 7"/>
          <p:cNvSpPr/>
          <p:nvPr/>
        </p:nvSpPr>
        <p:spPr>
          <a:xfrm>
            <a:off x="793790" y="6916817"/>
            <a:ext cx="13042821" cy="336113"/>
          </a:xfrm>
          <a:prstGeom prst="rect">
            <a:avLst/>
          </a:prstGeom>
          <a:noFill/>
          <a:ln/>
        </p:spPr>
        <p:txBody>
          <a:bodyPr wrap="none" lIns="0" tIns="0" rIns="0" bIns="0" rtlCol="0" anchor="t"/>
          <a:lstStyle/>
          <a:p>
            <a:pPr marL="0" indent="0" algn="l">
              <a:lnSpc>
                <a:spcPts val="2600"/>
              </a:lnSpc>
              <a:buNone/>
            </a:pPr>
            <a:r>
              <a:rPr lang="en-US" sz="1650" dirty="0">
                <a:solidFill>
                  <a:srgbClr val="15213F"/>
                </a:solidFill>
                <a:latin typeface="Roboto" pitchFamily="34" charset="0"/>
                <a:ea typeface="Roboto" pitchFamily="34" charset="-122"/>
                <a:cs typeface="Roboto" pitchFamily="34" charset="-120"/>
              </a:rPr>
              <a:t>EduHinglish bridges the language gap between 350–400M Hinglish speakers and formal English NCERT education.</a:t>
            </a:r>
            <a:endParaRPr lang="en-US" sz="1650" dirty="0"/>
          </a:p>
        </p:txBody>
      </p:sp>
      <p:pic>
        <p:nvPicPr>
          <p:cNvPr id="11" name="Picture 10">
            <a:extLst>
              <a:ext uri="{FF2B5EF4-FFF2-40B4-BE49-F238E27FC236}">
                <a16:creationId xmlns:a16="http://schemas.microsoft.com/office/drawing/2014/main" id="{BAD3E6F2-6A3F-6F07-E001-2712B10980BC}"/>
              </a:ext>
            </a:extLst>
          </p:cNvPr>
          <p:cNvPicPr>
            <a:picLocks noChangeAspect="1"/>
          </p:cNvPicPr>
          <p:nvPr/>
        </p:nvPicPr>
        <p:blipFill>
          <a:blip r:embed="rId3"/>
          <a:stretch>
            <a:fillRect/>
          </a:stretch>
        </p:blipFill>
        <p:spPr>
          <a:xfrm>
            <a:off x="12839450" y="7633179"/>
            <a:ext cx="1790950" cy="51442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795933"/>
            <a:ext cx="4820007" cy="602456"/>
          </a:xfrm>
          <a:prstGeom prst="rect">
            <a:avLst/>
          </a:prstGeom>
          <a:noFill/>
          <a:ln/>
        </p:spPr>
        <p:txBody>
          <a:bodyPr wrap="none" lIns="0" tIns="0" rIns="0" bIns="0" rtlCol="0" anchor="t"/>
          <a:lstStyle/>
          <a:p>
            <a:pPr marL="0" indent="0" algn="l">
              <a:lnSpc>
                <a:spcPts val="4700"/>
              </a:lnSpc>
              <a:buNone/>
            </a:pPr>
            <a:r>
              <a:rPr lang="en-US" sz="3750" dirty="0">
                <a:solidFill>
                  <a:srgbClr val="3257B8"/>
                </a:solidFill>
                <a:latin typeface="Roboto Slab" pitchFamily="34" charset="0"/>
                <a:ea typeface="Roboto Slab" pitchFamily="34" charset="-122"/>
                <a:cs typeface="Roboto Slab" pitchFamily="34" charset="-120"/>
              </a:rPr>
              <a:t>References</a:t>
            </a:r>
            <a:endParaRPr lang="en-US" sz="3750" dirty="0"/>
          </a:p>
        </p:txBody>
      </p:sp>
      <p:sp>
        <p:nvSpPr>
          <p:cNvPr id="3" name="Text 1"/>
          <p:cNvSpPr/>
          <p:nvPr/>
        </p:nvSpPr>
        <p:spPr>
          <a:xfrm>
            <a:off x="793790" y="1726049"/>
            <a:ext cx="13042821" cy="5707618"/>
          </a:xfrm>
          <a:prstGeom prst="rect">
            <a:avLst/>
          </a:prstGeom>
          <a:noFill/>
          <a:ln/>
        </p:spPr>
        <p:txBody>
          <a:bodyPr wrap="square" lIns="0" tIns="0" rIns="0" bIns="0" rtlCol="0" anchor="t"/>
          <a:lstStyle/>
          <a:p>
            <a:pPr marL="342900" indent="-342900" algn="l">
              <a:lnSpc>
                <a:spcPts val="2200"/>
              </a:lnSpc>
              <a:buSzPct val="100000"/>
              <a:buFont typeface="+mj-lt"/>
              <a:buAutoNum type="arabicPeriod"/>
            </a:pPr>
            <a:r>
              <a:rPr lang="en-US" sz="1500" dirty="0">
                <a:solidFill>
                  <a:srgbClr val="15213F"/>
                </a:solidFill>
                <a:latin typeface="Roboto" pitchFamily="34" charset="0"/>
                <a:ea typeface="Roboto" pitchFamily="34" charset="-122"/>
                <a:cs typeface="Roboto" pitchFamily="34" charset="-120"/>
              </a:rPr>
              <a:t>[1] Ö. Çetinoğlu, S. Schulz, and T. Çöltekin, "Challenges of Annotating Code-Switching Data," in Proc. COLING Workshop on Computational Approaches to Code Switching, 2016, pp. 1–7.</a:t>
            </a:r>
            <a:endParaRPr lang="en-US" sz="1500" dirty="0"/>
          </a:p>
          <a:p>
            <a:pPr marL="342900" indent="-342900" algn="l">
              <a:lnSpc>
                <a:spcPts val="2200"/>
              </a:lnSpc>
              <a:buSzPct val="100000"/>
              <a:buFont typeface="+mj-lt"/>
              <a:buAutoNum type="arabicPeriod" startAt="2"/>
            </a:pPr>
            <a:r>
              <a:rPr lang="en-US" sz="1500" dirty="0">
                <a:solidFill>
                  <a:srgbClr val="15213F"/>
                </a:solidFill>
                <a:latin typeface="Roboto" pitchFamily="34" charset="0"/>
                <a:ea typeface="Roboto" pitchFamily="34" charset="-122"/>
                <a:cs typeface="Roboto" pitchFamily="34" charset="-120"/>
              </a:rPr>
              <a:t>[2] S. Sitaram, A. R. Chandu, S. K. Rallabandi, and A. W. Black, "A Survey of Code-Switched Speech and Language Processing," arXiv:1904.00784, 2019.</a:t>
            </a:r>
            <a:endParaRPr lang="en-US" sz="1500" dirty="0"/>
          </a:p>
          <a:p>
            <a:pPr marL="342900" indent="-342900" algn="l">
              <a:lnSpc>
                <a:spcPts val="2200"/>
              </a:lnSpc>
              <a:buSzPct val="100000"/>
              <a:buFont typeface="+mj-lt"/>
              <a:buAutoNum type="arabicPeriod" startAt="3"/>
            </a:pPr>
            <a:r>
              <a:rPr lang="en-US" sz="1500" dirty="0">
                <a:solidFill>
                  <a:srgbClr val="15213F"/>
                </a:solidFill>
                <a:latin typeface="Roboto" pitchFamily="34" charset="0"/>
                <a:ea typeface="Roboto" pitchFamily="34" charset="-122"/>
                <a:cs typeface="Roboto" pitchFamily="34" charset="-120"/>
              </a:rPr>
              <a:t>[3] G. I. Winata, A. Madotto, Z. Lin, R. Liu, J. Yao, C. Xu, P. Xu, and P. Fung, "Are Multilingual Models Effective in Code-Switching?," in Proc. 5th Workshop on Computational Approaches to Linguistic Code-Switching (CALCS), 2022, pp. 124–134.</a:t>
            </a:r>
            <a:endParaRPr lang="en-US" sz="1500" dirty="0"/>
          </a:p>
          <a:p>
            <a:pPr marL="342900" indent="-342900" algn="l">
              <a:lnSpc>
                <a:spcPts val="2200"/>
              </a:lnSpc>
              <a:buSzPct val="100000"/>
              <a:buFont typeface="+mj-lt"/>
              <a:buAutoNum type="arabicPeriod" startAt="4"/>
            </a:pPr>
            <a:r>
              <a:rPr lang="en-US" sz="1500" dirty="0">
                <a:solidFill>
                  <a:srgbClr val="15213F"/>
                </a:solidFill>
                <a:latin typeface="Roboto" pitchFamily="34" charset="0"/>
                <a:ea typeface="Roboto" pitchFamily="34" charset="-122"/>
                <a:cs typeface="Roboto" pitchFamily="34" charset="-120"/>
              </a:rPr>
              <a:t>[4] Y. Lan, L. He, W. Cheng, and X. Jiang, "A Survey of Educational AI: Tasks, Methods, and Prospects," IEEE Trans. Learning Technol., vol. 16, no. 3, pp. 360–375, 2023.</a:t>
            </a:r>
            <a:endParaRPr lang="en-US" sz="1500" dirty="0"/>
          </a:p>
          <a:p>
            <a:pPr marL="342900" indent="-342900" algn="l">
              <a:lnSpc>
                <a:spcPts val="2200"/>
              </a:lnSpc>
              <a:buSzPct val="100000"/>
              <a:buFont typeface="+mj-lt"/>
              <a:buAutoNum type="arabicPeriod" startAt="5"/>
            </a:pPr>
            <a:r>
              <a:rPr lang="en-US" sz="1500" dirty="0">
                <a:solidFill>
                  <a:srgbClr val="15213F"/>
                </a:solidFill>
                <a:latin typeface="Roboto" pitchFamily="34" charset="0"/>
                <a:ea typeface="Roboto" pitchFamily="34" charset="-122"/>
                <a:cs typeface="Roboto" pitchFamily="34" charset="-120"/>
              </a:rPr>
              <a:t>[5] C. Udawatta, A. Patel, and R. Sharma, "Prompt-Based Learning for Code-Switched NLP Tasks," in Proc. ACL Findings, 2024, pp. 512–524.</a:t>
            </a:r>
            <a:endParaRPr lang="en-US" sz="1500" dirty="0"/>
          </a:p>
          <a:p>
            <a:pPr marL="342900" indent="-342900" algn="l">
              <a:lnSpc>
                <a:spcPts val="2200"/>
              </a:lnSpc>
              <a:buSzPct val="100000"/>
              <a:buFont typeface="+mj-lt"/>
              <a:buAutoNum type="arabicPeriod" startAt="6"/>
            </a:pPr>
            <a:r>
              <a:rPr lang="en-US" sz="1500" dirty="0">
                <a:solidFill>
                  <a:srgbClr val="15213F"/>
                </a:solidFill>
                <a:latin typeface="Roboto" pitchFamily="34" charset="0"/>
                <a:ea typeface="Roboto" pitchFamily="34" charset="-122"/>
                <a:cs typeface="Roboto" pitchFamily="34" charset="-120"/>
              </a:rPr>
              <a:t>[6] R. Pandey, S. Gupta, and A. Verma, "LLaMA-Based Hinglish Text Generation for Educational Applications," in Proc. EMNLP, 2025, pp. 234–245.</a:t>
            </a:r>
            <a:endParaRPr lang="en-US" sz="1500" dirty="0"/>
          </a:p>
          <a:p>
            <a:pPr marL="342900" indent="-342900" algn="l">
              <a:lnSpc>
                <a:spcPts val="2200"/>
              </a:lnSpc>
              <a:buSzPct val="100000"/>
              <a:buFont typeface="+mj-lt"/>
              <a:buAutoNum type="arabicPeriod" startAt="7"/>
            </a:pPr>
            <a:r>
              <a:rPr lang="en-US" sz="1500" dirty="0">
                <a:solidFill>
                  <a:srgbClr val="15213F"/>
                </a:solidFill>
                <a:latin typeface="Roboto" pitchFamily="34" charset="0"/>
                <a:ea typeface="Roboto" pitchFamily="34" charset="-122"/>
                <a:cs typeface="Roboto" pitchFamily="34" charset="-120"/>
              </a:rPr>
              <a:t>[7] A. Dash, P. Mishra, and K. Rao, "Hybrid LSTM-GPT Architecture for Code-Mixed Domain-Specific NLP," in Proc. NAACL, 2025, pp. 89–101.</a:t>
            </a:r>
            <a:endParaRPr lang="en-US" sz="1500" dirty="0"/>
          </a:p>
          <a:p>
            <a:pPr marL="342900" indent="-342900" algn="l">
              <a:lnSpc>
                <a:spcPts val="2200"/>
              </a:lnSpc>
              <a:buSzPct val="100000"/>
              <a:buFont typeface="+mj-lt"/>
              <a:buAutoNum type="arabicPeriod" startAt="8"/>
            </a:pPr>
            <a:r>
              <a:rPr lang="en-US" sz="1500" dirty="0">
                <a:solidFill>
                  <a:srgbClr val="15213F"/>
                </a:solidFill>
                <a:latin typeface="Roboto" pitchFamily="34" charset="0"/>
                <a:ea typeface="Roboto" pitchFamily="34" charset="-122"/>
                <a:cs typeface="Roboto" pitchFamily="34" charset="-120"/>
              </a:rPr>
              <a:t>[8] P. Maddu and V. Sanapala, "Bridging the Gap: NLP Challenges in Indic Language Educational AI," in Proc. ICON (International Conference on NLP), 2024, pp. 67–78.</a:t>
            </a:r>
            <a:endParaRPr lang="en-US" sz="1500" dirty="0"/>
          </a:p>
          <a:p>
            <a:pPr marL="342900" indent="-342900" algn="l">
              <a:lnSpc>
                <a:spcPts val="2200"/>
              </a:lnSpc>
              <a:buSzPct val="100000"/>
              <a:buFont typeface="+mj-lt"/>
              <a:buAutoNum type="arabicPeriod" startAt="9"/>
            </a:pPr>
            <a:r>
              <a:rPr lang="en-US" sz="1500" dirty="0">
                <a:solidFill>
                  <a:srgbClr val="15213F"/>
                </a:solidFill>
                <a:latin typeface="Roboto" pitchFamily="34" charset="0"/>
                <a:ea typeface="Roboto" pitchFamily="34" charset="-122"/>
                <a:cs typeface="Roboto" pitchFamily="34" charset="-120"/>
              </a:rPr>
              <a:t>[9] E. Blanco and D. Moldovan, "Semantic Relations between Nominals," in Synthesis Lectures on Human Language Technologies, vol. 6, no. 1, 2013, pp. 1–108.</a:t>
            </a:r>
            <a:endParaRPr lang="en-US" sz="1500" dirty="0"/>
          </a:p>
          <a:p>
            <a:pPr marL="342900" indent="-342900" algn="l">
              <a:lnSpc>
                <a:spcPts val="2200"/>
              </a:lnSpc>
              <a:buSzPct val="100000"/>
              <a:buFont typeface="+mj-lt"/>
              <a:buAutoNum type="arabicPeriod" startAt="10"/>
            </a:pPr>
            <a:r>
              <a:rPr lang="en-US" sz="1500" dirty="0">
                <a:solidFill>
                  <a:srgbClr val="15213F"/>
                </a:solidFill>
                <a:latin typeface="Roboto" pitchFamily="34" charset="0"/>
                <a:ea typeface="Roboto" pitchFamily="34" charset="-122"/>
                <a:cs typeface="Roboto" pitchFamily="34" charset="-120"/>
              </a:rPr>
              <a:t>[10] S. Roy and S. Zeng, "Solving Verbal Comprehension Questions in IQ Test by Knowledge-Powered Word Embedding," arXiv:1302.4321, 2013.</a:t>
            </a:r>
            <a:endParaRPr lang="en-US" sz="1500" dirty="0"/>
          </a:p>
          <a:p>
            <a:pPr marL="342900" indent="-342900" algn="l">
              <a:lnSpc>
                <a:spcPts val="2200"/>
              </a:lnSpc>
              <a:buSzPct val="100000"/>
              <a:buFont typeface="+mj-lt"/>
              <a:buAutoNum type="arabicPeriod" startAt="11"/>
            </a:pPr>
            <a:r>
              <a:rPr lang="en-US" sz="1500" dirty="0">
                <a:solidFill>
                  <a:srgbClr val="15213F"/>
                </a:solidFill>
                <a:latin typeface="Roboto" pitchFamily="34" charset="0"/>
                <a:ea typeface="Roboto" pitchFamily="34" charset="-122"/>
                <a:cs typeface="Roboto" pitchFamily="34" charset="-120"/>
              </a:rPr>
              <a:t>[11] J. O'Shea, Z. Bandar, and K. Crockett, "A Practical Approach to the Sentence Similarity Problem and its Application in Educational Assessment," in Proc. IEEE ICDM Workshop on Knowledge Discovery, 2013, pp. 215–223.</a:t>
            </a:r>
            <a:endParaRPr lang="en-US" sz="1500" dirty="0"/>
          </a:p>
        </p:txBody>
      </p:sp>
      <p:pic>
        <p:nvPicPr>
          <p:cNvPr id="5" name="Picture 4">
            <a:extLst>
              <a:ext uri="{FF2B5EF4-FFF2-40B4-BE49-F238E27FC236}">
                <a16:creationId xmlns:a16="http://schemas.microsoft.com/office/drawing/2014/main" id="{888F591F-8D4A-29FF-3E03-CCA678EB9283}"/>
              </a:ext>
            </a:extLst>
          </p:cNvPr>
          <p:cNvPicPr>
            <a:picLocks noChangeAspect="1"/>
          </p:cNvPicPr>
          <p:nvPr/>
        </p:nvPicPr>
        <p:blipFill>
          <a:blip r:embed="rId3"/>
          <a:stretch>
            <a:fillRect/>
          </a:stretch>
        </p:blipFill>
        <p:spPr>
          <a:xfrm>
            <a:off x="12745111" y="7715178"/>
            <a:ext cx="1790950" cy="51442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BFCFE">
              <a:alpha val="85000"/>
            </a:srgbClr>
          </a:solidFill>
          <a:ln/>
        </p:spPr>
      </p:sp>
      <p:sp>
        <p:nvSpPr>
          <p:cNvPr id="4" name="Text 1"/>
          <p:cNvSpPr/>
          <p:nvPr/>
        </p:nvSpPr>
        <p:spPr>
          <a:xfrm>
            <a:off x="793790" y="3227427"/>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Thank You</a:t>
            </a:r>
            <a:endParaRPr lang="en-US" sz="4450" dirty="0"/>
          </a:p>
        </p:txBody>
      </p:sp>
      <p:sp>
        <p:nvSpPr>
          <p:cNvPr id="5" name="Text 2"/>
          <p:cNvSpPr/>
          <p:nvPr/>
        </p:nvSpPr>
        <p:spPr>
          <a:xfrm>
            <a:off x="793790" y="4276368"/>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Thank you for your attention and engagement today. We appreciate your interest in our work on enhancing educational experiences through Hinglish AI and look forward to any questions or further discussion.</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TotalTime>
  <Words>2558</Words>
  <Application>Microsoft Office PowerPoint</Application>
  <PresentationFormat>Custom</PresentationFormat>
  <Paragraphs>398</Paragraphs>
  <Slides>17</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Roboto Slab Light</vt:lpstr>
      <vt:lpstr>Consolas</vt:lpstr>
      <vt:lpstr>Arial</vt:lpstr>
      <vt:lpstr>Roboto</vt:lpstr>
      <vt:lpstr>Calibri</vt:lpstr>
      <vt:lpstr>Roboto Slab</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Ashvatth</dc:creator>
  <cp:lastModifiedBy>ASHVATTH JOSHI</cp:lastModifiedBy>
  <cp:revision>9</cp:revision>
  <dcterms:created xsi:type="dcterms:W3CDTF">2026-03-29T10:02:58Z</dcterms:created>
  <dcterms:modified xsi:type="dcterms:W3CDTF">2026-03-29T10:51:24Z</dcterms:modified>
</cp:coreProperties>
</file>